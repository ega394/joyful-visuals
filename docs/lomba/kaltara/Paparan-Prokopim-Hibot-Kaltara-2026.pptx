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801225eb-d7fd-f6dc-8d3a-c60566f955a9}">
          <p14:sldIdLst>
            <p14:sldId id="256"/>
          </p14:sldIdLst>
        </p14:section>
        <p14:section name="Latar belakang" id="{57c70903-4ca9-6d33-be8a-c5ce072aabcd}">
          <p14:sldIdLst>
            <p14:sldId id="257"/>
            <p14:sldId id="258"/>
          </p14:sldIdLst>
        </p14:section>
        <p14:section name="Terobosan inovasi" id="{f454200a-c34f-93b4-b989-f922e281aafe}">
          <p14:sldIdLst>
            <p14:sldId id="259"/>
            <p14:sldId id="260"/>
          </p14:sldIdLst>
        </p14:section>
        <p14:section name="Manfaat inovasi" id="{fb695692-b2c0-a119-d99b-4d3b8c1d0916}">
          <p14:sldIdLst>
            <p14:sldId id="261"/>
            <p14:sldId id="262"/>
            <p14:sldId id="263"/>
          </p14:sldIdLst>
        </p14:section>
        <p14:section name="Fitur lain: kanal publik" id="{b0db6671-a4c0-d8e3-d7cc-4083cd4a708d}">
          <p14:sldIdLst>
            <p14:sldId id="264"/>
          </p14:sldIdLst>
        </p14:section>
        <p14:section name="Pemanfaatan sumber daya" id="{a4db31d4-b928-a121-41cf-f4c902bce455}">
          <p14:sldIdLst>
            <p14:sldId id="265"/>
          </p14:sldIdLst>
        </p14:section>
        <p14:section name="Diseminasi inovasi" id="{42ce37d2-43d1-0edb-3f72-ce762a1be417}">
          <p14:sldIdLst>
            <p14:sldId id="266"/>
          </p14:sldIdLst>
        </p14:section>
        <p14:section name="Kompatibilitas" id="{53223232-c28a-8ad5-546f-4993f2dba1c9}">
          <p14:sldIdLst>
            <p14:sldId id="267"/>
          </p14:sldIdLst>
        </p14:section>
        <p14:section name="Penutup" id="{20828fa8-cb40-075a-704b-ca9feeec73c5}">
          <p14:sldIdLst>
            <p14:sldId id="268"/>
          </p14:sldIdLst>
        </p14:section>
        <p14:section name="Cadangan penjelasan" id="{4a0e0f1e-3f07-95e6-bfab-696241b3f44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Pembuka
Assalamualaikum warahmatullahi wabarakatuh. Selamat [pagi/siang], Bapak dan Ibu Dewan Juri yang kami hormati.
Izin kami sampaikan Prokopim Hibot, satu alur digital terverifikasi untuk agenda Pimpinan Daerah, dari Bagian Protokol dan Komunikasi Pimpinan, Sekretariat Daerah Kota Tarakan. Kami mengikuti kategori Inovasi Terapan, ASN Pemerintah Kabupaten/Kota.
Isyarat: Berdiri tegak, tatap juri, senyum. Jangan buru-buru; kalimat pertama menentukan 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0:25–1:10 · Latar belakang: peristiwa Januari
Awal Januari 2026, dua lembar disposisi agenda turun dari meja Pimpinan: rencana kegiatan dan rencana audiensi.
Yang ini sampai kepada kami, karena difoto dan dikirim ke grup. Yang ini, rencana audiensi untuk Senin, 5 Januari, tertinggal.
Tidak ada yang lalai. Tetapi tidak ada pula yang bisa mengetahuinya, karena tidak ada catatan berapa lembar yang seharusnya kami terima.
Saat itu rencana kegiatan disusun di spreadsheet lalu dicetak, penelaahan hanya sempat sekitar 30 menit menjelang jam pulang, disposisi beredar sebagai foto, dan dari pengajuan sampai tayang diperkirakan 18 sampai 24 jam.
Isyarat: Tunjuk foto atas saat 'yang ini sampai', foto bawah saat 'yang ini tertinggal'. Pelankan suara di 'tidak ada yang lalai', beri jeda sejenak.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1:10–1:40 · Akar masalah
Kami lalu menelaah bersama seluruh Bagian, dan menemukan pola yang sama di banyak tempat: keputusan tidak meninggalkan jejak, beberapa versi cetakan beredar bersamaan, pengetahuan kerja melekat pada orang.
Akarnya satu: tidak ada satu sumber data yang dapat dirujuk semua pihak.
Isyarat: Tunjuk kotak 'Akar masalah'. Kalimat terakhir diucapkan pelan dan tegas.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1:40–2:15 · Terobosan: pilihan dan alur
Kami menimbang empat pilihan. Menambah pengawasan tidak menyentuh akar masalah. Merapikan spreadsheet tetap menyisakan banyak versi. Membeli aplikasi jadi butuh anggaran, padahal alur keprotokolan sangat khas.
Maka kami membangun sendiri, tanpa belanja pengadaan. Hasilnya satu alur berjenjang: Admin Rencana Kegiatan, Kepala Sub Bagian, Kepala Bagian, lalu tayang di HP Pimpinan.
Isyarat: Sapukan tangan dari kiri ke kanan mengikuti empat kartu, lalu empat langkah alur.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2:15–2:40 · Enam unsur kebaruan
Kebaruannya ada pada cara menjaga mutu keputusan: setiap langkah tercatat, persetujuan baru aktif setelah daftar periksa dicentang, dan kewenangan Pelaksana Harian padam sendiri pada tanggal akhirnya.
Sejak proposal, aplikasi terus dikembangkan dari kendala pengguna. Izin kami tunjukkan langsung di aplikasi.
Isyarat: Pada 'izin kami tunjukkan', beri anggukan ke Admin RK: tanda demo dimulai.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2:40–5:40 · DEMONSTRASI (3 menit)
(1) Admin RK, laptop · 0:00–0:35 — "Admin kami menerima undangan. Cukup dipindai: nama acara, tanggal, jam, lokasi, dan zona waktunya terisi sendiri. Aplikasi juga memeriksa benturan jadwal. Admin memeriksa, lalu mengirim."
(2) Kasubbag, HP · 0:35–1:05 — "Kepala Sub Bagian langsung menerima notifikasi, di mana pun berada. Tombol teruskan baru aktif setelah undangan dibuka dan daftar periksa dicentang. Kekeliruan tertahan sebelum sampai ke Pimpinan."
(3) Kabag, HP · 1:05–1:25 — "Saya memutus dari HP saya. Setujui, dan agenda langsung tayang, tanpa cetak ulang."
(4) HP Wali Kota · 1:25–2:05 — "Saat itu juga agenda tiba di HP Wali Kota. Beliau atau ajudan cukup menekan Hadir, atau mendisposisikan kepada Wakil Wali Kota. Disposisi inilah yang dulu beredar sebagai foto."
(5) Admin RK, laptop · 2:05–2:35 — "Petugas ditugaskan dan langsung diberi tahu. Di Riwayat Alur, setiap langkah tadi tercatat: siapa, kapan, dan apa keputusannya."
(6) Kabag, HP · 2:35–3:00 — "Dan di Monitor WA kami memastikan pesan penugasan itu terkirim dan dibaca. Tidak ada lagi lembar yang tertinggal tanpa ada yang tahu."
Isyarat: Kabag memandu dan berbicara; Admin RK dan Kasubbag hanya mengoperasikan. Semua memakai instans demo berdata contoh. Bila aplikasi atau jaringan bermasalah lebih dari 10 detik, langsung putar video demo cadangan di laptop. Admin RK memberi isyarat pada menit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5:40–6:30 · Manfaat terukur
Hasilnya terukur dari basis data, per 24 September 2026. Dari pengajuan sampai tayang, yang dulu diperkirakan 18 sampai 24 jam, kini median 1,99 jam, dan 99,3 persen tayang kurang dari sehari.
589 kegiatan terkelola dan 3.072 keputusan terekam. 92,4 persen kegiatan sudah ada petugasnya. Hampir separuh penelaahan, 47,5 persen, dilakukan di luar jam kerja: pekerjaan tidak lagi menunggu jendela 30 menit.
Dan hemat kertas: rencana kegiatan tidak lagi dicetak ulang, 452 berkas undangan terarsip digital.
Isyarat: Beri jeda dua detik sesudah '1,99 jam'. Ini angka utama; biarkan juri mencernanya.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 Dirasakan Pimpinan
Manfaatnya dirasakan langsung oleh Pimpinan. Wali Kota menyampaikan: "Yang terpenting bagi saya adalah kepastian: ke mana saya harus hadir, kapan, dan siapa yang menyiapkannya."
62 kegiatan telah beliau disposisikan kepada Wakil langsung dari aplikasi, dan ajudan sudah 341 kali mengonfirmasi kehadiran.
Isyarat: Bacakan kutipan dengan nada hormat dan pelan, sambil menunjuk kotak kutipan.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7:00–7:25 · Fitur lain: kanal publik
Di luar alur agenda, ada fitur tersendiri untuk masyarakat: kanal publik. Tanpa akun, 66 instansi mengajukan peminjaman ruangan dan 53 instansi mengajukan audiensi, lalu memantau statusnya sendiri dengan kode penelusuran, tanpa datang atau menelepon berulang.
Isyarat: Tegaskan 'fitur tersendiri', supaya juri tidak mencampurnya dengan alur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7:25–7:55 · Pemanfaatan sumber daya
Seluruhnya dibangun tim sendiri, tanpa belanja pengadaan, dengan layanan tanpa biaya.
Bagaimana bila pengelolanya pindah? Kewenangan melekat pada jabatan, sebelas SOP disiapkan, kode dan riwayat tersimpan lengkap atas nama instansi, dan pengelola kedua didampingi mulai 2027.
Isyarat: Pertanyaan 'bila Kabag pindah' hampir pasti muncul; dengan menjawabnya lebih dulu, Bapak menguasai arah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 Diseminasi
Pemakaiannya sudah melampaui Bagian kami: Pimpinan, ajudan, pengawal, mitra di DKISP, dan Tim Koordinasi lintas perangkat daerah.
Inovasi ini siap direplikasi sesuai kebutuhan; yang disesuaikan hanya nama jabatan, pengguna, dan tata naskah. Sebelas SOP disahkan Sekretaris Daerah pada Oktober sampai Desember 2026.
Isyarat: Sebut 'siap direplikasi' dengan yakin; jangan menjanjikan daerah tertentu.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8:25–8:50 · Kompatibilitas
Inovasi ini selaras dengan Undang-Undang Pelayanan Publik dan Keprotokolan, Peraturan Pemerintah tentang Inovasi Daerah, dan SPBE, serta mendukung Misi 3 RPJMD Kalimantan Utara dan Misi 4 Kota Tarakan.
Aplikasi menyesuaikan cara kerja Pimpinan, bukan sebaliknya: naskah sambutan tetap tersedia tercetak.
Isyarat: Cukup sebut garis besar; nomor peraturan sudah tertulis di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8:50–9:15 · Penutup
Bapak dan Ibu Dewan Juri, Januari lalu satu lembar tertinggal tanpa ada yang tahu. Hari ini, setiap lembar dan setiap keputusan tercatat.
Prokopim Hibot: satu alur, satu data, setiap keputusan tercatat. Terima kasih. Wassalamualaikum warahmatullahi wabarakatuh.
Isyarat: Ucapkan slogan perlahan, satu frasa satu tarikan napas, lalu diam dan tatap juri. Jangan menambah kalimat sesudah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CADANGAN: bila ditanya perbedaan dengan proposal
Proposal memuat keadaan per 24 September 2026. Pembaruan Oktober 2026 berangkat dari pemakaian: pengingat dirampingkan menjadi tiga waktu, WhatsApp hanya untuk acara hari ini atau besok, notifikasi tamu berjenjang, Monitor WA, masuk dengan sidik jari dan akun Google, dan jam acara mengikuti zona waktu.
Koreksi data: di proposal kami menulis tiga lembar berdasarkan ingatan. Saat menyiapkan paparan ini kami menelusuri lembar aslinya; ternyata dua lembar, rencana kegiatan sampai dan rencana audiensi tertinggal. Inilah alasan aplikasi ini dibangun: tanpa catatan, bahkan jumlah lembar pun bergantung pada ingatan.
Isyarat: Tampilkan hanya bila ditanya. Jawab jujur dan tenang; koreksi yang disampaikan terbuka menambah kepercayaan.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Inovasi Terapan –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Inovasi Terapan –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Shape 4"/>
          <p:cNvSpPr/>
          <p:nvPr/>
        </p:nvSpPr>
        <p:spPr>
          <a:xfrm>
            <a:off x="548640" y="3931920"/>
            <a:ext cx="7498080" cy="658368"/>
          </a:xfrm>
          <a:prstGeom prst="roundRect">
            <a:avLst>
              <a:gd name="adj" fmla="val 11111"/>
            </a:avLst>
          </a:prstGeom>
          <a:solidFill>
            <a:schemeClr val="accent1">
              <a:alpha val="15000"/>
            </a:schemeClr>
          </a:solidFill>
          <a:ln w="15875">
            <a:solidFill>
              <a:schemeClr val="accent1"/>
            </a:solidFill>
            <a:prstDash val="solid"/>
          </a:ln>
        </p:spPr>
      </p:sp>
      <p:sp>
        <p:nvSpPr>
          <p:cNvPr id="9" name="Text 5"/>
          <p:cNvSpPr txBox="1"/>
          <p:nvPr/>
        </p:nvSpPr>
        <p:spPr>
          <a:xfrm>
            <a:off x="777240" y="3931920"/>
            <a:ext cx="1188720" cy="658368"/>
          </a:xfrm>
          <a:prstGeom prst="rect">
            <a:avLst/>
          </a:prstGeom>
          <a:noFill/>
          <a:ln/>
        </p:spPr>
        <p:txBody>
          <a:bodyPr wrap="square" lIns="0" tIns="0" rIns="0" bIns="0" rtlCol="0" anchor="ctr"/>
          <a:lstStyle/>
          <a:p>
            <a:pPr indent="0" marL="0">
              <a:buNone/>
            </a:pPr>
            <a:r>
              <a:rPr lang="en-US" sz="1200" b="1" spc="100" kern="0" dirty="0">
                <a:solidFill>
                  <a:schemeClr val="accent1"/>
                </a:solidFill>
              </a:rPr>
              <a:t>KATEGORI</a:t>
            </a:r>
            <a:endParaRPr lang="en-US" sz="1200" dirty="0"/>
          </a:p>
        </p:txBody>
      </p:sp>
      <p:sp>
        <p:nvSpPr>
          <p:cNvPr id="10" name="Text 6"/>
          <p:cNvSpPr txBox="1"/>
          <p:nvPr/>
        </p:nvSpPr>
        <p:spPr>
          <a:xfrm>
            <a:off x="1874520" y="3931920"/>
            <a:ext cx="6080760" cy="658368"/>
          </a:xfrm>
          <a:prstGeom prst="rect">
            <a:avLst/>
          </a:prstGeom>
          <a:noFill/>
          <a:ln/>
        </p:spPr>
        <p:txBody>
          <a:bodyPr wrap="square" lIns="0" tIns="0" rIns="0" bIns="0" rtlCol="0" anchor="ctr"/>
          <a:lstStyle/>
          <a:p>
            <a:pPr indent="0" marL="0">
              <a:buNone/>
            </a:pPr>
            <a:r>
              <a:rPr lang="en-US" sz="1900" b="1" dirty="0">
                <a:solidFill>
                  <a:schemeClr val="bg1"/>
                </a:solidFill>
              </a:rPr>
              <a:t>Inovasi Terapan – ASN Pemerintah Kabupaten/Kota</a:t>
            </a:r>
            <a:endParaRPr lang="en-US" sz="1900" dirty="0"/>
          </a:p>
        </p:txBody>
      </p:sp>
      <p:sp>
        <p:nvSpPr>
          <p:cNvPr id="11" name="Text 7"/>
          <p:cNvSpPr txBox="1"/>
          <p:nvPr/>
        </p:nvSpPr>
        <p:spPr>
          <a:xfrm>
            <a:off x="548640" y="4681728"/>
            <a:ext cx="7132320" cy="329184"/>
          </a:xfrm>
          <a:prstGeom prst="rect">
            <a:avLst/>
          </a:prstGeom>
          <a:noFill/>
          <a:ln/>
        </p:spPr>
        <p:txBody>
          <a:bodyPr wrap="square" lIns="0" tIns="0" rIns="0" bIns="0" rtlCol="0" anchor="t"/>
          <a:lstStyle/>
          <a:p>
            <a:pPr indent="0" marL="0">
              <a:buNone/>
            </a:pPr>
            <a:r>
              <a:rPr lang="en-US" sz="1500" dirty="0">
                <a:solidFill>
                  <a:schemeClr val="accent6"/>
                </a:solidFill>
              </a:rPr>
              <a:t>Bagian Protokol dan Komunikasi Pimpinan, Sekretariat Daerah Kota Tarakan</a:t>
            </a:r>
            <a:endParaRPr lang="en-US" sz="1500" dirty="0"/>
          </a:p>
        </p:txBody>
      </p:sp>
      <p:sp>
        <p:nvSpPr>
          <p:cNvPr id="12" name="Text 8"/>
          <p:cNvSpPr txBox="1"/>
          <p:nvPr/>
        </p:nvSpPr>
        <p:spPr>
          <a:xfrm>
            <a:off x="548640" y="521208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3"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5"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6"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201168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225856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22585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21945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Kegiatan</a:t>
            </a:r>
            <a:endParaRPr lang="en-US" sz="1600" dirty="0"/>
          </a:p>
        </p:txBody>
      </p:sp>
      <p:sp>
        <p:nvSpPr>
          <p:cNvPr id="8" name="Text 6"/>
          <p:cNvSpPr txBox="1"/>
          <p:nvPr/>
        </p:nvSpPr>
        <p:spPr>
          <a:xfrm>
            <a:off x="1508760" y="254203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3383280"/>
            <a:ext cx="4480560" cy="1005840"/>
          </a:xfrm>
          <a:prstGeom prst="roundRect">
            <a:avLst>
              <a:gd name="adj" fmla="val 10909"/>
            </a:avLst>
          </a:prstGeom>
          <a:solidFill>
            <a:srgbClr val="FDECEC"/>
          </a:solidFill>
          <a:ln w="19050">
            <a:solidFill>
              <a:schemeClr val="accent4"/>
            </a:solidFill>
            <a:prstDash val="solid"/>
          </a:ln>
        </p:spPr>
      </p:sp>
      <p:sp>
        <p:nvSpPr>
          <p:cNvPr id="10" name="Shape 8"/>
          <p:cNvSpPr/>
          <p:nvPr/>
        </p:nvSpPr>
        <p:spPr>
          <a:xfrm>
            <a:off x="777240" y="3630168"/>
            <a:ext cx="512064" cy="512064"/>
          </a:xfrm>
          <a:prstGeom prst="ellipse">
            <a:avLst/>
          </a:prstGeom>
          <a:solidFill>
            <a:schemeClr val="accent4"/>
          </a:solidFill>
          <a:ln w="12700">
            <a:solidFill>
              <a:schemeClr val="accent4"/>
            </a:solidFill>
            <a:prstDash val="solid"/>
          </a:ln>
        </p:spPr>
      </p:sp>
      <p:sp>
        <p:nvSpPr>
          <p:cNvPr id="11" name="Text 9"/>
          <p:cNvSpPr txBox="1"/>
          <p:nvPr/>
        </p:nvSpPr>
        <p:spPr>
          <a:xfrm>
            <a:off x="777240" y="36301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5661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Audiensi</a:t>
            </a:r>
            <a:endParaRPr lang="en-US" sz="1600" dirty="0"/>
          </a:p>
        </p:txBody>
      </p:sp>
      <p:sp>
        <p:nvSpPr>
          <p:cNvPr id="13" name="Text 11"/>
          <p:cNvSpPr txBox="1"/>
          <p:nvPr/>
        </p:nvSpPr>
        <p:spPr>
          <a:xfrm>
            <a:off x="1508760" y="3913632"/>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4" name="Text 12"/>
          <p:cNvSpPr txBox="1"/>
          <p:nvPr/>
        </p:nvSpPr>
        <p:spPr>
          <a:xfrm>
            <a:off x="548640" y="534924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15" name="Text 13"/>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Pengajuan →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flipV="1">
            <a:off x="3840480" y="1929384"/>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flipV="1">
            <a:off x="3840480" y="2715768"/>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flipV="1">
            <a:off x="3840480" y="3502152"/>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Dipantau sendiri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73152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 dan lebih hemat</a:t>
            </a:r>
            <a:endParaRPr lang="en-US" sz="1500" dirty="0"/>
          </a:p>
        </p:txBody>
      </p:sp>
      <p:sp>
        <p:nvSpPr>
          <p:cNvPr id="25" name="sebab1"/>
          <p:cNvSpPr/>
          <p:nvPr/>
        </p:nvSpPr>
        <p:spPr>
          <a:xfrm>
            <a:off x="548640" y="4892040"/>
            <a:ext cx="2636444"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31520"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31520"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kapan saja, dari mana saja</a:t>
            </a:r>
            <a:endParaRPr lang="en-US" sz="1400" dirty="0"/>
          </a:p>
        </p:txBody>
      </p:sp>
      <p:sp>
        <p:nvSpPr>
          <p:cNvPr id="28" name="sebab2"/>
          <p:cNvSpPr/>
          <p:nvPr/>
        </p:nvSpPr>
        <p:spPr>
          <a:xfrm>
            <a:off x="3367964" y="4892040"/>
            <a:ext cx="2636444"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3550844"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3550844"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versi ganda, foto disposisi, atau grup</a:t>
            </a:r>
            <a:endParaRPr lang="en-US" sz="1400" dirty="0"/>
          </a:p>
        </p:txBody>
      </p:sp>
      <p:sp>
        <p:nvSpPr>
          <p:cNvPr id="31" name="sebab3"/>
          <p:cNvSpPr/>
          <p:nvPr/>
        </p:nvSpPr>
        <p:spPr>
          <a:xfrm>
            <a:off x="6187288" y="4892040"/>
            <a:ext cx="2636444"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6370168"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6370168"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a:t>
            </a:r>
            <a:endParaRPr lang="en-US" sz="1400" dirty="0"/>
          </a:p>
        </p:txBody>
      </p:sp>
      <p:sp>
        <p:nvSpPr>
          <p:cNvPr id="34" name="sebab4"/>
          <p:cNvSpPr/>
          <p:nvPr/>
        </p:nvSpPr>
        <p:spPr>
          <a:xfrm>
            <a:off x="9006611" y="4892040"/>
            <a:ext cx="2636444" cy="1097280"/>
          </a:xfrm>
          <a:prstGeom prst="roundRect">
            <a:avLst>
              <a:gd name="adj" fmla="val 10000"/>
            </a:avLst>
          </a:prstGeom>
          <a:solidFill>
            <a:srgbClr val="ECFDF5"/>
          </a:solidFill>
          <a:ln w="19050">
            <a:solidFill>
              <a:schemeClr val="accent3"/>
            </a:solidFill>
            <a:prstDash val="solid"/>
          </a:ln>
        </p:spPr>
      </p:sp>
      <p:sp>
        <p:nvSpPr>
          <p:cNvPr id="35" name="Text 33"/>
          <p:cNvSpPr txBox="1"/>
          <p:nvPr/>
        </p:nvSpPr>
        <p:spPr>
          <a:xfrm>
            <a:off x="9189491" y="4983480"/>
            <a:ext cx="2270684" cy="365760"/>
          </a:xfrm>
          <a:prstGeom prst="rect">
            <a:avLst/>
          </a:prstGeom>
          <a:noFill/>
          <a:ln/>
        </p:spPr>
        <p:txBody>
          <a:bodyPr wrap="square" lIns="0" tIns="0" rIns="0" bIns="0" rtlCol="0" anchor="ctr"/>
          <a:lstStyle/>
          <a:p>
            <a:pPr indent="0" marL="0">
              <a:buNone/>
            </a:pPr>
            <a:r>
              <a:rPr lang="en-US" sz="1400" b="1" dirty="0">
                <a:solidFill>
                  <a:schemeClr val="accent3"/>
                </a:solidFill>
              </a:rPr>
              <a:t>Hemat kertas</a:t>
            </a:r>
            <a:endParaRPr lang="en-US" sz="1400" dirty="0"/>
          </a:p>
        </p:txBody>
      </p:sp>
      <p:sp>
        <p:nvSpPr>
          <p:cNvPr id="36" name="Text 34"/>
          <p:cNvSpPr txBox="1"/>
          <p:nvPr/>
        </p:nvSpPr>
        <p:spPr>
          <a:xfrm>
            <a:off x="9189491"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cetak ulang RK; 452 undangan terarsip digital</a:t>
            </a:r>
            <a:endParaRPr lang="en-US" sz="1400" dirty="0"/>
          </a:p>
        </p:txBody>
      </p:sp>
      <p:sp>
        <p:nvSpPr>
          <p:cNvPr id="37" name="Text 35"/>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jajarannya</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memakai kanal publik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Kalimantan Utara 2025–2029, Misi 3: Mewujudkan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2025–2029, Misi 4: Mewujudkan tata kelola pemerintahan yang adaptif, responsif dan menjaga stabilitas ketertiban dan ketentraman kota</a:t>
            </a:r>
            <a:endParaRPr lang="en-US" sz="1400" dirty="0"/>
          </a:p>
          <a:p>
            <a:pPr marL="342900" indent="-342900">
              <a:spcAft>
                <a:spcPts val="900"/>
              </a:spcAft>
              <a:buSzPct val="100000"/>
              <a:buChar char="•"/>
            </a:pPr>
            <a:r>
              <a:rPr lang="en-US" sz="1400" dirty="0">
                <a:solidFill>
                  <a:schemeClr val="bg1"/>
                </a:solidFill>
              </a:rPr>
              <a:t>Semboyan "Tarakan HIBOT":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572768"/>
          </a:xfrm>
          <a:prstGeom prst="roundRect">
            <a:avLst>
              <a:gd name="adj" fmla="val 6977"/>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572768"/>
          </a:xfrm>
          <a:prstGeom prst="roundRect">
            <a:avLst>
              <a:gd name="adj" fmla="val 6977"/>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572768"/>
          </a:xfrm>
          <a:prstGeom prst="roundRect">
            <a:avLst>
              <a:gd name="adj" fmla="val 6977"/>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538728"/>
            <a:ext cx="3545738" cy="1572768"/>
          </a:xfrm>
          <a:prstGeom prst="roundRect">
            <a:avLst>
              <a:gd name="adj" fmla="val 6977"/>
            </a:avLst>
          </a:prstGeom>
          <a:solidFill>
            <a:schemeClr val="bg2"/>
          </a:solidFill>
          <a:ln w="9525">
            <a:solidFill>
              <a:schemeClr val="bg2"/>
            </a:solidFill>
            <a:prstDash val="solid"/>
          </a:ln>
        </p:spPr>
      </p:sp>
      <p:sp>
        <p:nvSpPr>
          <p:cNvPr id="21" name="Shape 19"/>
          <p:cNvSpPr/>
          <p:nvPr/>
        </p:nvSpPr>
        <p:spPr>
          <a:xfrm>
            <a:off x="731520" y="3703320"/>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538728"/>
            <a:ext cx="3545738" cy="1572768"/>
          </a:xfrm>
          <a:prstGeom prst="roundRect">
            <a:avLst>
              <a:gd name="adj" fmla="val 6977"/>
            </a:avLst>
          </a:prstGeom>
          <a:solidFill>
            <a:schemeClr val="bg2"/>
          </a:solidFill>
          <a:ln w="9525">
            <a:solidFill>
              <a:schemeClr val="bg2"/>
            </a:solidFill>
            <a:prstDash val="solid"/>
          </a:ln>
        </p:spPr>
      </p:sp>
      <p:sp>
        <p:nvSpPr>
          <p:cNvPr id="26" name="Shape 24"/>
          <p:cNvSpPr/>
          <p:nvPr/>
        </p:nvSpPr>
        <p:spPr>
          <a:xfrm>
            <a:off x="4505858" y="3703320"/>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538728"/>
            <a:ext cx="3545738" cy="1572768"/>
          </a:xfrm>
          <a:prstGeom prst="roundRect">
            <a:avLst>
              <a:gd name="adj" fmla="val 6977"/>
            </a:avLst>
          </a:prstGeom>
          <a:solidFill>
            <a:schemeClr val="bg2"/>
          </a:solidFill>
          <a:ln w="9525">
            <a:solidFill>
              <a:schemeClr val="bg2"/>
            </a:solidFill>
            <a:prstDash val="solid"/>
          </a:ln>
        </p:spPr>
      </p:sp>
      <p:sp>
        <p:nvSpPr>
          <p:cNvPr id="31" name="Shape 29"/>
          <p:cNvSpPr/>
          <p:nvPr/>
        </p:nvSpPr>
        <p:spPr>
          <a:xfrm>
            <a:off x="8280197" y="3703320"/>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Text 33"/>
          <p:cNvSpPr txBox="1"/>
          <p:nvPr/>
        </p:nvSpPr>
        <p:spPr>
          <a:xfrm>
            <a:off x="548640" y="5193792"/>
            <a:ext cx="11094415" cy="384048"/>
          </a:xfrm>
          <a:prstGeom prst="rect">
            <a:avLst/>
          </a:prstGeom>
          <a:noFill/>
          <a:ln/>
        </p:spPr>
        <p:txBody>
          <a:bodyPr wrap="square" lIns="0" tIns="0" rIns="0" bIns="0" rtlCol="0" anchor="ctr"/>
          <a:lstStyle/>
          <a:p>
            <a:pPr indent="0" marL="0">
              <a:buNone/>
            </a:pPr>
            <a:r>
              <a:rPr lang="en-US" sz="1400" b="1" dirty="0">
                <a:solidFill>
                  <a:schemeClr val="accent4"/>
                </a:solidFill>
              </a:rPr>
              <a:t>Koreksi data  </a:t>
            </a:r>
            <a:pPr indent="0" marL="0">
              <a:buNone/>
            </a:pPr>
            <a:r>
              <a:rPr lang="en-US" sz="1400" dirty="0">
                <a:solidFill>
                  <a:schemeClr val="tx1"/>
                </a:solidFill>
              </a:rPr>
              <a:t>Proposal menulis tiga lembar (peristiwa Januari 2026); lembar aslinya dua, satu tidak sampai. Peristiwanya sama.</a:t>
            </a:r>
            <a:endParaRPr lang="en-US" sz="1400" dirty="0"/>
          </a:p>
        </p:txBody>
      </p:sp>
      <p:sp>
        <p:nvSpPr>
          <p:cNvPr id="36"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7" name="Text 35"/>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2026-10-19T08:30:05Z</dcterms:created>
  <dcterms:modified xsi:type="dcterms:W3CDTF">2026-10-19T08:30:05Z</dcterms:modified>
</cp:coreProperties>
</file>