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34ab9041-b80c-e4e2-8159-d240322e7183}">
          <p14:sldIdLst>
            <p14:sldId id="256"/>
          </p14:sldIdLst>
        </p14:section>
        <p14:section name="Latar belakang" id="{e03974fb-2d4f-3f5c-9e73-3b873f4bc8ba}">
          <p14:sldIdLst>
            <p14:sldId id="257"/>
            <p14:sldId id="258"/>
          </p14:sldIdLst>
        </p14:section>
        <p14:section name="Terobosan inovasi" id="{c6d32a50-4e7e-1707-9ff5-8b1409a389f2}">
          <p14:sldIdLst>
            <p14:sldId id="259"/>
            <p14:sldId id="260"/>
          </p14:sldIdLst>
        </p14:section>
        <p14:section name="Manfaat inovasi" id="{f42de21e-66a2-eb6b-e5a1-0d1fe2a30798}">
          <p14:sldIdLst>
            <p14:sldId id="261"/>
            <p14:sldId id="262"/>
            <p14:sldId id="263"/>
          </p14:sldIdLst>
        </p14:section>
        <p14:section name="Manfaat bagi instansi dan masyarakat" id="{6c266e99-32e3-f359-cefc-e10866219530}">
          <p14:sldIdLst>
            <p14:sldId id="264"/>
          </p14:sldIdLst>
        </p14:section>
        <p14:section name="Pemanfaatan sumber daya" id="{49ca86c0-255d-e1c6-a1ec-f51d2390ff3d}">
          <p14:sldIdLst>
            <p14:sldId id="265"/>
          </p14:sldIdLst>
        </p14:section>
        <p14:section name="Diseminasi inovasi" id="{633e2a6f-08e3-51e2-95b2-a4021b11b2e1}">
          <p14:sldIdLst>
            <p14:sldId id="266"/>
          </p14:sldIdLst>
        </p14:section>
        <p14:section name="Kompatibilitas" id="{41846242-d6f0-b98a-93f5-f2240ef899f1}">
          <p14:sldIdLst>
            <p14:sldId id="267"/>
          </p14:sldIdLst>
        </p14:section>
        <p14:section name="Penutup" id="{aa5bec5d-6282-1762-02b0-77f868775bb2}">
          <p14:sldIdLst>
            <p14:sldId id="268"/>
          </p14:sldIdLst>
        </p14:section>
        <p14:section name="Cadangan penjelasan" id="{45578b0a-e5fc-ce30-658b-a6195201a0bb}">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Pembuka
Assalamualaikum warahmatullahi wabarakatuh. Selamat [pagi/siang], Bapak dan Ibu Dewan Juri yang kami hormati.
Izin kami sampaikan Prokopim Hibot, satu alur digital terverifikasi untuk agenda Pimpinan Daerah, dari Bagian Protokol dan Komunikasi Pimpinan, Sekretariat Daerah Kota Tarakan. Kami mengikuti kategori Inovasi Terapan, ASN Pemerintah Kabupaten/Kota, pada Bidang Fokus 3: Tata Kelola Kolaboratif dan Pelayanan Publik.
Isyarat: Berdiri tegak, tatap juri, senyum. Jangan buru-buru; kalimat pertama menentukan kesan.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0:25–1:10 · Latar belakang: peristiwa Januari
Awal Januari 2026, dua lembar disposisi agenda turun dari meja Pimpinan: rencana kegiatan dan rencana audiensi.
Yang ini sampai kepada kami, karena difoto dan dikirim ke grup. Yang ini, rencana audiensi untuk Senin, 5 Januari, tertinggal.
Tidak ada yang lalai. Tetapi tidak ada pula yang bisa mengetahuinya, karena tidak ada catatan berapa lembar yang seharusnya kami terima.
Saat itu rencana kegiatan disusun di spreadsheet lalu dicetak, penelaahan hanya sempat sekitar 30 menit menjelang jam pulang, disposisi beredar sebagai foto, dan dari pengajuan sampai tayang diperkirakan 18 sampai 24 jam.
Isyarat: Tunjuk foto atas saat 'yang ini sampai', foto bawah saat 'yang ini tertinggal'. Pelankan suara di 'tidak ada yang lalai', beri jeda sejenak.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1:10–1:40 · Akar masalah
Kami lalu menelaah bersama seluruh Bagian, dan menemukan pola yang sama di banyak tempat: keputusan tidak meninggalkan jejak, beberapa versi cetakan beredar bersamaan, pengetahuan kerja melekat pada orang.
Akarnya satu: tidak ada satu sumber data yang dapat dirujuk semua pihak.
Isyarat: Tunjuk kotak 'Akar masalah'. Kalimat terakhir diucapkan pelan dan tegas.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1:40–2:15 · Terobosan: pilihan dan alur
Kami menimbang empat pilihan. Menambah pengawasan tidak menyentuh akar masalah. Merapikan spreadsheet tetap menyisakan banyak versi. Membeli aplikasi jadi butuh anggaran, padahal alur keprotokolan sangat khas.
Maka kami membangun sendiri, tanpa belanja pengadaan. Hasilnya satu alur berjenjang: Admin Rencana Kegiatan, Kepala Sub Bagian, Kepala Bagian, lalu tayang di HP Pimpinan.
Isyarat: Sapukan tangan dari kiri ke kanan mengikuti empat kartu, lalu empat langkah alur.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2:15–2:40 · Enam unsur kebaruan
Kebaruannya ada pada cara menjaga mutu keputusan: setiap langkah tercatat, persetujuan baru aktif setelah daftar periksa dicentang, dan kewenangan Pelaksana Harian padam sendiri pada tanggal akhirnya.
Sejak proposal, aplikasi terus dikembangkan dari kendala pengguna. Izin kami tunjukkan langsung di aplikasi.
Isyarat: Pada 'izin kami tunjukkan', beri anggukan ke Admin RK: tanda demo dimulai.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2:40–5:40 · DEMONSTRASI (3 menit)
(1) Admin RK, laptop · 0:00–0:35 — "Admin kami menerima undangan. Cukup dipindai: nama acara, tanggal, jam, lokasi, dan zona waktunya terisi sendiri. Aplikasi juga memeriksa benturan jadwal. Admin memeriksa, lalu mengirim."
(2) Kasubbag, HP · 0:35–1:05 — "Kepala Sub Bagian langsung menerima notifikasi, di mana pun berada. Tombol teruskan baru aktif setelah undangan dibuka dan daftar periksa dicentang. Kekeliruan tertahan sebelum sampai ke Pimpinan."
(3) Kabag, HP · 1:05–1:25 — "Saya memutus dari HP saya. Setujui, dan agenda langsung tayang, tanpa cetak ulang."
(4) HP Wali Kota · 1:25–2:05 — "Saat itu juga agenda tiba di HP Wali Kota. Beliau atau ajudan cukup menekan Hadir, atau mendisposisikan kepada Wakil Wali Kota. Disposisi inilah yang dulu beredar sebagai foto."
(5) Admin RK, laptop · 2:05–2:35 — "Petugas ditugaskan dan langsung diberi tahu. Di Riwayat Alur, setiap langkah tadi tercatat: siapa, kapan, dan apa keputusannya."
(6) Kabag, HP · 2:35–3:00 — "Dan di Monitor WA kami memastikan pesan penugasan itu terkirim dan dibaca. Tidak ada lagi lembar yang tertinggal tanpa ada yang tahu."
Isyarat: Kabag memandu dan berbicara; Admin RK dan Kasubbag hanya mengoperasikan. Semua memakai instans demo berdata contoh. Bila aplikasi atau jaringan bermasalah lebih dari 10 detik, langsung putar video demo cadangan di laptop. Admin RK memberi isyarat pada menit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5:40–6:30 · Manfaat terukur
Hasilnya terukur dari basis data, per 24 September 2026. Dari pengajuan sampai tayang, yang dulu diperkirakan 18 sampai 24 jam, kini median 1,99 jam, dan 99,3 persen tayang kurang dari sehari.
589 kegiatan terkelola dan 3.072 keputusan terekam. 92,4 persen kegiatan sudah ada petugasnya. Hampir separuh penelaahan, 47,5 persen, dilakukan di luar jam kerja: pekerjaan tidak lagi menunggu jendela 30 menit.
Dan hemat kertas: rencana kegiatan tidak lagi dicetak ulang, 452 berkas undangan terarsip digital.
Isyarat: Beri jeda dua detik sesudah '1,99 jam'. Ini angka utama; biarkan juri mencernanya.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6:30–7:00 · Manfaat utama: agenda Wali Kota dan Wakil
Manfaat utamanya ada pada agenda Wali Kota dan Wakil Wali Kota. Wali Kota menyampaikan: "Yang terpenting bagi saya adalah kepastian: ke mana saya harus hadir, kapan, dan siapa yang menyiapkannya."
62 kegiatan telah beliau disposisikan kepada Wakil langsung dari aplikasi, dan ajudan sudah 341 kali mengonfirmasi kehadiran.
Isyarat: Bacakan kutipan dengan nada hormat dan pelan, sambil menunjuk kotak kutipan. Tegaskan kata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7:00–7:25 · Layanan pendukung: instansi dan masyarakat
Selain agenda Pimpinan, ada dua layanan pendukung. Bagi instansi, peminjaman ruang rapat: 123 pengajuan dari 66 instansi. Bagi instansi dan masyarakat, permohonan audiensi dan bertamu kepada Pimpinan: 55 permohonan dari 53 instansi. Statusnya dipantau sendiri dengan kode penelusuran, tanpa datang atau menelepon berulang.
Isyarat: Sampaikan sebagai pendukung, nada lebih ringan; jangan berlama-lama, inti paparan tetap agenda Pimpinan.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7:25–7:55 · Pemanfaatan sumber daya
Seluruhnya dibangun tim sendiri, tanpa belanja pengadaan, dengan layanan tanpa biaya.
Bagaimana bila pengelolanya pindah? Kewenangan melekat pada jabatan, sebelas SOP disiapkan, kode dan riwayat tersimpan lengkap atas nama instansi, dan pengelola kedua didampingi mulai 2027.
Isyarat: Pertanyaan 'bila Kabag pindah' hampir pasti muncul; dengan menjawabnya lebih dulu, Bapak menguasai arah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7:55–8:25 · Diseminasi
Pemakaiannya sudah melampaui Bagian kami: Pimpinan, ajudan, pengawal, mitra di DKISP, dan Tim Koordinasi lintas perangkat daerah.
Inovasi ini siap direplikasi sesuai kebutuhan; yang disesuaikan hanya nama jabatan, pengguna, dan tata naskah. Sebelas SOP disahkan Sekretaris Daerah pada Oktober sampai Desember 2026.
Isyarat: Sebut 'siap direplikasi' dengan yakin; jangan menjanjikan daerah tertentu.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8:25–8:50 · Kompatibilitas dan bidang fokus
Inovasi ini menjawab Bidang Fokus 3 pada pedoman, Tata Kelola Kolaboratif dan Pelayanan Publik: digitalisasi pelayanan, penyederhanaan proses bisnis, integrasi data, serta transparansi dan akuntabilitas.
Juga selaras dengan Misi 3 RPJMD Kalimantan Utara dan Misi 4 Kota Tarakan. Aplikasi menyesuaikan cara kerja Pimpinan, bukan sebaliknya: naskah sambutan tetap tersedia tercetak.
Isyarat: Tunjuk pita Bidang Fokus di atas. Nomor peraturan cukup tertulis di slide, tidak perlu dibacakan.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8:50–9:15 · Penutup
Bapak dan Ibu Dewan Juri, Januari lalu satu lembar tertinggal tanpa ada yang tahu. Hari ini, setiap lembar dan setiap keputusan tercatat.
Prokopim Hibot: satu alur, satu data, setiap keputusan tercatat. Terima kasih. Wassalamualaikum warahmatullahi wabarakatuh.
Isyarat: Ucapkan slogan perlahan, satu frasa satu tarikan napas, lalu diam dan tatap juri. Jangan menambah kalimat sesudah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CADANGAN: bila ditanya perbedaan dengan proposal
Proposal memuat keadaan per 24 September 2026. Pembaruan Oktober 2026 berangkat dari pemakaian: pengingat dirampingkan menjadi tiga waktu, WhatsApp hanya untuk acara hari ini atau besok, notifikasi tamu berjenjang, Monitor WA, masuk dengan sidik jari dan akun Google, dan jam acara mengikuti zona waktu.
Koreksi data: di proposal kami menulis tiga lembar berdasarkan ingatan. Saat menyiapkan paparan ini kami menelusuri lembar aslinya; ternyata dua lembar, rencana kegiatan sampai dan rencana audiensi tertinggal. Inilah alasan aplikasi ini dibangun: tanpa catatan, bahkan jumlah lembar pun bergantung pada ingatan.
Isyarat: Tampilkan hanya bila ditanya. Jawab jujur dan tenang; koreksi yang disampaikan terbuka menambah kepercayaan.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Inovasi Terapan – ASN Pemerintah Kabupaten/Kota</a:t>
            </a:r>
            <a:endParaRPr lang="en-US" sz="1000" dirty="0"/>
          </a:p>
        </p:txBody>
      </p:sp>
      <p:pic>
        <p:nvPicPr>
          <p:cNvPr id="5" name="Image 0" descr="/home/user/joyful-visuals/docs/lomba/buil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home/user/joyful-visuals/docs/lomba/buil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Inovasi Terapan –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Shape 4"/>
          <p:cNvSpPr/>
          <p:nvPr/>
        </p:nvSpPr>
        <p:spPr>
          <a:xfrm>
            <a:off x="548640" y="3840480"/>
            <a:ext cx="7498080" cy="1024128"/>
          </a:xfrm>
          <a:prstGeom prst="roundRect">
            <a:avLst>
              <a:gd name="adj" fmla="val 7143"/>
            </a:avLst>
          </a:prstGeom>
          <a:solidFill>
            <a:schemeClr val="accent1">
              <a:alpha val="15000"/>
            </a:schemeClr>
          </a:solidFill>
          <a:ln w="15875">
            <a:solidFill>
              <a:schemeClr val="accent1"/>
            </a:solidFill>
            <a:prstDash val="solid"/>
          </a:ln>
        </p:spPr>
      </p:sp>
      <p:sp>
        <p:nvSpPr>
          <p:cNvPr id="9" name="Text 5"/>
          <p:cNvSpPr txBox="1"/>
          <p:nvPr/>
        </p:nvSpPr>
        <p:spPr>
          <a:xfrm>
            <a:off x="777240" y="3904488"/>
            <a:ext cx="1554480" cy="420624"/>
          </a:xfrm>
          <a:prstGeom prst="rect">
            <a:avLst/>
          </a:prstGeom>
          <a:noFill/>
          <a:ln/>
        </p:spPr>
        <p:txBody>
          <a:bodyPr wrap="square" lIns="0" tIns="0" rIns="0" bIns="0" rtlCol="0" anchor="ctr"/>
          <a:lstStyle/>
          <a:p>
            <a:pPr indent="0" marL="0">
              <a:buNone/>
            </a:pPr>
            <a:r>
              <a:rPr lang="en-US" sz="1200" b="1" spc="100" kern="0" dirty="0">
                <a:solidFill>
                  <a:schemeClr val="accent1"/>
                </a:solidFill>
              </a:rPr>
              <a:t>KATEGORI</a:t>
            </a:r>
            <a:endParaRPr lang="en-US" sz="1200" dirty="0"/>
          </a:p>
        </p:txBody>
      </p:sp>
      <p:sp>
        <p:nvSpPr>
          <p:cNvPr id="10" name="Text 6"/>
          <p:cNvSpPr txBox="1"/>
          <p:nvPr/>
        </p:nvSpPr>
        <p:spPr>
          <a:xfrm>
            <a:off x="2331720" y="3904488"/>
            <a:ext cx="5623560" cy="420624"/>
          </a:xfrm>
          <a:prstGeom prst="rect">
            <a:avLst/>
          </a:prstGeom>
          <a:noFill/>
          <a:ln/>
        </p:spPr>
        <p:txBody>
          <a:bodyPr wrap="square" lIns="0" tIns="0" rIns="0" bIns="0" rtlCol="0" anchor="ctr"/>
          <a:lstStyle/>
          <a:p>
            <a:pPr indent="0" marL="0">
              <a:buNone/>
            </a:pPr>
            <a:r>
              <a:rPr lang="en-US" sz="1800" b="1" dirty="0">
                <a:solidFill>
                  <a:schemeClr val="bg1"/>
                </a:solidFill>
              </a:rPr>
              <a:t>Inovasi Terapan – ASN Pemerintah Kabupaten/Kota</a:t>
            </a:r>
            <a:endParaRPr lang="en-US" sz="1800" dirty="0"/>
          </a:p>
        </p:txBody>
      </p:sp>
      <p:sp>
        <p:nvSpPr>
          <p:cNvPr id="11" name="Text 7"/>
          <p:cNvSpPr txBox="1"/>
          <p:nvPr/>
        </p:nvSpPr>
        <p:spPr>
          <a:xfrm>
            <a:off x="777240" y="4361688"/>
            <a:ext cx="1554480" cy="420624"/>
          </a:xfrm>
          <a:prstGeom prst="rect">
            <a:avLst/>
          </a:prstGeom>
          <a:noFill/>
          <a:ln/>
        </p:spPr>
        <p:txBody>
          <a:bodyPr wrap="square" lIns="0" tIns="0" rIns="0" bIns="0" rtlCol="0" anchor="ctr"/>
          <a:lstStyle/>
          <a:p>
            <a:pPr indent="0" marL="0">
              <a:buNone/>
            </a:pPr>
            <a:r>
              <a:rPr lang="en-US" sz="1200" b="1" spc="100" kern="0" dirty="0">
                <a:solidFill>
                  <a:schemeClr val="accent1"/>
                </a:solidFill>
              </a:rPr>
              <a:t>BIDANG FOKUS</a:t>
            </a:r>
            <a:endParaRPr lang="en-US" sz="1200" dirty="0"/>
          </a:p>
        </p:txBody>
      </p:sp>
      <p:sp>
        <p:nvSpPr>
          <p:cNvPr id="12" name="Text 8"/>
          <p:cNvSpPr txBox="1"/>
          <p:nvPr/>
        </p:nvSpPr>
        <p:spPr>
          <a:xfrm>
            <a:off x="2331720" y="4361688"/>
            <a:ext cx="5623560" cy="420624"/>
          </a:xfrm>
          <a:prstGeom prst="rect">
            <a:avLst/>
          </a:prstGeom>
          <a:noFill/>
          <a:ln/>
        </p:spPr>
        <p:txBody>
          <a:bodyPr wrap="square" lIns="0" tIns="0" rIns="0" bIns="0" rtlCol="0" anchor="ctr"/>
          <a:lstStyle/>
          <a:p>
            <a:pPr indent="0" marL="0">
              <a:buNone/>
            </a:pPr>
            <a:r>
              <a:rPr lang="en-US" sz="1800" b="1" dirty="0">
                <a:solidFill>
                  <a:schemeClr val="bg1"/>
                </a:solidFill>
              </a:rPr>
              <a:t>3 · Tata Kelola Kolaboratif dan Pelayanan Publik</a:t>
            </a:r>
            <a:endParaRPr lang="en-US" sz="1800" dirty="0"/>
          </a:p>
        </p:txBody>
      </p:sp>
      <p:sp>
        <p:nvSpPr>
          <p:cNvPr id="13" name="Text 9"/>
          <p:cNvSpPr txBox="1"/>
          <p:nvPr/>
        </p:nvSpPr>
        <p:spPr>
          <a:xfrm>
            <a:off x="548640" y="4956048"/>
            <a:ext cx="7132320" cy="329184"/>
          </a:xfrm>
          <a:prstGeom prst="rect">
            <a:avLst/>
          </a:prstGeom>
          <a:noFill/>
          <a:ln/>
        </p:spPr>
        <p:txBody>
          <a:bodyPr wrap="square" lIns="0" tIns="0" rIns="0" bIns="0" rtlCol="0" anchor="t"/>
          <a:lstStyle/>
          <a:p>
            <a:pPr indent="0" marL="0">
              <a:buNone/>
            </a:pPr>
            <a:r>
              <a:rPr lang="en-US" sz="1500" dirty="0">
                <a:solidFill>
                  <a:schemeClr val="accent6"/>
                </a:solidFill>
              </a:rPr>
              <a:t>Bagian Protokol dan Komunikasi Pimpinan, Sekretariat Daerah Kota Tarakan</a:t>
            </a:r>
            <a:endParaRPr lang="en-US" sz="1500" dirty="0"/>
          </a:p>
        </p:txBody>
      </p:sp>
      <p:sp>
        <p:nvSpPr>
          <p:cNvPr id="14" name="Text 10"/>
          <p:cNvSpPr txBox="1"/>
          <p:nvPr/>
        </p:nvSpPr>
        <p:spPr>
          <a:xfrm>
            <a:off x="548640" y="5394960"/>
            <a:ext cx="7132320" cy="685800"/>
          </a:xfrm>
          <a:prstGeom prst="rect">
            <a:avLst/>
          </a:prstGeom>
          <a:noFill/>
          <a:ln/>
        </p:spPr>
        <p:txBody>
          <a:bodyPr wrap="square" lIns="0" tIns="0" rIns="0" bIns="0" rtlCol="0" anchor="t"/>
          <a:lstStyle/>
          <a:p>
            <a:pPr indent="0" marL="0">
              <a:buNone/>
            </a:pPr>
            <a:r>
              <a:rPr lang="en-US" sz="1400" b="1" dirty="0">
                <a:solidFill>
                  <a:schemeClr val="accent1"/>
                </a:solidFill>
              </a:rPr>
              <a:t>Tim Inovasi  </a:t>
            </a:r>
            <a:pPr indent="0" marL="0">
              <a:buNone/>
            </a:pPr>
            <a:r>
              <a:rPr lang="en-US" sz="1400" dirty="0">
                <a:solidFill>
                  <a:schemeClr val="bg1"/>
                </a:solidFill>
              </a:rPr>
              <a:t>Anugrah Yega Pranatha, M.Si. (Ketua)  ·  Saifullah, S.H.  ·  Juliyanti, S.AP.  ·  Mastura, S.Sos.  ·  Ni Kade Sari Handayani, S.AP.</a:t>
            </a:r>
            <a:endParaRPr lang="en-US" sz="1400" dirty="0"/>
          </a:p>
        </p:txBody>
      </p:sp>
      <p:pic>
        <p:nvPicPr>
          <p:cNvPr id="15" name="Image 2" descr="/home/user/joyful-visuals/docs/lomba/buil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7"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8"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201168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225856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225856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2194560"/>
            <a:ext cx="3383280" cy="329184"/>
          </a:xfrm>
          <a:prstGeom prst="rect">
            <a:avLst/>
          </a:prstGeom>
          <a:noFill/>
          <a:ln/>
        </p:spPr>
        <p:txBody>
          <a:bodyPr wrap="square" lIns="0" tIns="0" rIns="0" bIns="0" rtlCol="0" anchor="t"/>
          <a:lstStyle/>
          <a:p>
            <a:pPr indent="0" marL="0">
              <a:buNone/>
            </a:pPr>
            <a:r>
              <a:rPr lang="en-US" sz="1600" b="1" dirty="0">
                <a:solidFill>
                  <a:schemeClr val="tx2"/>
                </a:solidFill>
              </a:rPr>
              <a:t>Rencana Kegiatan</a:t>
            </a:r>
            <a:endParaRPr lang="en-US" sz="1600" dirty="0"/>
          </a:p>
        </p:txBody>
      </p:sp>
      <p:sp>
        <p:nvSpPr>
          <p:cNvPr id="8" name="Text 6"/>
          <p:cNvSpPr txBox="1"/>
          <p:nvPr/>
        </p:nvSpPr>
        <p:spPr>
          <a:xfrm>
            <a:off x="1508760" y="254203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3383280"/>
            <a:ext cx="4480560" cy="1005840"/>
          </a:xfrm>
          <a:prstGeom prst="roundRect">
            <a:avLst>
              <a:gd name="adj" fmla="val 10909"/>
            </a:avLst>
          </a:prstGeom>
          <a:solidFill>
            <a:srgbClr val="FDECEC"/>
          </a:solidFill>
          <a:ln w="19050">
            <a:solidFill>
              <a:schemeClr val="accent4"/>
            </a:solidFill>
            <a:prstDash val="solid"/>
          </a:ln>
        </p:spPr>
      </p:sp>
      <p:sp>
        <p:nvSpPr>
          <p:cNvPr id="10" name="Shape 8"/>
          <p:cNvSpPr/>
          <p:nvPr/>
        </p:nvSpPr>
        <p:spPr>
          <a:xfrm>
            <a:off x="777240" y="3630168"/>
            <a:ext cx="512064" cy="512064"/>
          </a:xfrm>
          <a:prstGeom prst="ellipse">
            <a:avLst/>
          </a:prstGeom>
          <a:solidFill>
            <a:schemeClr val="accent4"/>
          </a:solidFill>
          <a:ln w="12700">
            <a:solidFill>
              <a:schemeClr val="accent4"/>
            </a:solidFill>
            <a:prstDash val="solid"/>
          </a:ln>
        </p:spPr>
      </p:sp>
      <p:sp>
        <p:nvSpPr>
          <p:cNvPr id="11" name="Text 9"/>
          <p:cNvSpPr txBox="1"/>
          <p:nvPr/>
        </p:nvSpPr>
        <p:spPr>
          <a:xfrm>
            <a:off x="777240" y="363016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566160"/>
            <a:ext cx="3383280" cy="329184"/>
          </a:xfrm>
          <a:prstGeom prst="rect">
            <a:avLst/>
          </a:prstGeom>
          <a:noFill/>
          <a:ln/>
        </p:spPr>
        <p:txBody>
          <a:bodyPr wrap="square" lIns="0" tIns="0" rIns="0" bIns="0" rtlCol="0" anchor="t"/>
          <a:lstStyle/>
          <a:p>
            <a:pPr indent="0" marL="0">
              <a:buNone/>
            </a:pPr>
            <a:r>
              <a:rPr lang="en-US" sz="1600" b="1" dirty="0">
                <a:solidFill>
                  <a:schemeClr val="tx2"/>
                </a:solidFill>
              </a:rPr>
              <a:t>Rencana Audiensi</a:t>
            </a:r>
            <a:endParaRPr lang="en-US" sz="1600" dirty="0"/>
          </a:p>
        </p:txBody>
      </p:sp>
      <p:sp>
        <p:nvSpPr>
          <p:cNvPr id="13" name="Text 11"/>
          <p:cNvSpPr txBox="1"/>
          <p:nvPr/>
        </p:nvSpPr>
        <p:spPr>
          <a:xfrm>
            <a:off x="1508760" y="3913632"/>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4" name="Text 12"/>
          <p:cNvSpPr txBox="1"/>
          <p:nvPr/>
        </p:nvSpPr>
        <p:spPr>
          <a:xfrm>
            <a:off x="548640" y="534924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15" name="Text 13"/>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Pengajuan →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flipV="1">
            <a:off x="3840480" y="1929384"/>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flipV="1">
            <a:off x="3840480" y="2715768"/>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flipV="1">
            <a:off x="3840480" y="3502152"/>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Permohonan ruangan dan audiensi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Tidak menyentuh akar masalah</a:t>
            </a:r>
            <a:endParaRPr lang="en-US" sz="14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Tetap banyak versi, tanpa jejak keputusan</a:t>
            </a:r>
            <a:endParaRPr lang="en-US" sz="14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Butuh anggaran; alur keprotokolan sangat khas</a:t>
            </a:r>
            <a:endParaRPr lang="en-US" sz="14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400" dirty="0">
                <a:solidFill>
                  <a:schemeClr val="accent1"/>
                </a:solidFill>
              </a:rPr>
              <a:t>Dipilih — tanpa anggaran pengadaan</a:t>
            </a:r>
            <a:endParaRPr lang="en-US" sz="14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dan menayangkan</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Siapa, kapan, apa keputusannya</a:t>
            </a:r>
            <a:endParaRPr lang="en-US" sz="14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Setuju baru aktif sesudah dicentang</a:t>
            </a:r>
            <a:endParaRPr lang="en-US" sz="14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Padam sendiri pada tanggal akhirnya</a:t>
            </a:r>
            <a:endParaRPr lang="en-US" sz="14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Ditandai menurut umur dan hari H</a:t>
            </a:r>
            <a:endParaRPr lang="en-US" sz="14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Permohonan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Ruangan dan audiensi dipantau dengan kode</a:t>
            </a:r>
            <a:endParaRPr lang="en-US" sz="14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Agenda tersetujui tampil sendiri</a:t>
            </a:r>
            <a:endParaRPr lang="en-US" sz="14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pesan penugasan terkirim</a:t>
            </a:r>
            <a:endParaRPr lang="en-US" sz="1400" dirty="0"/>
          </a:p>
        </p:txBody>
      </p:sp>
      <p:sp>
        <p:nvSpPr>
          <p:cNvPr id="34" name="Text 32"/>
          <p:cNvSpPr txBox="1"/>
          <p:nvPr/>
        </p:nvSpPr>
        <p:spPr>
          <a:xfrm>
            <a:off x="6233008" y="3931920"/>
            <a:ext cx="5410048" cy="1463040"/>
          </a:xfrm>
          <a:prstGeom prst="rect">
            <a:avLst/>
          </a:prstGeom>
          <a:noFill/>
          <a:ln/>
        </p:spPr>
        <p:txBody>
          <a:bodyPr wrap="square" lIns="0" tIns="0" rIns="0" bIns="0" rtlCol="0" anchor="t"/>
          <a:lstStyle/>
          <a:p>
            <a:pPr indent="0" marL="0">
              <a:spcAft>
                <a:spcPts val="600"/>
              </a:spcAft>
              <a:buNone/>
            </a:pPr>
            <a:r>
              <a:rPr lang="en-US" sz="1600" i="1" dirty="0">
                <a:solidFill>
                  <a:schemeClr val="accent1"/>
                </a:solidFill>
              </a:rPr>
              <a:t>Langkah 1–4: satu alur sampai ke Pimpinan.</a:t>
            </a:r>
            <a:endParaRPr lang="en-US" sz="1600" dirty="0"/>
          </a:p>
          <a:p>
            <a:pPr indent="0" marL="0">
              <a:spcAft>
                <a:spcPts val="600"/>
              </a:spcAft>
              <a:buNone/>
            </a:pPr>
            <a:r>
              <a:rPr lang="en-US" sz="1600" i="1" dirty="0">
                <a:solidFill>
                  <a:schemeClr val="accent1"/>
                </a:solidFill>
              </a:rPr>
              <a:t>Langkah 5–6: setiap keputusan dan pesan tercatat.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Dari 18–24 jam menjadi 1,99 jam, dan setiap keputusan tercatat</a:t>
            </a:r>
            <a:endParaRPr lang="en-US" sz="2800" dirty="0"/>
          </a:p>
        </p:txBody>
      </p:sp>
      <p:sp>
        <p:nvSpPr>
          <p:cNvPr id="4" name="sebelum"/>
          <p:cNvSpPr/>
          <p:nvPr/>
        </p:nvSpPr>
        <p:spPr>
          <a:xfrm>
            <a:off x="548640" y="1691640"/>
            <a:ext cx="3246120" cy="2606040"/>
          </a:xfrm>
          <a:prstGeom prst="roundRect">
            <a:avLst>
              <a:gd name="adj" fmla="val 4211"/>
            </a:avLst>
          </a:prstGeom>
          <a:solidFill>
            <a:schemeClr val="bg2"/>
          </a:solidFill>
          <a:ln w="9525">
            <a:solidFill>
              <a:schemeClr val="bg2"/>
            </a:solidFill>
            <a:prstDash val="solid"/>
          </a:ln>
        </p:spPr>
      </p:sp>
      <p:sp>
        <p:nvSpPr>
          <p:cNvPr id="5" name="Text 3"/>
          <p:cNvSpPr txBox="1"/>
          <p:nvPr/>
        </p:nvSpPr>
        <p:spPr>
          <a:xfrm>
            <a:off x="822960" y="1892808"/>
            <a:ext cx="2697480"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SEBELUM</a:t>
            </a:r>
            <a:endParaRPr lang="en-US" sz="1200" dirty="0"/>
          </a:p>
        </p:txBody>
      </p:sp>
      <p:sp>
        <p:nvSpPr>
          <p:cNvPr id="6" name="Text 4"/>
          <p:cNvSpPr txBox="1"/>
          <p:nvPr/>
        </p:nvSpPr>
        <p:spPr>
          <a:xfrm>
            <a:off x="822960" y="2286000"/>
            <a:ext cx="2697480" cy="822960"/>
          </a:xfrm>
          <a:prstGeom prst="rect">
            <a:avLst/>
          </a:prstGeom>
          <a:noFill/>
          <a:ln/>
        </p:spPr>
        <p:txBody>
          <a:bodyPr wrap="square" lIns="0" tIns="0" rIns="0" bIns="0" rtlCol="0" anchor="t"/>
          <a:lstStyle/>
          <a:p>
            <a:pPr indent="0" marL="0">
              <a:buNone/>
            </a:pPr>
            <a:r>
              <a:rPr lang="en-US" sz="3600" b="1" dirty="0">
                <a:solidFill>
                  <a:schemeClr val="accent5"/>
                </a:solidFill>
              </a:rPr>
              <a:t>±18–24 jam</a:t>
            </a:r>
            <a:endParaRPr lang="en-US" sz="3600" dirty="0"/>
          </a:p>
        </p:txBody>
      </p:sp>
      <p:sp>
        <p:nvSpPr>
          <p:cNvPr id="7" name="Text 5"/>
          <p:cNvSpPr txBox="1"/>
          <p:nvPr/>
        </p:nvSpPr>
        <p:spPr>
          <a:xfrm>
            <a:off x="822960" y="3154680"/>
            <a:ext cx="2697480" cy="914400"/>
          </a:xfrm>
          <a:prstGeom prst="rect">
            <a:avLst/>
          </a:prstGeom>
          <a:noFill/>
          <a:ln/>
        </p:spPr>
        <p:txBody>
          <a:bodyPr wrap="square" lIns="0" tIns="0" rIns="0" bIns="0" rtlCol="0" anchor="t"/>
          <a:lstStyle/>
          <a:p>
            <a:pPr indent="0" marL="0">
              <a:buNone/>
            </a:pPr>
            <a:r>
              <a:rPr lang="en-US" sz="1400" dirty="0">
                <a:solidFill>
                  <a:schemeClr val="accent5"/>
                </a:solidFill>
              </a:rPr>
              <a:t>dari pengajuan sampai tayang; perkiraan alur lama yang tidak pernah dicatat</a:t>
            </a:r>
            <a:endParaRPr lang="en-US" sz="1400" dirty="0"/>
          </a:p>
        </p:txBody>
      </p:sp>
      <p:sp>
        <p:nvSpPr>
          <p:cNvPr id="8" name="Shape 6"/>
          <p:cNvSpPr/>
          <p:nvPr/>
        </p:nvSpPr>
        <p:spPr>
          <a:xfrm>
            <a:off x="3886200" y="2994660"/>
            <a:ext cx="411480" cy="0"/>
          </a:xfrm>
          <a:prstGeom prst="line">
            <a:avLst/>
          </a:prstGeom>
          <a:noFill/>
          <a:ln w="22225">
            <a:solidFill>
              <a:schemeClr val="tx2"/>
            </a:solidFill>
            <a:prstDash val="solid"/>
            <a:tailEnd type="triangle"/>
          </a:ln>
        </p:spPr>
      </p:sp>
      <p:sp>
        <p:nvSpPr>
          <p:cNvPr id="9" name="sesudah"/>
          <p:cNvSpPr/>
          <p:nvPr/>
        </p:nvSpPr>
        <p:spPr>
          <a:xfrm>
            <a:off x="4389120" y="1691640"/>
            <a:ext cx="3657600" cy="2606040"/>
          </a:xfrm>
          <a:prstGeom prst="roundRect">
            <a:avLst>
              <a:gd name="adj" fmla="val 4211"/>
            </a:avLst>
          </a:prstGeom>
          <a:solidFill>
            <a:schemeClr val="tx2"/>
          </a:solidFill>
          <a:ln w="9525">
            <a:solidFill>
              <a:schemeClr val="tx2"/>
            </a:solidFill>
            <a:prstDash val="solid"/>
          </a:ln>
        </p:spPr>
      </p:sp>
      <p:sp>
        <p:nvSpPr>
          <p:cNvPr id="10" name="Text 8"/>
          <p:cNvSpPr txBox="1"/>
          <p:nvPr/>
        </p:nvSpPr>
        <p:spPr>
          <a:xfrm>
            <a:off x="4663440" y="1892808"/>
            <a:ext cx="31089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SESUDAH</a:t>
            </a:r>
            <a:endParaRPr lang="en-US" sz="1200" dirty="0"/>
          </a:p>
        </p:txBody>
      </p:sp>
      <p:sp>
        <p:nvSpPr>
          <p:cNvPr id="11" name="Text 9"/>
          <p:cNvSpPr txBox="1"/>
          <p:nvPr/>
        </p:nvSpPr>
        <p:spPr>
          <a:xfrm>
            <a:off x="4663440" y="2240280"/>
            <a:ext cx="3108960" cy="914400"/>
          </a:xfrm>
          <a:prstGeom prst="rect">
            <a:avLst/>
          </a:prstGeom>
          <a:noFill/>
          <a:ln/>
        </p:spPr>
        <p:txBody>
          <a:bodyPr wrap="square" lIns="0" tIns="0" rIns="0" bIns="0" rtlCol="0" anchor="t"/>
          <a:lstStyle/>
          <a:p>
            <a:pPr indent="0" marL="0">
              <a:buNone/>
            </a:pPr>
            <a:r>
              <a:rPr lang="en-US" sz="5000" b="1" dirty="0">
                <a:solidFill>
                  <a:schemeClr val="bg1"/>
                </a:solidFill>
              </a:rPr>
              <a:t>1,99 jam</a:t>
            </a:r>
            <a:endParaRPr lang="en-US" sz="5000" dirty="0"/>
          </a:p>
        </p:txBody>
      </p:sp>
      <p:sp>
        <p:nvSpPr>
          <p:cNvPr id="12" name="Text 10"/>
          <p:cNvSpPr txBox="1"/>
          <p:nvPr/>
        </p:nvSpPr>
        <p:spPr>
          <a:xfrm>
            <a:off x="4663440" y="329184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median terukur dari basis data; 99,3% tayang kurang dari 24 jam</a:t>
            </a:r>
            <a:endParaRPr lang="en-US" sz="1400" dirty="0"/>
          </a:p>
        </p:txBody>
      </p:sp>
      <p:sp>
        <p:nvSpPr>
          <p:cNvPr id="13" name="Text 11"/>
          <p:cNvSpPr txBox="1"/>
          <p:nvPr/>
        </p:nvSpPr>
        <p:spPr>
          <a:xfrm>
            <a:off x="8412480" y="1691640"/>
            <a:ext cx="3230575" cy="320040"/>
          </a:xfrm>
          <a:prstGeom prst="rect">
            <a:avLst/>
          </a:prstGeom>
          <a:noFill/>
          <a:ln/>
        </p:spPr>
        <p:txBody>
          <a:bodyPr wrap="square" lIns="0" tIns="0" rIns="0" bIns="0" rtlCol="0" anchor="t"/>
          <a:lstStyle/>
          <a:p>
            <a:pPr indent="0" marL="0">
              <a:buNone/>
            </a:pPr>
            <a:r>
              <a:rPr lang="en-US" sz="1500" b="1" dirty="0">
                <a:solidFill>
                  <a:schemeClr val="tx2"/>
                </a:solidFill>
              </a:rPr>
              <a:t>Yang menopang angka itu</a:t>
            </a:r>
            <a:endParaRPr lang="en-US" sz="1500" dirty="0"/>
          </a:p>
        </p:txBody>
      </p:sp>
      <p:sp>
        <p:nvSpPr>
          <p:cNvPr id="14" name="Text 12"/>
          <p:cNvSpPr txBox="1"/>
          <p:nvPr/>
        </p:nvSpPr>
        <p:spPr>
          <a:xfrm>
            <a:off x="8412480" y="214884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589</a:t>
            </a:r>
            <a:endParaRPr lang="en-US" sz="1500" dirty="0"/>
          </a:p>
        </p:txBody>
      </p:sp>
      <p:sp>
        <p:nvSpPr>
          <p:cNvPr id="15" name="Text 13"/>
          <p:cNvSpPr txBox="1"/>
          <p:nvPr/>
        </p:nvSpPr>
        <p:spPr>
          <a:xfrm>
            <a:off x="9418320" y="214884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terkelola</a:t>
            </a:r>
            <a:endParaRPr lang="en-US" sz="1400" dirty="0"/>
          </a:p>
        </p:txBody>
      </p:sp>
      <p:sp>
        <p:nvSpPr>
          <p:cNvPr id="16" name="Text 14"/>
          <p:cNvSpPr txBox="1"/>
          <p:nvPr/>
        </p:nvSpPr>
        <p:spPr>
          <a:xfrm>
            <a:off x="8412480" y="251460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47,5%</a:t>
            </a:r>
            <a:endParaRPr lang="en-US" sz="1500" dirty="0"/>
          </a:p>
        </p:txBody>
      </p:sp>
      <p:sp>
        <p:nvSpPr>
          <p:cNvPr id="17" name="Text 15"/>
          <p:cNvSpPr txBox="1"/>
          <p:nvPr/>
        </p:nvSpPr>
        <p:spPr>
          <a:xfrm>
            <a:off x="9418320" y="251460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telaah di luar jam kerja</a:t>
            </a:r>
            <a:endParaRPr lang="en-US" sz="1400" dirty="0"/>
          </a:p>
        </p:txBody>
      </p:sp>
      <p:sp>
        <p:nvSpPr>
          <p:cNvPr id="18" name="Text 16"/>
          <p:cNvSpPr txBox="1"/>
          <p:nvPr/>
        </p:nvSpPr>
        <p:spPr>
          <a:xfrm>
            <a:off x="8412480" y="288036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3.072</a:t>
            </a:r>
            <a:endParaRPr lang="en-US" sz="1500" dirty="0"/>
          </a:p>
        </p:txBody>
      </p:sp>
      <p:sp>
        <p:nvSpPr>
          <p:cNvPr id="19" name="Text 17"/>
          <p:cNvSpPr txBox="1"/>
          <p:nvPr/>
        </p:nvSpPr>
        <p:spPr>
          <a:xfrm>
            <a:off x="9418320" y="288036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peristiwa jejak audit</a:t>
            </a:r>
            <a:endParaRPr lang="en-US" sz="1400" dirty="0"/>
          </a:p>
        </p:txBody>
      </p:sp>
      <p:sp>
        <p:nvSpPr>
          <p:cNvPr id="20" name="Text 18"/>
          <p:cNvSpPr txBox="1"/>
          <p:nvPr/>
        </p:nvSpPr>
        <p:spPr>
          <a:xfrm>
            <a:off x="8412480" y="324612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92,4%</a:t>
            </a:r>
            <a:endParaRPr lang="en-US" sz="1500" dirty="0"/>
          </a:p>
        </p:txBody>
      </p:sp>
      <p:sp>
        <p:nvSpPr>
          <p:cNvPr id="21" name="Text 19"/>
          <p:cNvSpPr txBox="1"/>
          <p:nvPr/>
        </p:nvSpPr>
        <p:spPr>
          <a:xfrm>
            <a:off x="9418320" y="324612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ada petugasnya</a:t>
            </a:r>
            <a:endParaRPr lang="en-US" sz="1400" dirty="0"/>
          </a:p>
        </p:txBody>
      </p:sp>
      <p:sp>
        <p:nvSpPr>
          <p:cNvPr id="22" name="Text 20"/>
          <p:cNvSpPr txBox="1"/>
          <p:nvPr/>
        </p:nvSpPr>
        <p:spPr>
          <a:xfrm>
            <a:off x="8412480" y="361188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Rp0</a:t>
            </a:r>
            <a:endParaRPr lang="en-US" sz="1500" dirty="0"/>
          </a:p>
        </p:txBody>
      </p:sp>
      <p:sp>
        <p:nvSpPr>
          <p:cNvPr id="23" name="Text 21"/>
          <p:cNvSpPr txBox="1"/>
          <p:nvPr/>
        </p:nvSpPr>
        <p:spPr>
          <a:xfrm>
            <a:off x="9418320" y="361188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belanja pengadaan</a:t>
            </a:r>
            <a:endParaRPr lang="en-US" sz="1400" dirty="0"/>
          </a:p>
        </p:txBody>
      </p:sp>
      <p:sp>
        <p:nvSpPr>
          <p:cNvPr id="24" name="Text 22"/>
          <p:cNvSpPr txBox="1"/>
          <p:nvPr/>
        </p:nvSpPr>
        <p:spPr>
          <a:xfrm>
            <a:off x="548640" y="4526280"/>
            <a:ext cx="7315200" cy="320040"/>
          </a:xfrm>
          <a:prstGeom prst="rect">
            <a:avLst/>
          </a:prstGeom>
          <a:noFill/>
          <a:ln/>
        </p:spPr>
        <p:txBody>
          <a:bodyPr wrap="square" lIns="0" tIns="0" rIns="0" bIns="0" rtlCol="0" anchor="t"/>
          <a:lstStyle/>
          <a:p>
            <a:pPr indent="0" marL="0">
              <a:buNone/>
            </a:pPr>
            <a:r>
              <a:rPr lang="en-US" sz="1500" b="1" dirty="0">
                <a:solidFill>
                  <a:schemeClr val="tx2"/>
                </a:solidFill>
              </a:rPr>
              <a:t>Mengapa lebih cepat, dan lebih hemat</a:t>
            </a:r>
            <a:endParaRPr lang="en-US" sz="1500" dirty="0"/>
          </a:p>
        </p:txBody>
      </p:sp>
      <p:sp>
        <p:nvSpPr>
          <p:cNvPr id="25" name="sebab1"/>
          <p:cNvSpPr/>
          <p:nvPr/>
        </p:nvSpPr>
        <p:spPr>
          <a:xfrm>
            <a:off x="548640" y="4892040"/>
            <a:ext cx="2636444" cy="1097280"/>
          </a:xfrm>
          <a:prstGeom prst="roundRect">
            <a:avLst>
              <a:gd name="adj" fmla="val 10000"/>
            </a:avLst>
          </a:prstGeom>
          <a:solidFill>
            <a:srgbClr val="FFFFFF"/>
          </a:solidFill>
          <a:ln w="9525">
            <a:solidFill>
              <a:schemeClr val="accent6"/>
            </a:solidFill>
            <a:prstDash val="solid"/>
          </a:ln>
        </p:spPr>
      </p:sp>
      <p:sp>
        <p:nvSpPr>
          <p:cNvPr id="26" name="Text 24"/>
          <p:cNvSpPr txBox="1"/>
          <p:nvPr/>
        </p:nvSpPr>
        <p:spPr>
          <a:xfrm>
            <a:off x="731520"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Tanpa jendela 30 menit</a:t>
            </a:r>
            <a:endParaRPr lang="en-US" sz="1400" dirty="0"/>
          </a:p>
        </p:txBody>
      </p:sp>
      <p:sp>
        <p:nvSpPr>
          <p:cNvPr id="27" name="Text 25"/>
          <p:cNvSpPr txBox="1"/>
          <p:nvPr/>
        </p:nvSpPr>
        <p:spPr>
          <a:xfrm>
            <a:off x="731520"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telaah dan persetujuan kapan saja, dari mana saja</a:t>
            </a:r>
            <a:endParaRPr lang="en-US" sz="1400" dirty="0"/>
          </a:p>
        </p:txBody>
      </p:sp>
      <p:sp>
        <p:nvSpPr>
          <p:cNvPr id="28" name="sebab2"/>
          <p:cNvSpPr/>
          <p:nvPr/>
        </p:nvSpPr>
        <p:spPr>
          <a:xfrm>
            <a:off x="3367964" y="4892040"/>
            <a:ext cx="2636444" cy="1097280"/>
          </a:xfrm>
          <a:prstGeom prst="roundRect">
            <a:avLst>
              <a:gd name="adj" fmla="val 10000"/>
            </a:avLst>
          </a:prstGeom>
          <a:solidFill>
            <a:srgbClr val="FFFFFF"/>
          </a:solidFill>
          <a:ln w="9525">
            <a:solidFill>
              <a:schemeClr val="accent6"/>
            </a:solidFill>
            <a:prstDash val="solid"/>
          </a:ln>
        </p:spPr>
      </p:sp>
      <p:sp>
        <p:nvSpPr>
          <p:cNvPr id="29" name="Text 27"/>
          <p:cNvSpPr txBox="1"/>
          <p:nvPr/>
        </p:nvSpPr>
        <p:spPr>
          <a:xfrm>
            <a:off x="3550844"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Satu sumber data</a:t>
            </a:r>
            <a:endParaRPr lang="en-US" sz="1400" dirty="0"/>
          </a:p>
        </p:txBody>
      </p:sp>
      <p:sp>
        <p:nvSpPr>
          <p:cNvPr id="30" name="Text 28"/>
          <p:cNvSpPr txBox="1"/>
          <p:nvPr/>
        </p:nvSpPr>
        <p:spPr>
          <a:xfrm>
            <a:off x="3550844"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tanpa versi ganda, foto disposisi, atau grup</a:t>
            </a:r>
            <a:endParaRPr lang="en-US" sz="1400" dirty="0"/>
          </a:p>
        </p:txBody>
      </p:sp>
      <p:sp>
        <p:nvSpPr>
          <p:cNvPr id="31" name="sebab3"/>
          <p:cNvSpPr/>
          <p:nvPr/>
        </p:nvSpPr>
        <p:spPr>
          <a:xfrm>
            <a:off x="6187288" y="4892040"/>
            <a:ext cx="2636444" cy="1097280"/>
          </a:xfrm>
          <a:prstGeom prst="roundRect">
            <a:avLst>
              <a:gd name="adj" fmla="val 10000"/>
            </a:avLst>
          </a:prstGeom>
          <a:solidFill>
            <a:srgbClr val="FFFFFF"/>
          </a:solidFill>
          <a:ln w="9525">
            <a:solidFill>
              <a:schemeClr val="accent6"/>
            </a:solidFill>
            <a:prstDash val="solid"/>
          </a:ln>
        </p:spPr>
      </p:sp>
      <p:sp>
        <p:nvSpPr>
          <p:cNvPr id="32" name="Text 30"/>
          <p:cNvSpPr txBox="1"/>
          <p:nvPr/>
        </p:nvSpPr>
        <p:spPr>
          <a:xfrm>
            <a:off x="6370168"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Daftar periksa wajib</a:t>
            </a:r>
            <a:endParaRPr lang="en-US" sz="1400" dirty="0"/>
          </a:p>
        </p:txBody>
      </p:sp>
      <p:sp>
        <p:nvSpPr>
          <p:cNvPr id="33" name="Text 31"/>
          <p:cNvSpPr txBox="1"/>
          <p:nvPr/>
        </p:nvSpPr>
        <p:spPr>
          <a:xfrm>
            <a:off x="6370168"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kekeliruan tertahan sebelum tayang</a:t>
            </a:r>
            <a:endParaRPr lang="en-US" sz="1400" dirty="0"/>
          </a:p>
        </p:txBody>
      </p:sp>
      <p:sp>
        <p:nvSpPr>
          <p:cNvPr id="34" name="sebab4"/>
          <p:cNvSpPr/>
          <p:nvPr/>
        </p:nvSpPr>
        <p:spPr>
          <a:xfrm>
            <a:off x="9006611" y="4892040"/>
            <a:ext cx="2636444" cy="1097280"/>
          </a:xfrm>
          <a:prstGeom prst="roundRect">
            <a:avLst>
              <a:gd name="adj" fmla="val 10000"/>
            </a:avLst>
          </a:prstGeom>
          <a:solidFill>
            <a:srgbClr val="ECFDF5"/>
          </a:solidFill>
          <a:ln w="19050">
            <a:solidFill>
              <a:schemeClr val="accent3"/>
            </a:solidFill>
            <a:prstDash val="solid"/>
          </a:ln>
        </p:spPr>
      </p:sp>
      <p:sp>
        <p:nvSpPr>
          <p:cNvPr id="35" name="Text 33"/>
          <p:cNvSpPr txBox="1"/>
          <p:nvPr/>
        </p:nvSpPr>
        <p:spPr>
          <a:xfrm>
            <a:off x="9189491" y="4983480"/>
            <a:ext cx="2270684" cy="365760"/>
          </a:xfrm>
          <a:prstGeom prst="rect">
            <a:avLst/>
          </a:prstGeom>
          <a:noFill/>
          <a:ln/>
        </p:spPr>
        <p:txBody>
          <a:bodyPr wrap="square" lIns="0" tIns="0" rIns="0" bIns="0" rtlCol="0" anchor="ctr"/>
          <a:lstStyle/>
          <a:p>
            <a:pPr indent="0" marL="0">
              <a:buNone/>
            </a:pPr>
            <a:r>
              <a:rPr lang="en-US" sz="1400" b="1" dirty="0">
                <a:solidFill>
                  <a:schemeClr val="accent3"/>
                </a:solidFill>
              </a:rPr>
              <a:t>Hemat kertas</a:t>
            </a:r>
            <a:endParaRPr lang="en-US" sz="1400" dirty="0"/>
          </a:p>
        </p:txBody>
      </p:sp>
      <p:sp>
        <p:nvSpPr>
          <p:cNvPr id="36" name="Text 34"/>
          <p:cNvSpPr txBox="1"/>
          <p:nvPr/>
        </p:nvSpPr>
        <p:spPr>
          <a:xfrm>
            <a:off x="9189491"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Tanpa cetak ulang RK; 452 undangan terarsip digital</a:t>
            </a:r>
            <a:endParaRPr lang="en-US" sz="1400" dirty="0"/>
          </a:p>
        </p:txBody>
      </p:sp>
      <p:sp>
        <p:nvSpPr>
          <p:cNvPr id="37" name="Text 35"/>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100" dirty="0">
                <a:solidFill>
                  <a:schemeClr val="accent5"/>
                </a:solidFill>
              </a:rPr>
              <a:t>Sumber: basis data Prokopim Hibot, 24 September 2026. Angka "sebelum" adalah estimasi dari alur lama.</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Manfaat utama: agenda yang pasti bagi Wali Kota dan Wakil</a:t>
            </a:r>
            <a:endParaRPr lang="en-US" sz="2800" dirty="0"/>
          </a:p>
        </p:txBody>
      </p:sp>
      <p:pic>
        <p:nvPicPr>
          <p:cNvPr id="4" name="Image 0" descr="/home/user/joyful-visuals/docs/lomba/buil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400" b="1" dirty="0">
                <a:solidFill>
                  <a:schemeClr val="accent1"/>
                </a:solidFill>
              </a:rPr>
              <a:t>dr. H. Khairul, M.Kes. — Wali Kota Tarakan</a:t>
            </a:r>
            <a:endParaRPr lang="en-US" sz="14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400" b="1" dirty="0">
                <a:solidFill>
                  <a:schemeClr val="accent5"/>
                </a:solidFill>
              </a:rPr>
              <a:t>Muhammad Rizky Dinata Putra, S.Tr.IP. — Ajudan Wakil Wali Kota</a:t>
            </a:r>
            <a:endParaRPr lang="en-US" sz="14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kegiatan didisposisikan Wali Kota kepada Wakil langsung dari aplikasi</a:t>
            </a:r>
            <a:endParaRPr lang="en-US" sz="14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konfirmasi kehadiran oleh ajudan</a:t>
            </a:r>
            <a:endParaRPr lang="en-US" sz="14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67</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400" dirty="0">
                <a:solidFill>
                  <a:schemeClr val="accent5"/>
                </a:solidFill>
              </a:rPr>
              <a:t>tindakan Pelaksana Harian tercatat atas nama pelakunya</a:t>
            </a:r>
            <a:endParaRPr lang="en-US" sz="14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37</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400" dirty="0">
                <a:solidFill>
                  <a:schemeClr val="accent5"/>
                </a:solidFill>
              </a:rPr>
              <a:t>perangkat dengan notifikasi aktif, milik 21 pengguna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LAYANAN PENDUKUNG</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Selain agenda Pimpinan: layanan bagi instansi dan masyarakat</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Agenda Wali Kota dan Wakil tetap yang utama. Dua layanan ini diakses lewat peramban, tanpa akun.</a:t>
            </a:r>
            <a:endParaRPr lang="en-US" sz="1400" dirty="0"/>
          </a:p>
        </p:txBody>
      </p:sp>
      <p:sp>
        <p:nvSpPr>
          <p:cNvPr id="5" name="kanal1"/>
          <p:cNvSpPr/>
          <p:nvPr/>
        </p:nvSpPr>
        <p:spPr>
          <a:xfrm>
            <a:off x="548640" y="1920240"/>
            <a:ext cx="5410048" cy="2926080"/>
          </a:xfrm>
          <a:prstGeom prst="roundRect">
            <a:avLst>
              <a:gd name="adj" fmla="val 3750"/>
            </a:avLst>
          </a:prstGeom>
          <a:solidFill>
            <a:schemeClr val="bg2"/>
          </a:solidFill>
          <a:ln w="9525">
            <a:solidFill>
              <a:schemeClr val="bg2"/>
            </a:solidFill>
            <a:prstDash val="solid"/>
          </a:ln>
        </p:spPr>
      </p:sp>
      <p:sp>
        <p:nvSpPr>
          <p:cNvPr id="6" name="Text 4"/>
          <p:cNvSpPr txBox="1"/>
          <p:nvPr/>
        </p:nvSpPr>
        <p:spPr>
          <a:xfrm>
            <a:off x="868680" y="2103120"/>
            <a:ext cx="4769968" cy="365760"/>
          </a:xfrm>
          <a:prstGeom prst="rect">
            <a:avLst/>
          </a:prstGeom>
          <a:noFill/>
          <a:ln/>
        </p:spPr>
        <p:txBody>
          <a:bodyPr wrap="square" lIns="0" tIns="0" rIns="0" bIns="0" rtlCol="0" anchor="t"/>
          <a:lstStyle/>
          <a:p>
            <a:pPr indent="0" marL="0">
              <a:buNone/>
            </a:pPr>
            <a:r>
              <a:rPr lang="en-US" sz="1700" b="1" dirty="0">
                <a:solidFill>
                  <a:schemeClr val="tx2"/>
                </a:solidFill>
              </a:rPr>
              <a:t>Instansi · Peminjaman ruang rapat</a:t>
            </a:r>
            <a:endParaRPr lang="en-US" sz="1700" dirty="0"/>
          </a:p>
        </p:txBody>
      </p:sp>
      <p:sp>
        <p:nvSpPr>
          <p:cNvPr id="7" name="Text 5"/>
          <p:cNvSpPr txBox="1"/>
          <p:nvPr/>
        </p:nvSpPr>
        <p:spPr>
          <a:xfrm>
            <a:off x="868680" y="2514600"/>
            <a:ext cx="1645920" cy="868680"/>
          </a:xfrm>
          <a:prstGeom prst="rect">
            <a:avLst/>
          </a:prstGeom>
          <a:noFill/>
          <a:ln/>
        </p:spPr>
        <p:txBody>
          <a:bodyPr wrap="square" lIns="0" tIns="0" rIns="0" bIns="0" rtlCol="0" anchor="t"/>
          <a:lstStyle/>
          <a:p>
            <a:pPr indent="0" marL="0">
              <a:buNone/>
            </a:pPr>
            <a:r>
              <a:rPr lang="en-US" sz="5400" b="1" dirty="0">
                <a:solidFill>
                  <a:schemeClr val="tx2"/>
                </a:solidFill>
              </a:rPr>
              <a:t>123</a:t>
            </a:r>
            <a:endParaRPr lang="en-US" sz="5400" dirty="0"/>
          </a:p>
        </p:txBody>
      </p:sp>
      <p:sp>
        <p:nvSpPr>
          <p:cNvPr id="8" name="Text 6"/>
          <p:cNvSpPr txBox="1"/>
          <p:nvPr/>
        </p:nvSpPr>
        <p:spPr>
          <a:xfrm>
            <a:off x="2468880" y="2697480"/>
            <a:ext cx="3215488" cy="640080"/>
          </a:xfrm>
          <a:prstGeom prst="rect">
            <a:avLst/>
          </a:prstGeom>
          <a:noFill/>
          <a:ln/>
        </p:spPr>
        <p:txBody>
          <a:bodyPr wrap="square" lIns="0" tIns="0" rIns="0" bIns="0" rtlCol="0" anchor="ctr"/>
          <a:lstStyle/>
          <a:p>
            <a:pPr indent="0" marL="0">
              <a:buNone/>
            </a:pPr>
            <a:r>
              <a:rPr lang="en-US" sz="1400" dirty="0">
                <a:solidFill>
                  <a:schemeClr val="accent5"/>
                </a:solidFill>
              </a:rPr>
              <a:t>pengajuan dari 66 instansi</a:t>
            </a:r>
            <a:endParaRPr lang="en-US" sz="1400" dirty="0"/>
          </a:p>
        </p:txBody>
      </p:sp>
      <p:sp>
        <p:nvSpPr>
          <p:cNvPr id="9" name="Text 7"/>
          <p:cNvSpPr txBox="1"/>
          <p:nvPr/>
        </p:nvSpPr>
        <p:spPr>
          <a:xfrm>
            <a:off x="868680"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98 disetujui, total 3.023 peserta kegiatan</a:t>
            </a:r>
            <a:endParaRPr lang="en-US" sz="1400" dirty="0"/>
          </a:p>
          <a:p>
            <a:pPr marL="342900" indent="-342900">
              <a:spcAft>
                <a:spcPts val="500"/>
              </a:spcAft>
              <a:buSzPct val="100000"/>
              <a:buChar char="•"/>
            </a:pPr>
            <a:r>
              <a:rPr lang="en-US" sz="1400" dirty="0">
                <a:solidFill>
                  <a:schemeClr val="tx1"/>
                </a:solidFill>
              </a:rPr>
              <a:t>Kalender ketersediaan terbuka untuk umum</a:t>
            </a:r>
            <a:endParaRPr lang="en-US" sz="1400" dirty="0"/>
          </a:p>
          <a:p>
            <a:pPr marL="342900" indent="-342900">
              <a:spcAft>
                <a:spcPts val="500"/>
              </a:spcAft>
              <a:buSzPct val="100000"/>
              <a:buChar char="•"/>
            </a:pPr>
            <a:r>
              <a:rPr lang="en-US" sz="1400" dirty="0">
                <a:solidFill>
                  <a:schemeClr val="tx1"/>
                </a:solidFill>
              </a:rPr>
              <a:t>Hanya keterpakaian slot; tanpa identitas atau kontak pemohon</a:t>
            </a:r>
            <a:endParaRPr lang="en-US" sz="1400" dirty="0"/>
          </a:p>
        </p:txBody>
      </p:sp>
      <p:sp>
        <p:nvSpPr>
          <p:cNvPr id="10" name="kanal2"/>
          <p:cNvSpPr/>
          <p:nvPr/>
        </p:nvSpPr>
        <p:spPr>
          <a:xfrm>
            <a:off x="6233008" y="1920240"/>
            <a:ext cx="5410048" cy="2926080"/>
          </a:xfrm>
          <a:prstGeom prst="roundRect">
            <a:avLst>
              <a:gd name="adj" fmla="val 3750"/>
            </a:avLst>
          </a:prstGeom>
          <a:solidFill>
            <a:schemeClr val="tx2"/>
          </a:solidFill>
          <a:ln w="9525">
            <a:solidFill>
              <a:schemeClr val="tx2"/>
            </a:solidFill>
            <a:prstDash val="solid"/>
          </a:ln>
        </p:spPr>
      </p:sp>
      <p:sp>
        <p:nvSpPr>
          <p:cNvPr id="11" name="Text 9"/>
          <p:cNvSpPr txBox="1"/>
          <p:nvPr/>
        </p:nvSpPr>
        <p:spPr>
          <a:xfrm>
            <a:off x="6553048" y="2103120"/>
            <a:ext cx="4769968" cy="365760"/>
          </a:xfrm>
          <a:prstGeom prst="rect">
            <a:avLst/>
          </a:prstGeom>
          <a:noFill/>
          <a:ln/>
        </p:spPr>
        <p:txBody>
          <a:bodyPr wrap="square" lIns="0" tIns="0" rIns="0" bIns="0" rtlCol="0" anchor="t"/>
          <a:lstStyle/>
          <a:p>
            <a:pPr indent="0" marL="0">
              <a:buNone/>
            </a:pPr>
            <a:r>
              <a:rPr lang="en-US" sz="1700" b="1" dirty="0">
                <a:solidFill>
                  <a:schemeClr val="accent1"/>
                </a:solidFill>
              </a:rPr>
              <a:t>Instansi dan masyarakat · Audiensi dan tamu</a:t>
            </a:r>
            <a:endParaRPr lang="en-US" sz="1700" dirty="0"/>
          </a:p>
        </p:txBody>
      </p:sp>
      <p:sp>
        <p:nvSpPr>
          <p:cNvPr id="12" name="Text 10"/>
          <p:cNvSpPr txBox="1"/>
          <p:nvPr/>
        </p:nvSpPr>
        <p:spPr>
          <a:xfrm>
            <a:off x="6553048" y="2514600"/>
            <a:ext cx="1645920" cy="868680"/>
          </a:xfrm>
          <a:prstGeom prst="rect">
            <a:avLst/>
          </a:prstGeom>
          <a:noFill/>
          <a:ln/>
        </p:spPr>
        <p:txBody>
          <a:bodyPr wrap="square" lIns="0" tIns="0" rIns="0" bIns="0" rtlCol="0" anchor="t"/>
          <a:lstStyle/>
          <a:p>
            <a:pPr indent="0" marL="0">
              <a:buNone/>
            </a:pPr>
            <a:r>
              <a:rPr lang="en-US" sz="5400" b="1" dirty="0">
                <a:solidFill>
                  <a:schemeClr val="bg1"/>
                </a:solidFill>
              </a:rPr>
              <a:t>55</a:t>
            </a:r>
            <a:endParaRPr lang="en-US" sz="5400" dirty="0"/>
          </a:p>
        </p:txBody>
      </p:sp>
      <p:sp>
        <p:nvSpPr>
          <p:cNvPr id="13" name="Text 11"/>
          <p:cNvSpPr txBox="1"/>
          <p:nvPr/>
        </p:nvSpPr>
        <p:spPr>
          <a:xfrm>
            <a:off x="8153248" y="2697480"/>
            <a:ext cx="3215488" cy="640080"/>
          </a:xfrm>
          <a:prstGeom prst="rect">
            <a:avLst/>
          </a:prstGeom>
          <a:noFill/>
          <a:ln/>
        </p:spPr>
        <p:txBody>
          <a:bodyPr wrap="square" lIns="0" tIns="0" rIns="0" bIns="0" rtlCol="0" anchor="ctr"/>
          <a:lstStyle/>
          <a:p>
            <a:pPr indent="0" marL="0">
              <a:buNone/>
            </a:pPr>
            <a:r>
              <a:rPr lang="en-US" sz="1400" dirty="0">
                <a:solidFill>
                  <a:schemeClr val="accent6"/>
                </a:solidFill>
              </a:rPr>
              <a:t>permohonan dari 53 instansi</a:t>
            </a:r>
            <a:endParaRPr lang="en-US" sz="1400" dirty="0"/>
          </a:p>
        </p:txBody>
      </p:sp>
      <p:sp>
        <p:nvSpPr>
          <p:cNvPr id="14" name="Text 12"/>
          <p:cNvSpPr txBox="1"/>
          <p:nvPr/>
        </p:nvSpPr>
        <p:spPr>
          <a:xfrm>
            <a:off x="6553048"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bg1"/>
                </a:solidFill>
              </a:rPr>
              <a:t>48 telah selesai diproses</a:t>
            </a:r>
            <a:endParaRPr lang="en-US" sz="1400" dirty="0"/>
          </a:p>
          <a:p>
            <a:pPr marL="342900" indent="-342900">
              <a:spcAft>
                <a:spcPts val="500"/>
              </a:spcAft>
              <a:buSzPct val="100000"/>
              <a:buChar char="•"/>
            </a:pPr>
            <a:r>
              <a:rPr lang="en-US" sz="1400" dirty="0">
                <a:solidFill>
                  <a:schemeClr val="bg1"/>
                </a:solidFill>
              </a:rPr>
              <a:t>31 di antaranya menjadi agenda Pimpinan</a:t>
            </a:r>
            <a:endParaRPr lang="en-US" sz="1400" dirty="0"/>
          </a:p>
          <a:p>
            <a:pPr marL="342900" indent="-342900">
              <a:spcAft>
                <a:spcPts val="500"/>
              </a:spcAft>
              <a:buSzPct val="100000"/>
              <a:buChar char="•"/>
            </a:pPr>
            <a:r>
              <a:rPr lang="en-US" sz="1400" dirty="0">
                <a:solidFill>
                  <a:schemeClr val="bg1"/>
                </a:solidFill>
              </a:rPr>
              <a:t>Pemberitahuan berjenjang; Pimpinan tidak diganggu per permohonan</a:t>
            </a:r>
            <a:endParaRPr lang="en-US" sz="1400" dirty="0"/>
          </a:p>
        </p:txBody>
      </p:sp>
      <p:sp>
        <p:nvSpPr>
          <p:cNvPr id="15" name="kode"/>
          <p:cNvSpPr/>
          <p:nvPr/>
        </p:nvSpPr>
        <p:spPr>
          <a:xfrm>
            <a:off x="548640" y="5074920"/>
            <a:ext cx="11094415" cy="960120"/>
          </a:xfrm>
          <a:prstGeom prst="roundRect">
            <a:avLst>
              <a:gd name="adj" fmla="val 11429"/>
            </a:avLst>
          </a:prstGeom>
          <a:solidFill>
            <a:srgbClr val="FFFFFF"/>
          </a:solidFill>
          <a:ln w="9525">
            <a:solidFill>
              <a:schemeClr val="accent6"/>
            </a:solidFill>
            <a:prstDash val="solid"/>
          </a:ln>
        </p:spPr>
      </p:sp>
      <p:sp>
        <p:nvSpPr>
          <p:cNvPr id="16" name="Shape 14"/>
          <p:cNvSpPr/>
          <p:nvPr/>
        </p:nvSpPr>
        <p:spPr>
          <a:xfrm>
            <a:off x="822960" y="5321808"/>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822960" y="5321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18" name="Text 16"/>
          <p:cNvSpPr txBox="1"/>
          <p:nvPr/>
        </p:nvSpPr>
        <p:spPr>
          <a:xfrm>
            <a:off x="1463040" y="5074920"/>
            <a:ext cx="9905695" cy="960120"/>
          </a:xfrm>
          <a:prstGeom prst="rect">
            <a:avLst/>
          </a:prstGeom>
          <a:noFill/>
          <a:ln/>
        </p:spPr>
        <p:txBody>
          <a:bodyPr wrap="square" lIns="0" tIns="0" rIns="0" bIns="0" rtlCol="0" anchor="ctr"/>
          <a:lstStyle/>
          <a:p>
            <a:pPr indent="0" marL="0">
              <a:buNone/>
            </a:pPr>
            <a:r>
              <a:rPr lang="en-US" sz="1400" b="1" dirty="0">
                <a:solidFill>
                  <a:schemeClr val="tx2"/>
                </a:solidFill>
              </a:rPr>
              <a:t>Kode penelusuran  </a:t>
            </a:r>
            <a:pPr indent="0" marL="0">
              <a:buNone/>
            </a:pPr>
            <a:r>
              <a:rPr lang="en-US" sz="1400" dirty="0">
                <a:solidFill>
                  <a:schemeClr val="tx1"/>
                </a:solidFill>
              </a:rPr>
              <a:t>Pemohon memantau statusnya sendiri dengan kode, tanpa datang atau menelepon berulang. Layanan ini selaras dengan UU 25/2009 tentang Pelayanan Publik.</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400" dirty="0">
                <a:solidFill>
                  <a:schemeClr val="accent5"/>
                </a:solidFill>
              </a:rPr>
              <a:t>Efisiensi: ketika lalu lintas data mencapai 6,4 GB/bulan (kuota 5 GB), pengambilan data diubah hanya untuk data yang berubah — turun ke ±1 GB.</a:t>
            </a:r>
            <a:endParaRPr lang="en-US" sz="14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inovasi: perancang, penyelia, penguji</a:t>
            </a:r>
            <a:endParaRPr lang="en-US" sz="14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Koordinasi lintas unit (Keputusan Sekda)</a:t>
            </a:r>
            <a:endParaRPr lang="en-US" sz="14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400" dirty="0">
                <a:solidFill>
                  <a:schemeClr val="tx1"/>
                </a:solidFill>
              </a:rPr>
              <a:t>Memfasilitasi subdomain resmi prokopim.tarakankota.go.id</a:t>
            </a:r>
            <a:endParaRPr lang="en-US" sz="14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14 jenis peran pengguna</a:t>
            </a:r>
            <a:endParaRPr lang="en-US" sz="14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400" dirty="0">
                <a:solidFill>
                  <a:schemeClr val="bg1"/>
                </a:solidFill>
              </a:rPr>
              <a:t>di luar Bagian: Pimpinan, ajudan, pengawal, mitra DKISP</a:t>
            </a:r>
            <a:endParaRPr lang="en-US" sz="14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instansi mengajukan peminjaman ruangan dan audiensi</a:t>
            </a:r>
            <a:endParaRPr lang="en-US" sz="14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Tim Koordinasi lintas perangkat daerah</a:t>
            </a:r>
            <a:endParaRPr lang="en-US" sz="14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b="1" dirty="0">
                <a:solidFill>
                  <a:schemeClr val="tx2"/>
                </a:solidFill>
              </a:rPr>
              <a:t>Siap direplikasi sesuai kebutuhan: </a:t>
            </a:r>
            <a:pPr indent="0" marL="0">
              <a:buNone/>
            </a:pPr>
            <a:r>
              <a:rPr lang="en-US" sz="1400" dirty="0">
                <a:solidFill>
                  <a:schemeClr val="tx2"/>
                </a:solidFill>
              </a:rPr>
              <a:t>cukup peramban, kuota tanpa biaya, dan 11 SOP yang dapat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Pelembagaan dan rencana</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Maret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Mulai digunakan; Surat Sekda 12 Maret 2026 memohon subdomain resmi prokopim.tarakankota.go.id</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Okt–Des 2026</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Pengesahan 11 SOP oleh Sekretaris Daerah, disesuaikan dengan nomenklatur baru</a:t>
            </a:r>
            <a:endParaRPr lang="en-US" sz="1400" dirty="0"/>
          </a:p>
        </p:txBody>
      </p:sp>
      <p:sp>
        <p:nvSpPr>
          <p:cNvPr id="27" name="Shape 25"/>
          <p:cNvSpPr/>
          <p:nvPr/>
        </p:nvSpPr>
        <p:spPr>
          <a:xfrm>
            <a:off x="6446520" y="4709160"/>
            <a:ext cx="384048" cy="384048"/>
          </a:xfrm>
          <a:prstGeom prst="ellipse">
            <a:avLst/>
          </a:prstGeom>
          <a:solidFill>
            <a:schemeClr val="tx2"/>
          </a:solidFill>
          <a:ln w="12700">
            <a:solidFill>
              <a:schemeClr val="tx2"/>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bidang fokus, regulasi, dan visi daerah</a:t>
            </a:r>
            <a:endParaRPr lang="en-US" sz="2800" dirty="0"/>
          </a:p>
        </p:txBody>
      </p:sp>
      <p:sp>
        <p:nvSpPr>
          <p:cNvPr id="4" name="bidangfokus"/>
          <p:cNvSpPr/>
          <p:nvPr/>
        </p:nvSpPr>
        <p:spPr>
          <a:xfrm>
            <a:off x="548640" y="1371600"/>
            <a:ext cx="11094415" cy="777240"/>
          </a:xfrm>
          <a:prstGeom prst="roundRect">
            <a:avLst>
              <a:gd name="adj" fmla="val 14118"/>
            </a:avLst>
          </a:prstGeom>
          <a:solidFill>
            <a:srgbClr val="FBF6E7"/>
          </a:solidFill>
          <a:ln w="15875">
            <a:solidFill>
              <a:schemeClr val="accent1"/>
            </a:solidFill>
            <a:prstDash val="solid"/>
          </a:ln>
        </p:spPr>
      </p:sp>
      <p:sp>
        <p:nvSpPr>
          <p:cNvPr id="5" name="Text 3"/>
          <p:cNvSpPr txBox="1"/>
          <p:nvPr/>
        </p:nvSpPr>
        <p:spPr>
          <a:xfrm>
            <a:off x="822960" y="1371600"/>
            <a:ext cx="10545775" cy="777240"/>
          </a:xfrm>
          <a:prstGeom prst="rect">
            <a:avLst/>
          </a:prstGeom>
          <a:noFill/>
          <a:ln/>
        </p:spPr>
        <p:txBody>
          <a:bodyPr wrap="square" lIns="0" tIns="0" rIns="0" bIns="0" rtlCol="0" anchor="ctr"/>
          <a:lstStyle/>
          <a:p>
            <a:pPr indent="0" marL="0">
              <a:buNone/>
            </a:pPr>
            <a:r>
              <a:rPr lang="en-US" sz="1400" b="1" dirty="0">
                <a:solidFill>
                  <a:schemeClr val="tx2"/>
                </a:solidFill>
              </a:rPr>
              <a:t>Bidang Fokus 3 (Pedoman): Tata Kelola Kolaboratif dan Pelayanan Publik — subfokus yang dijawab:</a:t>
            </a:r>
            <a:endParaRPr lang="en-US" sz="1400" dirty="0"/>
          </a:p>
          <a:p>
            <a:pPr indent="0" marL="0">
              <a:buNone/>
            </a:pPr>
            <a:r>
              <a:rPr lang="en-US" sz="1400" dirty="0">
                <a:solidFill>
                  <a:schemeClr val="tx1"/>
                </a:solidFill>
              </a:rPr>
              <a:t>Digitalisasi pelayanan dan SPBE · penyederhanaan proses bisnis · integrasi data · transparansi dan akuntabilitas</a:t>
            </a:r>
            <a:endParaRPr lang="en-US" sz="1400" dirty="0"/>
          </a:p>
        </p:txBody>
      </p:sp>
      <p:sp>
        <p:nvSpPr>
          <p:cNvPr id="6" name="kompat1"/>
          <p:cNvSpPr/>
          <p:nvPr/>
        </p:nvSpPr>
        <p:spPr>
          <a:xfrm>
            <a:off x="548640" y="2331720"/>
            <a:ext cx="3515258" cy="3749040"/>
          </a:xfrm>
          <a:prstGeom prst="roundRect">
            <a:avLst>
              <a:gd name="adj" fmla="val 3121"/>
            </a:avLst>
          </a:prstGeom>
          <a:solidFill>
            <a:schemeClr val="bg2"/>
          </a:solidFill>
          <a:ln w="9525">
            <a:solidFill>
              <a:schemeClr val="bg2"/>
            </a:solidFill>
            <a:prstDash val="solid"/>
          </a:ln>
        </p:spPr>
      </p:sp>
      <p:sp>
        <p:nvSpPr>
          <p:cNvPr id="7" name="Text 5"/>
          <p:cNvSpPr txBox="1"/>
          <p:nvPr/>
        </p:nvSpPr>
        <p:spPr>
          <a:xfrm>
            <a:off x="822960" y="242316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8" name="Text 6"/>
          <p:cNvSpPr txBox="1"/>
          <p:nvPr/>
        </p:nvSpPr>
        <p:spPr>
          <a:xfrm>
            <a:off x="822960" y="2880360"/>
            <a:ext cx="3012338" cy="315468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9" name="kompat2"/>
          <p:cNvSpPr/>
          <p:nvPr/>
        </p:nvSpPr>
        <p:spPr>
          <a:xfrm>
            <a:off x="4338218" y="2331720"/>
            <a:ext cx="3515258" cy="3749040"/>
          </a:xfrm>
          <a:prstGeom prst="roundRect">
            <a:avLst>
              <a:gd name="adj" fmla="val 3121"/>
            </a:avLst>
          </a:prstGeom>
          <a:solidFill>
            <a:schemeClr val="tx2"/>
          </a:solidFill>
          <a:ln w="9525">
            <a:solidFill>
              <a:schemeClr val="tx2"/>
            </a:solidFill>
            <a:prstDash val="solid"/>
          </a:ln>
        </p:spPr>
      </p:sp>
      <p:sp>
        <p:nvSpPr>
          <p:cNvPr id="10" name="Text 8"/>
          <p:cNvSpPr txBox="1"/>
          <p:nvPr/>
        </p:nvSpPr>
        <p:spPr>
          <a:xfrm>
            <a:off x="4612538" y="242316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11" name="Text 9"/>
          <p:cNvSpPr txBox="1"/>
          <p:nvPr/>
        </p:nvSpPr>
        <p:spPr>
          <a:xfrm>
            <a:off x="4612538" y="2880360"/>
            <a:ext cx="3012338" cy="315468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Kalimantan Utara 2025–2029, Misi 3: Mewujudkan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2025–2029, Misi 4: Mewujudkan tata kelola pemerintahan yang adaptif, responsif dan menjaga stabilitas ketertiban dan ketentraman kota</a:t>
            </a:r>
            <a:endParaRPr lang="en-US" sz="1400" dirty="0"/>
          </a:p>
          <a:p>
            <a:pPr marL="342900" indent="-342900">
              <a:spcAft>
                <a:spcPts val="900"/>
              </a:spcAft>
              <a:buSzPct val="100000"/>
              <a:buChar char="•"/>
            </a:pPr>
            <a:r>
              <a:rPr lang="en-US" sz="1400" dirty="0">
                <a:solidFill>
                  <a:schemeClr val="bg1"/>
                </a:solidFill>
              </a:rPr>
              <a:t>Semboyan "Tarakan HIBOT" (hibot: hebat, bahasa Tidung)</a:t>
            </a:r>
            <a:endParaRPr lang="en-US" sz="1400" dirty="0"/>
          </a:p>
        </p:txBody>
      </p:sp>
      <p:sp>
        <p:nvSpPr>
          <p:cNvPr id="12" name="kompat3"/>
          <p:cNvSpPr/>
          <p:nvPr/>
        </p:nvSpPr>
        <p:spPr>
          <a:xfrm>
            <a:off x="8127797" y="2331720"/>
            <a:ext cx="3515258" cy="3749040"/>
          </a:xfrm>
          <a:prstGeom prst="roundRect">
            <a:avLst>
              <a:gd name="adj" fmla="val 3121"/>
            </a:avLst>
          </a:prstGeom>
          <a:solidFill>
            <a:schemeClr val="bg2"/>
          </a:solidFill>
          <a:ln w="9525">
            <a:solidFill>
              <a:schemeClr val="bg2"/>
            </a:solidFill>
            <a:prstDash val="solid"/>
          </a:ln>
        </p:spPr>
      </p:sp>
      <p:sp>
        <p:nvSpPr>
          <p:cNvPr id="13" name="Text 11"/>
          <p:cNvSpPr txBox="1"/>
          <p:nvPr/>
        </p:nvSpPr>
        <p:spPr>
          <a:xfrm>
            <a:off x="8402117" y="242316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4" name="Text 12"/>
          <p:cNvSpPr txBox="1"/>
          <p:nvPr/>
        </p:nvSpPr>
        <p:spPr>
          <a:xfrm>
            <a:off x="8402117" y="2880360"/>
            <a:ext cx="3012338" cy="315468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400" dirty="0">
                <a:solidFill>
                  <a:schemeClr val="accent6"/>
                </a:solidFill>
              </a:rPr>
              <a:t>Tim Inovasi Prokopim Hibot  ·  Bagian Protokol dan Komunikasi Pimpinan, Setda Kota Tarakan</a:t>
            </a:r>
            <a:endParaRPr lang="en-US" sz="14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home/user/joyful-visuals/docs/lomba/buil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400" dirty="0">
                <a:solidFill>
                  <a:schemeClr val="accent5"/>
                </a:solidFill>
              </a:rPr>
              <a:t>Alamat resmi aplikasi</a:t>
            </a:r>
            <a:endParaRPr lang="en-US" sz="14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CADANGAN PENJELASAN  ·  JIKA DITANYA</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Sejak proposal, inovasi ini terus disempurnakan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Proposal memuat keadaan per 24 September 2026. Pembaruan Oktober 2026 berikut berangkat dari pemakaian dan masukan pengguna.</a:t>
            </a:r>
            <a:endParaRPr lang="en-US" sz="1400" dirty="0"/>
          </a:p>
        </p:txBody>
      </p:sp>
      <p:sp>
        <p:nvSpPr>
          <p:cNvPr id="5" name="baru1"/>
          <p:cNvSpPr/>
          <p:nvPr/>
        </p:nvSpPr>
        <p:spPr>
          <a:xfrm>
            <a:off x="548640" y="1783080"/>
            <a:ext cx="3545738" cy="1572768"/>
          </a:xfrm>
          <a:prstGeom prst="roundRect">
            <a:avLst>
              <a:gd name="adj" fmla="val 6977"/>
            </a:avLst>
          </a:prstGeom>
          <a:solidFill>
            <a:schemeClr val="bg2"/>
          </a:solidFill>
          <a:ln w="9525">
            <a:solidFill>
              <a:schemeClr val="bg2"/>
            </a:solidFill>
            <a:prstDash val="solid"/>
          </a:ln>
        </p:spPr>
      </p:sp>
      <p:sp>
        <p:nvSpPr>
          <p:cNvPr id="6" name="Shape 4"/>
          <p:cNvSpPr/>
          <p:nvPr/>
        </p:nvSpPr>
        <p:spPr>
          <a:xfrm>
            <a:off x="731520" y="1947672"/>
            <a:ext cx="365760" cy="365760"/>
          </a:xfrm>
          <a:prstGeom prst="ellipse">
            <a:avLst/>
          </a:prstGeom>
          <a:solidFill>
            <a:schemeClr val="tx2"/>
          </a:solidFill>
          <a:ln w="12700">
            <a:solidFill>
              <a:schemeClr val="tx2"/>
            </a:solidFill>
            <a:prstDash val="solid"/>
          </a:ln>
        </p:spPr>
      </p:sp>
      <p:sp>
        <p:nvSpPr>
          <p:cNvPr id="7" name="Text 5"/>
          <p:cNvSpPr txBox="1"/>
          <p:nvPr/>
        </p:nvSpPr>
        <p:spPr>
          <a:xfrm>
            <a:off x="731520"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8" name="Text 6"/>
          <p:cNvSpPr txBox="1"/>
          <p:nvPr/>
        </p:nvSpPr>
        <p:spPr>
          <a:xfrm>
            <a:off x="1234440"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Pengingat dirampingkan</a:t>
            </a:r>
            <a:endParaRPr lang="en-US" sz="1500" dirty="0"/>
          </a:p>
        </p:txBody>
      </p:sp>
      <p:sp>
        <p:nvSpPr>
          <p:cNvPr id="9" name="Text 7"/>
          <p:cNvSpPr txBox="1"/>
          <p:nvPr/>
        </p:nvSpPr>
        <p:spPr>
          <a:xfrm>
            <a:off x="731520" y="2404872"/>
            <a:ext cx="3179978" cy="886968"/>
          </a:xfrm>
          <a:prstGeom prst="rect">
            <a:avLst/>
          </a:prstGeom>
          <a:noFill/>
          <a:ln/>
        </p:spPr>
        <p:txBody>
          <a:bodyPr wrap="square" lIns="0" tIns="0" rIns="0" bIns="0" rtlCol="0" anchor="t"/>
          <a:lstStyle/>
          <a:p>
            <a:pPr indent="0" marL="0">
              <a:buNone/>
            </a:pPr>
            <a:r>
              <a:rPr lang="en-US" sz="1400" dirty="0">
                <a:solidFill>
                  <a:schemeClr val="tx1"/>
                </a:solidFill>
              </a:rPr>
              <a:t>Proposal: lima kali sehari. Kini tiga waktu (06.30, 07.30, 16.00) plus kabar seketika, agar pesan tidak berulang.</a:t>
            </a:r>
            <a:endParaRPr lang="en-US" sz="1400" dirty="0"/>
          </a:p>
        </p:txBody>
      </p:sp>
      <p:sp>
        <p:nvSpPr>
          <p:cNvPr id="10" name="baru2"/>
          <p:cNvSpPr/>
          <p:nvPr/>
        </p:nvSpPr>
        <p:spPr>
          <a:xfrm>
            <a:off x="4322978" y="1783080"/>
            <a:ext cx="3545738" cy="1572768"/>
          </a:xfrm>
          <a:prstGeom prst="roundRect">
            <a:avLst>
              <a:gd name="adj" fmla="val 6977"/>
            </a:avLst>
          </a:prstGeom>
          <a:solidFill>
            <a:schemeClr val="bg2"/>
          </a:solidFill>
          <a:ln w="9525">
            <a:solidFill>
              <a:schemeClr val="bg2"/>
            </a:solidFill>
            <a:prstDash val="solid"/>
          </a:ln>
        </p:spPr>
      </p:sp>
      <p:sp>
        <p:nvSpPr>
          <p:cNvPr id="11" name="Shape 9"/>
          <p:cNvSpPr/>
          <p:nvPr/>
        </p:nvSpPr>
        <p:spPr>
          <a:xfrm>
            <a:off x="4505858" y="1947672"/>
            <a:ext cx="365760" cy="365760"/>
          </a:xfrm>
          <a:prstGeom prst="ellipse">
            <a:avLst/>
          </a:prstGeom>
          <a:solidFill>
            <a:schemeClr val="tx2"/>
          </a:solidFill>
          <a:ln w="12700">
            <a:solidFill>
              <a:schemeClr val="tx2"/>
            </a:solidFill>
            <a:prstDash val="solid"/>
          </a:ln>
        </p:spPr>
      </p:sp>
      <p:sp>
        <p:nvSpPr>
          <p:cNvPr id="12" name="Text 10"/>
          <p:cNvSpPr txBox="1"/>
          <p:nvPr/>
        </p:nvSpPr>
        <p:spPr>
          <a:xfrm>
            <a:off x="4505858"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13" name="Text 11"/>
          <p:cNvSpPr txBox="1"/>
          <p:nvPr/>
        </p:nvSpPr>
        <p:spPr>
          <a:xfrm>
            <a:off x="5008778"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WhatsApp hanya yang perlu</a:t>
            </a:r>
            <a:endParaRPr lang="en-US" sz="1500" dirty="0"/>
          </a:p>
        </p:txBody>
      </p:sp>
      <p:sp>
        <p:nvSpPr>
          <p:cNvPr id="14" name="Text 12"/>
          <p:cNvSpPr txBox="1"/>
          <p:nvPr/>
        </p:nvSpPr>
        <p:spPr>
          <a:xfrm>
            <a:off x="4505858" y="2404872"/>
            <a:ext cx="3179978" cy="886968"/>
          </a:xfrm>
          <a:prstGeom prst="rect">
            <a:avLst/>
          </a:prstGeom>
          <a:noFill/>
          <a:ln/>
        </p:spPr>
        <p:txBody>
          <a:bodyPr wrap="square" lIns="0" tIns="0" rIns="0" bIns="0" rtlCol="0" anchor="t"/>
          <a:lstStyle/>
          <a:p>
            <a:pPr indent="0" marL="0">
              <a:buNone/>
            </a:pPr>
            <a:r>
              <a:rPr lang="en-US" sz="1400" dirty="0">
                <a:solidFill>
                  <a:schemeClr val="tx1"/>
                </a:solidFill>
              </a:rPr>
              <a:t>WhatsApp hanya untuk acara hari ini atau besok; selebihnya lewat notifikasi aplikasi.</a:t>
            </a:r>
            <a:endParaRPr lang="en-US" sz="1400" dirty="0"/>
          </a:p>
        </p:txBody>
      </p:sp>
      <p:sp>
        <p:nvSpPr>
          <p:cNvPr id="15" name="baru3"/>
          <p:cNvSpPr/>
          <p:nvPr/>
        </p:nvSpPr>
        <p:spPr>
          <a:xfrm>
            <a:off x="8097317" y="1783080"/>
            <a:ext cx="3545738" cy="1572768"/>
          </a:xfrm>
          <a:prstGeom prst="roundRect">
            <a:avLst>
              <a:gd name="adj" fmla="val 6977"/>
            </a:avLst>
          </a:prstGeom>
          <a:solidFill>
            <a:schemeClr val="bg2"/>
          </a:solidFill>
          <a:ln w="9525">
            <a:solidFill>
              <a:schemeClr val="bg2"/>
            </a:solidFill>
            <a:prstDash val="solid"/>
          </a:ln>
        </p:spPr>
      </p:sp>
      <p:sp>
        <p:nvSpPr>
          <p:cNvPr id="16" name="Shape 14"/>
          <p:cNvSpPr/>
          <p:nvPr/>
        </p:nvSpPr>
        <p:spPr>
          <a:xfrm>
            <a:off x="8280197" y="1947672"/>
            <a:ext cx="365760" cy="365760"/>
          </a:xfrm>
          <a:prstGeom prst="ellipse">
            <a:avLst/>
          </a:prstGeom>
          <a:solidFill>
            <a:schemeClr val="tx2"/>
          </a:solidFill>
          <a:ln w="12700">
            <a:solidFill>
              <a:schemeClr val="tx2"/>
            </a:solidFill>
            <a:prstDash val="solid"/>
          </a:ln>
        </p:spPr>
      </p:sp>
      <p:sp>
        <p:nvSpPr>
          <p:cNvPr id="17" name="Text 15"/>
          <p:cNvSpPr txBox="1"/>
          <p:nvPr/>
        </p:nvSpPr>
        <p:spPr>
          <a:xfrm>
            <a:off x="8280197"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8" name="Text 16"/>
          <p:cNvSpPr txBox="1"/>
          <p:nvPr/>
        </p:nvSpPr>
        <p:spPr>
          <a:xfrm>
            <a:off x="8783117"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Tamu berjenjang</a:t>
            </a:r>
            <a:endParaRPr lang="en-US" sz="1500" dirty="0"/>
          </a:p>
        </p:txBody>
      </p:sp>
      <p:sp>
        <p:nvSpPr>
          <p:cNvPr id="19" name="Text 17"/>
          <p:cNvSpPr txBox="1"/>
          <p:nvPr/>
        </p:nvSpPr>
        <p:spPr>
          <a:xfrm>
            <a:off x="8280197" y="2404872"/>
            <a:ext cx="3179978" cy="886968"/>
          </a:xfrm>
          <a:prstGeom prst="rect">
            <a:avLst/>
          </a:prstGeom>
          <a:noFill/>
          <a:ln/>
        </p:spPr>
        <p:txBody>
          <a:bodyPr wrap="square" lIns="0" tIns="0" rIns="0" bIns="0" rtlCol="0" anchor="t"/>
          <a:lstStyle/>
          <a:p>
            <a:pPr indent="0" marL="0">
              <a:buNone/>
            </a:pPr>
            <a:r>
              <a:rPr lang="en-US" sz="1400" dirty="0">
                <a:solidFill>
                  <a:schemeClr val="tx1"/>
                </a:solidFill>
              </a:rPr>
              <a:t>Pimpinan menerima ringkasan pagi, jam tenang 21.00–06.00; admin dapat mengirim ulang pemberitahuan ke tamu.</a:t>
            </a:r>
            <a:endParaRPr lang="en-US" sz="1400" dirty="0"/>
          </a:p>
        </p:txBody>
      </p:sp>
      <p:sp>
        <p:nvSpPr>
          <p:cNvPr id="20" name="baru4"/>
          <p:cNvSpPr/>
          <p:nvPr/>
        </p:nvSpPr>
        <p:spPr>
          <a:xfrm>
            <a:off x="548640" y="3538728"/>
            <a:ext cx="3545738" cy="1572768"/>
          </a:xfrm>
          <a:prstGeom prst="roundRect">
            <a:avLst>
              <a:gd name="adj" fmla="val 6977"/>
            </a:avLst>
          </a:prstGeom>
          <a:solidFill>
            <a:schemeClr val="bg2"/>
          </a:solidFill>
          <a:ln w="9525">
            <a:solidFill>
              <a:schemeClr val="bg2"/>
            </a:solidFill>
            <a:prstDash val="solid"/>
          </a:ln>
        </p:spPr>
      </p:sp>
      <p:sp>
        <p:nvSpPr>
          <p:cNvPr id="21" name="Shape 19"/>
          <p:cNvSpPr/>
          <p:nvPr/>
        </p:nvSpPr>
        <p:spPr>
          <a:xfrm>
            <a:off x="731520" y="3703320"/>
            <a:ext cx="365760" cy="365760"/>
          </a:xfrm>
          <a:prstGeom prst="ellipse">
            <a:avLst/>
          </a:prstGeom>
          <a:solidFill>
            <a:schemeClr val="tx2"/>
          </a:solidFill>
          <a:ln w="12700">
            <a:solidFill>
              <a:schemeClr val="tx2"/>
            </a:solidFill>
            <a:prstDash val="solid"/>
          </a:ln>
        </p:spPr>
      </p:sp>
      <p:sp>
        <p:nvSpPr>
          <p:cNvPr id="22" name="Text 20"/>
          <p:cNvSpPr txBox="1"/>
          <p:nvPr/>
        </p:nvSpPr>
        <p:spPr>
          <a:xfrm>
            <a:off x="731520" y="3703320"/>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4</a:t>
            </a:r>
            <a:endParaRPr lang="en-US" sz="1400" dirty="0"/>
          </a:p>
        </p:txBody>
      </p:sp>
      <p:sp>
        <p:nvSpPr>
          <p:cNvPr id="23" name="Text 21"/>
          <p:cNvSpPr txBox="1"/>
          <p:nvPr/>
        </p:nvSpPr>
        <p:spPr>
          <a:xfrm>
            <a:off x="1234440" y="3703320"/>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Monitor WA</a:t>
            </a:r>
            <a:endParaRPr lang="en-US" sz="1500" dirty="0"/>
          </a:p>
        </p:txBody>
      </p:sp>
      <p:sp>
        <p:nvSpPr>
          <p:cNvPr id="24" name="Text 22"/>
          <p:cNvSpPr txBox="1"/>
          <p:nvPr/>
        </p:nvSpPr>
        <p:spPr>
          <a:xfrm>
            <a:off x="731520" y="4160520"/>
            <a:ext cx="3179978" cy="886968"/>
          </a:xfrm>
          <a:prstGeom prst="rect">
            <a:avLst/>
          </a:prstGeom>
          <a:noFill/>
          <a:ln/>
        </p:spPr>
        <p:txBody>
          <a:bodyPr wrap="square" lIns="0" tIns="0" rIns="0" bIns="0" rtlCol="0" anchor="t"/>
          <a:lstStyle/>
          <a:p>
            <a:pPr indent="0" marL="0">
              <a:buNone/>
            </a:pPr>
            <a:r>
              <a:rPr lang="en-US" sz="1400" dirty="0">
                <a:solidFill>
                  <a:schemeClr val="tx1"/>
                </a:solidFill>
              </a:rPr>
              <a:t>Arsip pesan keluar dengan status terkirim atau dibaca dan peringatan dini; isi dihapus setelah 90 hari.</a:t>
            </a:r>
            <a:endParaRPr lang="en-US" sz="1400" dirty="0"/>
          </a:p>
        </p:txBody>
      </p:sp>
      <p:sp>
        <p:nvSpPr>
          <p:cNvPr id="25" name="baru5"/>
          <p:cNvSpPr/>
          <p:nvPr/>
        </p:nvSpPr>
        <p:spPr>
          <a:xfrm>
            <a:off x="4322978" y="3538728"/>
            <a:ext cx="3545738" cy="1572768"/>
          </a:xfrm>
          <a:prstGeom prst="roundRect">
            <a:avLst>
              <a:gd name="adj" fmla="val 6977"/>
            </a:avLst>
          </a:prstGeom>
          <a:solidFill>
            <a:schemeClr val="bg2"/>
          </a:solidFill>
          <a:ln w="9525">
            <a:solidFill>
              <a:schemeClr val="bg2"/>
            </a:solidFill>
            <a:prstDash val="solid"/>
          </a:ln>
        </p:spPr>
      </p:sp>
      <p:sp>
        <p:nvSpPr>
          <p:cNvPr id="26" name="Shape 24"/>
          <p:cNvSpPr/>
          <p:nvPr/>
        </p:nvSpPr>
        <p:spPr>
          <a:xfrm>
            <a:off x="4505858" y="3703320"/>
            <a:ext cx="365760" cy="365760"/>
          </a:xfrm>
          <a:prstGeom prst="ellipse">
            <a:avLst/>
          </a:prstGeom>
          <a:solidFill>
            <a:schemeClr val="tx2"/>
          </a:solidFill>
          <a:ln w="12700">
            <a:solidFill>
              <a:schemeClr val="tx2"/>
            </a:solidFill>
            <a:prstDash val="solid"/>
          </a:ln>
        </p:spPr>
      </p:sp>
      <p:sp>
        <p:nvSpPr>
          <p:cNvPr id="27" name="Text 25"/>
          <p:cNvSpPr txBox="1"/>
          <p:nvPr/>
        </p:nvSpPr>
        <p:spPr>
          <a:xfrm>
            <a:off x="4505858" y="3703320"/>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5</a:t>
            </a:r>
            <a:endParaRPr lang="en-US" sz="1400" dirty="0"/>
          </a:p>
        </p:txBody>
      </p:sp>
      <p:sp>
        <p:nvSpPr>
          <p:cNvPr id="28" name="Text 26"/>
          <p:cNvSpPr txBox="1"/>
          <p:nvPr/>
        </p:nvSpPr>
        <p:spPr>
          <a:xfrm>
            <a:off x="5008778" y="3703320"/>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Masuk lebih aman</a:t>
            </a:r>
            <a:endParaRPr lang="en-US" sz="1500" dirty="0"/>
          </a:p>
        </p:txBody>
      </p:sp>
      <p:sp>
        <p:nvSpPr>
          <p:cNvPr id="29" name="Text 27"/>
          <p:cNvSpPr txBox="1"/>
          <p:nvPr/>
        </p:nvSpPr>
        <p:spPr>
          <a:xfrm>
            <a:off x="4505858" y="4160520"/>
            <a:ext cx="3179978" cy="886968"/>
          </a:xfrm>
          <a:prstGeom prst="rect">
            <a:avLst/>
          </a:prstGeom>
          <a:noFill/>
          <a:ln/>
        </p:spPr>
        <p:txBody>
          <a:bodyPr wrap="square" lIns="0" tIns="0" rIns="0" bIns="0" rtlCol="0" anchor="t"/>
          <a:lstStyle/>
          <a:p>
            <a:pPr indent="0" marL="0">
              <a:buNone/>
            </a:pPr>
            <a:r>
              <a:rPr lang="en-US" sz="1400" dirty="0">
                <a:solidFill>
                  <a:schemeClr val="tx1"/>
                </a:solidFill>
              </a:rPr>
              <a:t>Sidik jari atau wajah dan akun Google, hanya untuk akun terdaftar; kebijakan privasi sesuai UU 27/2022.</a:t>
            </a:r>
            <a:endParaRPr lang="en-US" sz="1400" dirty="0"/>
          </a:p>
        </p:txBody>
      </p:sp>
      <p:sp>
        <p:nvSpPr>
          <p:cNvPr id="30" name="baru6"/>
          <p:cNvSpPr/>
          <p:nvPr/>
        </p:nvSpPr>
        <p:spPr>
          <a:xfrm>
            <a:off x="8097317" y="3538728"/>
            <a:ext cx="3545738" cy="1572768"/>
          </a:xfrm>
          <a:prstGeom prst="roundRect">
            <a:avLst>
              <a:gd name="adj" fmla="val 6977"/>
            </a:avLst>
          </a:prstGeom>
          <a:solidFill>
            <a:schemeClr val="bg2"/>
          </a:solidFill>
          <a:ln w="9525">
            <a:solidFill>
              <a:schemeClr val="bg2"/>
            </a:solidFill>
            <a:prstDash val="solid"/>
          </a:ln>
        </p:spPr>
      </p:sp>
      <p:sp>
        <p:nvSpPr>
          <p:cNvPr id="31" name="Shape 29"/>
          <p:cNvSpPr/>
          <p:nvPr/>
        </p:nvSpPr>
        <p:spPr>
          <a:xfrm>
            <a:off x="8280197" y="3703320"/>
            <a:ext cx="365760" cy="365760"/>
          </a:xfrm>
          <a:prstGeom prst="ellipse">
            <a:avLst/>
          </a:prstGeom>
          <a:solidFill>
            <a:schemeClr val="tx2"/>
          </a:solidFill>
          <a:ln w="12700">
            <a:solidFill>
              <a:schemeClr val="tx2"/>
            </a:solidFill>
            <a:prstDash val="solid"/>
          </a:ln>
        </p:spPr>
      </p:sp>
      <p:sp>
        <p:nvSpPr>
          <p:cNvPr id="32" name="Text 30"/>
          <p:cNvSpPr txBox="1"/>
          <p:nvPr/>
        </p:nvSpPr>
        <p:spPr>
          <a:xfrm>
            <a:off x="8280197" y="3703320"/>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6</a:t>
            </a:r>
            <a:endParaRPr lang="en-US" sz="1400" dirty="0"/>
          </a:p>
        </p:txBody>
      </p:sp>
      <p:sp>
        <p:nvSpPr>
          <p:cNvPr id="33" name="Text 31"/>
          <p:cNvSpPr txBox="1"/>
          <p:nvPr/>
        </p:nvSpPr>
        <p:spPr>
          <a:xfrm>
            <a:off x="8783117" y="3703320"/>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Jam acara mengikuti zona</a:t>
            </a:r>
            <a:endParaRPr lang="en-US" sz="1500" dirty="0"/>
          </a:p>
        </p:txBody>
      </p:sp>
      <p:sp>
        <p:nvSpPr>
          <p:cNvPr id="34" name="Text 32"/>
          <p:cNvSpPr txBox="1"/>
          <p:nvPr/>
        </p:nvSpPr>
        <p:spPr>
          <a:xfrm>
            <a:off x="8280197" y="4160520"/>
            <a:ext cx="3179978" cy="886968"/>
          </a:xfrm>
          <a:prstGeom prst="rect">
            <a:avLst/>
          </a:prstGeom>
          <a:noFill/>
          <a:ln/>
        </p:spPr>
        <p:txBody>
          <a:bodyPr wrap="square" lIns="0" tIns="0" rIns="0" bIns="0" rtlCol="0" anchor="t"/>
          <a:lstStyle/>
          <a:p>
            <a:pPr indent="0" marL="0">
              <a:buNone/>
            </a:pPr>
            <a:r>
              <a:rPr lang="en-US" sz="1400" dirty="0">
                <a:solidFill>
                  <a:schemeClr val="tx1"/>
                </a:solidFill>
              </a:rPr>
              <a:t>Acara WIB, WITA, atau WIT ditulis menurut undangan dan tampil menurut tempat pengguna.</a:t>
            </a:r>
            <a:endParaRPr lang="en-US" sz="1400" dirty="0"/>
          </a:p>
        </p:txBody>
      </p:sp>
      <p:sp>
        <p:nvSpPr>
          <p:cNvPr id="35" name="Text 33"/>
          <p:cNvSpPr txBox="1"/>
          <p:nvPr/>
        </p:nvSpPr>
        <p:spPr>
          <a:xfrm>
            <a:off x="548640" y="5193792"/>
            <a:ext cx="11094415" cy="384048"/>
          </a:xfrm>
          <a:prstGeom prst="rect">
            <a:avLst/>
          </a:prstGeom>
          <a:noFill/>
          <a:ln/>
        </p:spPr>
        <p:txBody>
          <a:bodyPr wrap="square" lIns="0" tIns="0" rIns="0" bIns="0" rtlCol="0" anchor="ctr"/>
          <a:lstStyle/>
          <a:p>
            <a:pPr indent="0" marL="0">
              <a:buNone/>
            </a:pPr>
            <a:r>
              <a:rPr lang="en-US" sz="1400" b="1" dirty="0">
                <a:solidFill>
                  <a:schemeClr val="accent4"/>
                </a:solidFill>
              </a:rPr>
              <a:t>Koreksi data  </a:t>
            </a:r>
            <a:pPr indent="0" marL="0">
              <a:buNone/>
            </a:pPr>
            <a:r>
              <a:rPr lang="en-US" sz="1400" dirty="0">
                <a:solidFill>
                  <a:schemeClr val="tx1"/>
                </a:solidFill>
              </a:rPr>
              <a:t>Proposal menulis tiga lembar (peristiwa Januari 2026); lembar aslinya dua, satu tidak sampai. Peristiwanya sama.</a:t>
            </a:r>
            <a:endParaRPr lang="en-US" sz="1400" dirty="0"/>
          </a:p>
        </p:txBody>
      </p:sp>
      <p:sp>
        <p:nvSpPr>
          <p:cNvPr id="36" name="nilaitambah"/>
          <p:cNvSpPr/>
          <p:nvPr/>
        </p:nvSpPr>
        <p:spPr>
          <a:xfrm>
            <a:off x="548640" y="5669280"/>
            <a:ext cx="11094415" cy="640080"/>
          </a:xfrm>
          <a:prstGeom prst="roundRect">
            <a:avLst>
              <a:gd name="adj" fmla="val 17143"/>
            </a:avLst>
          </a:prstGeom>
          <a:solidFill>
            <a:schemeClr val="tx2"/>
          </a:solidFill>
          <a:ln w="9525">
            <a:solidFill>
              <a:schemeClr val="tx2"/>
            </a:solidFill>
            <a:prstDash val="solid"/>
          </a:ln>
        </p:spPr>
      </p:sp>
      <p:sp>
        <p:nvSpPr>
          <p:cNvPr id="37" name="Text 35"/>
          <p:cNvSpPr txBox="1"/>
          <p:nvPr/>
        </p:nvSpPr>
        <p:spPr>
          <a:xfrm>
            <a:off x="822960" y="5669280"/>
            <a:ext cx="10545775" cy="640080"/>
          </a:xfrm>
          <a:prstGeom prst="rect">
            <a:avLst/>
          </a:prstGeom>
          <a:noFill/>
          <a:ln/>
        </p:spPr>
        <p:txBody>
          <a:bodyPr wrap="square" lIns="0" tIns="0" rIns="0" bIns="0" rtlCol="0" anchor="ctr"/>
          <a:lstStyle/>
          <a:p>
            <a:pPr indent="0" marL="0">
              <a:buNone/>
            </a:pPr>
            <a:r>
              <a:rPr lang="en-US" sz="1400" b="1" dirty="0">
                <a:solidFill>
                  <a:schemeClr val="accent1"/>
                </a:solidFill>
              </a:rPr>
              <a:t>Nilai tambah  </a:t>
            </a:r>
            <a:pPr indent="0" marL="0">
              <a:buNone/>
            </a:pPr>
            <a:r>
              <a:rPr lang="en-US" sz="1400" dirty="0">
                <a:solidFill>
                  <a:schemeClr val="bg1"/>
                </a:solidFill>
              </a:rPr>
              <a:t>Setiap pembaruan berangkat dari kendala pengguna, dikerjakan tim sendiri tanpa belanja pengadaan, dan dicatat dalam riwayat perubahan aplikasi.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2026-10-20T08:01:53Z</dcterms:created>
  <dcterms:modified xsi:type="dcterms:W3CDTF">2026-10-20T08:01:53Z</dcterms:modified>
</cp:coreProperties>
</file>