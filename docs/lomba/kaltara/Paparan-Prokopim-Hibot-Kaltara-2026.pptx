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650129ec-3255-2607-d395-d661638558fb}">
          <p14:sldIdLst>
            <p14:sldId id="256"/>
          </p14:sldIdLst>
        </p14:section>
        <p14:section name="Latar belakang" id="{24e10f60-3c00-7933-c8df-f7d59ffc2ff1}">
          <p14:sldIdLst>
            <p14:sldId id="257"/>
            <p14:sldId id="258"/>
          </p14:sldIdLst>
        </p14:section>
        <p14:section name="Terobosan inovasi" id="{93a8342c-7126-b6dd-c883-afd5462a65e1}">
          <p14:sldIdLst>
            <p14:sldId id="259"/>
            <p14:sldId id="260"/>
          </p14:sldIdLst>
        </p14:section>
        <p14:section name="Manfaat inovasi" id="{fa5c3e6e-81ba-9841-51d2-91452437bbfd}">
          <p14:sldIdLst>
            <p14:sldId id="261"/>
            <p14:sldId id="262"/>
            <p14:sldId id="263"/>
          </p14:sldIdLst>
        </p14:section>
        <p14:section name="Fitur lain: kanal publik" id="{007775c1-4687-8b6f-78f7-1bd072e4bb39}">
          <p14:sldIdLst>
            <p14:sldId id="264"/>
          </p14:sldIdLst>
        </p14:section>
        <p14:section name="Pemanfaatan sumber daya" id="{2b80c2d8-f478-5509-3989-34c3cb49cb63}">
          <p14:sldIdLst>
            <p14:sldId id="265"/>
          </p14:sldIdLst>
        </p14:section>
        <p14:section name="Diseminasi inovasi" id="{f205a2ab-2211-fab2-9658-a9f960af8f90}">
          <p14:sldIdLst>
            <p14:sldId id="266"/>
          </p14:sldIdLst>
        </p14:section>
        <p14:section name="Kompatibilitas" id="{17ddd206-05f1-e822-6d51-e2d3ddea24a1}">
          <p14:sldIdLst>
            <p14:sldId id="267"/>
          </p14:sldIdLst>
        </p14:section>
        <p14:section name="Penutup" id="{c3a357ae-08a8-5bb2-edf1-f8a63be65346}">
          <p14:sldIdLst>
            <p14:sldId id="268"/>
          </p14:sldIdLst>
        </p14:section>
        <p14:section name="Cadangan penjelasan" id="{a6dc6592-600f-f9d6-5bef-2ad007b007b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(menit 2:50–5:50 paparan). Admin RK memegang laptop, Kasubbag dan Kabag memegang HP; Kabag memandu. Semua memakai instans demo berdata contoh. Kanal publik tidak didemokan di sini; ia fitur terpisah (slide 9). Cadangan: video demo luring di laptop dan diska lepas. Admin RK memberi isyarat pada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dari kiri ke kanan: sebelumnya diperkirakan 18–24 jam (tidak pernah dicatat), sekarang median 1,99 jam yang terukur, dan 99,3% tayang kurang dari sehari. Sebutkan tiga angka saja: 1,99 jam, 99,3%, dan 47,5% penelaahan di luar jam kerja (405 dari 852), artinya pekerjaan tidak lagi menunggu jendela 30 menit. Jejak audit: 3.072 peristiwa pada 438 kegiatan; penugasan petugas pada 92,4% kegiatan.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67 tindakan Pelaksana Harian tercatat, dan notifikasi aktif di 37 perangkat.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sebagai fitur tersendiri, bukan bagian dari alur agenda. Peminjaman ruangan: 123 pengajuan dari 66 instansi, 98 disetujui. Audiensi: 55 permohonan dari 53 instansi, 48 selesai diproses, 31 menjadi agenda Pimpinan. Pemohon memantau dengan kode penelusuran. Data per 24 September 2026.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Sebelas SOP disahkan Sekretaris Daerah pada Oktober–Desember 2026, disesuaikan dengan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hanya bila juri menanyakan perbedaan dengan proposal. Jujur dan ringkas: pengingat lima kali sehari dirampingkan menjadi tiga waktu berdasarkan data pemakaian; WhatsApp hanya untuk acara hari ini atau besok; notifikasi tamu berjenjang; Monitor WA; masuk dengan sidik jari dan Google; jam acara berzona. Semua pembaruan berangkat dari kendala pengguna dan tanpa belanja pengadaan.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300" b="1" dirty="0">
                <a:solidFill>
                  <a:schemeClr val="accent1"/>
                </a:solidFill>
              </a:rPr>
              <a:t>Tim Inovasi  </a:t>
            </a:r>
            <a:pPr indent="0" marL="0">
              <a:buNone/>
            </a:pPr>
            <a:r>
              <a:rPr lang="en-US" sz="1300" dirty="0">
                <a:solidFill>
                  <a:schemeClr val="bg1"/>
                </a:solidFill>
              </a:rPr>
              <a:t>Anugrah Yega Pranatha, M.Si. (Ketua)  ·  Saifullah, S.H.  ·  Juliyanti, S.AP.  ·  Mastura, S.Sos.  ·  Ni Kade Sari Handayani, S.AP.</a:t>
            </a:r>
            <a:endParaRPr lang="en-US" sz="13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Tidak menyentuh akar masalah</a:t>
            </a:r>
            <a:endParaRPr lang="en-US" sz="12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Tetap banyak versi, tanpa jejak keputusan</a:t>
            </a:r>
            <a:endParaRPr lang="en-US" sz="12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Butuh anggaran; alur keprotokolan sangat khas</a:t>
            </a:r>
            <a:endParaRPr lang="en-US" sz="12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200" dirty="0">
                <a:solidFill>
                  <a:schemeClr val="accent1"/>
                </a:solidFill>
              </a:rPr>
              <a:t>Dipilih — tanpa anggaran pengadaan</a:t>
            </a:r>
            <a:endParaRPr lang="en-US" sz="12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Siapa, kapan, apa keputusannya — 3.072 peristiwa</a:t>
            </a:r>
            <a:endParaRPr lang="en-US" sz="12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Tombol setuju baru aktif sesudah butir dicentang</a:t>
            </a:r>
            <a:endParaRPr lang="en-US" sz="12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Kewenangan padam sendiri pada tanggal akhirnya</a:t>
            </a:r>
            <a:endParaRPr lang="en-US" sz="12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Usulan tertahan ditandai menurut umur dan hari H</a:t>
            </a:r>
            <a:endParaRPr lang="en-US" sz="12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Pemohon memantau sendiri dengan kode penelusuran</a:t>
            </a:r>
            <a:endParaRPr lang="en-US" sz="12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Agenda tersetujui tampil sendiri di Google Calendar</a:t>
            </a:r>
            <a:endParaRPr lang="en-US" sz="12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300" dirty="0">
                <a:solidFill>
                  <a:schemeClr val="accent5"/>
                </a:solidFill>
              </a:rPr>
              <a:t>dari pengajuan sampai tayang; perkiraan alur lama yang tidak pernah dicatat</a:t>
            </a:r>
            <a:endParaRPr lang="en-US" sz="13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300" dirty="0">
                <a:solidFill>
                  <a:schemeClr val="accent6"/>
                </a:solidFill>
              </a:rPr>
              <a:t>median terukur dari basis data; 99,3% tayang kurang dari 24 jam</a:t>
            </a:r>
            <a:endParaRPr lang="en-US" sz="13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kegiatan terkelola</a:t>
            </a:r>
            <a:endParaRPr lang="en-US" sz="12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telaah di luar jam kerja</a:t>
            </a:r>
            <a:endParaRPr lang="en-US" sz="12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peristiwa jejak audit</a:t>
            </a:r>
            <a:endParaRPr lang="en-US" sz="12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kegiatan ada petugasnya</a:t>
            </a:r>
            <a:endParaRPr lang="en-US" sz="12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belanja pengadaan</a:t>
            </a:r>
            <a:endParaRPr lang="en-US" sz="1200" dirty="0"/>
          </a:p>
        </p:txBody>
      </p:sp>
      <p:sp>
        <p:nvSpPr>
          <p:cNvPr id="24" name="Text 22"/>
          <p:cNvSpPr txBox="1"/>
          <p:nvPr/>
        </p:nvSpPr>
        <p:spPr>
          <a:xfrm>
            <a:off x="548640" y="4526280"/>
            <a:ext cx="54864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a:t>
            </a:r>
            <a:endParaRPr lang="en-US" sz="1500" dirty="0"/>
          </a:p>
        </p:txBody>
      </p:sp>
      <p:sp>
        <p:nvSpPr>
          <p:cNvPr id="25" name="sebab1"/>
          <p:cNvSpPr/>
          <p:nvPr/>
        </p:nvSpPr>
        <p:spPr>
          <a:xfrm>
            <a:off x="548640" y="4892040"/>
            <a:ext cx="3545738"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49808"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49808" y="5349240"/>
            <a:ext cx="3143402" cy="594360"/>
          </a:xfrm>
          <a:prstGeom prst="rect">
            <a:avLst/>
          </a:prstGeom>
          <a:noFill/>
          <a:ln/>
        </p:spPr>
        <p:txBody>
          <a:bodyPr wrap="square" lIns="0" tIns="0" rIns="0" bIns="0" rtlCol="0" anchor="t"/>
          <a:lstStyle/>
          <a:p>
            <a:pPr indent="0" marL="0">
              <a:buNone/>
            </a:pPr>
            <a:r>
              <a:rPr lang="en-US" sz="1200" dirty="0">
                <a:solidFill>
                  <a:schemeClr val="tx1"/>
                </a:solidFill>
              </a:rPr>
              <a:t>telaah dan persetujuan bisa dilakukan kapan saja, dari mana saja</a:t>
            </a:r>
            <a:endParaRPr lang="en-US" sz="1200" dirty="0"/>
          </a:p>
        </p:txBody>
      </p:sp>
      <p:sp>
        <p:nvSpPr>
          <p:cNvPr id="28" name="sebab2"/>
          <p:cNvSpPr/>
          <p:nvPr/>
        </p:nvSpPr>
        <p:spPr>
          <a:xfrm>
            <a:off x="4322978" y="4892040"/>
            <a:ext cx="3545738"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4524146"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4524146" y="5349240"/>
            <a:ext cx="3143402" cy="594360"/>
          </a:xfrm>
          <a:prstGeom prst="rect">
            <a:avLst/>
          </a:prstGeom>
          <a:noFill/>
          <a:ln/>
        </p:spPr>
        <p:txBody>
          <a:bodyPr wrap="square" lIns="0" tIns="0" rIns="0" bIns="0" rtlCol="0" anchor="t"/>
          <a:lstStyle/>
          <a:p>
            <a:pPr indent="0" marL="0">
              <a:buNone/>
            </a:pPr>
            <a:r>
              <a:rPr lang="en-US" sz="1200" dirty="0">
                <a:solidFill>
                  <a:schemeClr val="tx1"/>
                </a:solidFill>
              </a:rPr>
              <a:t>tidak ada versi ganda, foto disposisi, atau grup yang harus ditelusuri</a:t>
            </a:r>
            <a:endParaRPr lang="en-US" sz="1200" dirty="0"/>
          </a:p>
        </p:txBody>
      </p:sp>
      <p:sp>
        <p:nvSpPr>
          <p:cNvPr id="31" name="sebab3"/>
          <p:cNvSpPr/>
          <p:nvPr/>
        </p:nvSpPr>
        <p:spPr>
          <a:xfrm>
            <a:off x="8097317" y="4892040"/>
            <a:ext cx="3545738"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8298485"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8298485" y="5349240"/>
            <a:ext cx="3143402" cy="594360"/>
          </a:xfrm>
          <a:prstGeom prst="rect">
            <a:avLst/>
          </a:prstGeom>
          <a:noFill/>
          <a:ln/>
        </p:spPr>
        <p:txBody>
          <a:bodyPr wrap="square" lIns="0" tIns="0" rIns="0" bIns="0" rtlCol="0" anchor="t"/>
          <a:lstStyle/>
          <a:p>
            <a:pPr indent="0" marL="0">
              <a:buNone/>
            </a:pPr>
            <a:r>
              <a:rPr lang="en-US" sz="1200" dirty="0">
                <a:solidFill>
                  <a:schemeClr val="tx1"/>
                </a:solidFill>
              </a:rPr>
              <a:t>kekeliruan tertahan sebelum tayang, bukan sesudahnya</a:t>
            </a:r>
            <a:endParaRPr lang="en-US" sz="1200" dirty="0"/>
          </a:p>
        </p:txBody>
      </p:sp>
      <p:sp>
        <p:nvSpPr>
          <p:cNvPr id="34" name="Text 32"/>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000" dirty="0">
                <a:solidFill>
                  <a:schemeClr val="accent5"/>
                </a:solidFill>
              </a:rPr>
              <a:t>Sumber: basis data Prokopim Hibot, 24 September 2026. Angka "sebelum" adalah estimasi dari alur lama.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jajarannya</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300" b="1" dirty="0">
                <a:solidFill>
                  <a:schemeClr val="accent1"/>
                </a:solidFill>
              </a:rPr>
              <a:t>dr. H. Khairul, M.Kes. — Wali Kota Tarakan</a:t>
            </a:r>
            <a:endParaRPr lang="en-US" sz="13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200" b="1" dirty="0">
                <a:solidFill>
                  <a:schemeClr val="accent5"/>
                </a:solidFill>
              </a:rPr>
              <a:t>Muhammad Rizky Dinata Putra, S.Tr.IP. — Ajudan Wakil Wali Kota</a:t>
            </a:r>
            <a:endParaRPr lang="en-US" sz="12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kegiatan didisposisikan Wali Kota kepada Wakil langsung dari aplikasi</a:t>
            </a:r>
            <a:endParaRPr lang="en-US" sz="12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konfirmasi kehadiran oleh ajudan</a:t>
            </a:r>
            <a:endParaRPr lang="en-US" sz="12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200" dirty="0">
                <a:solidFill>
                  <a:schemeClr val="accent5"/>
                </a:solidFill>
              </a:rPr>
              <a:t>tindakan Pelaksana Harian tercatat atas nama pelakunya</a:t>
            </a:r>
            <a:endParaRPr lang="en-US" sz="12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200" dirty="0">
                <a:solidFill>
                  <a:schemeClr val="accent5"/>
                </a:solidFill>
              </a:rPr>
              <a:t>perangkat dengan notifikasi aktif, milik 21 pengguna</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FITUR LAIN  ·  MANFAAT BAGI MASYARAKAT</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Kanal publik: warga dan instansi mengurus sendiri, tanpa akun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Terpisah dari alur agenda Pimpinan, kanal ini melayani masyarakat dan instansi lewat peramban.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98 disetujui, total 3.023 peserta kegiatan</a:t>
            </a:r>
            <a:endParaRPr lang="en-US" sz="1300" dirty="0"/>
          </a:p>
          <a:p>
            <a:pPr marL="342900" indent="-342900">
              <a:spcAft>
                <a:spcPts val="500"/>
              </a:spcAft>
              <a:buSzPct val="100000"/>
              <a:buChar char="•"/>
            </a:pPr>
            <a:r>
              <a:rPr lang="en-US" sz="1300" dirty="0">
                <a:solidFill>
                  <a:schemeClr val="tx1"/>
                </a:solidFill>
              </a:rPr>
              <a:t>Kalender ketersediaan terbuka untuk umum</a:t>
            </a:r>
            <a:endParaRPr lang="en-US" sz="1300" dirty="0"/>
          </a:p>
          <a:p>
            <a:pPr marL="342900" indent="-342900">
              <a:spcAft>
                <a:spcPts val="500"/>
              </a:spcAft>
              <a:buSzPct val="100000"/>
              <a:buChar char="•"/>
            </a:pPr>
            <a:r>
              <a:rPr lang="en-US" sz="1300" dirty="0">
                <a:solidFill>
                  <a:schemeClr val="tx1"/>
                </a:solidFill>
              </a:rPr>
              <a:t>Hanya keterpakaian slot; tanpa identitas atau kontak pemohon</a:t>
            </a:r>
            <a:endParaRPr lang="en-US" sz="13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Permohonan audiensi</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bg1"/>
                </a:solidFill>
              </a:rPr>
              <a:t>48 telah selesai diproses</a:t>
            </a:r>
            <a:endParaRPr lang="en-US" sz="1300" dirty="0"/>
          </a:p>
          <a:p>
            <a:pPr marL="342900" indent="-342900">
              <a:spcAft>
                <a:spcPts val="500"/>
              </a:spcAft>
              <a:buSzPct val="100000"/>
              <a:buChar char="•"/>
            </a:pPr>
            <a:r>
              <a:rPr lang="en-US" sz="1300" dirty="0">
                <a:solidFill>
                  <a:schemeClr val="bg1"/>
                </a:solidFill>
              </a:rPr>
              <a:t>31 di antaranya menjadi agenda Pimpinan</a:t>
            </a:r>
            <a:endParaRPr lang="en-US" sz="1300" dirty="0"/>
          </a:p>
          <a:p>
            <a:pPr marL="342900" indent="-342900">
              <a:spcAft>
                <a:spcPts val="500"/>
              </a:spcAft>
              <a:buSzPct val="100000"/>
              <a:buChar char="•"/>
            </a:pPr>
            <a:r>
              <a:rPr lang="en-US" sz="1300" dirty="0">
                <a:solidFill>
                  <a:schemeClr val="bg1"/>
                </a:solidFill>
              </a:rPr>
              <a:t>Pemberitahuan berjenjang; Pimpinan tidak diganggu per permohonan</a:t>
            </a:r>
            <a:endParaRPr lang="en-US" sz="13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300" dirty="0">
                <a:solidFill>
                  <a:schemeClr val="accent5"/>
                </a:solidFill>
              </a:rPr>
              <a:t>Efisiensi: ketika lalu lintas data mencapai 6,4 GB/bulan (kuota 5 GB), pengambilan data diubah hanya untuk data yang berubah — turun ke ±1 GB.</a:t>
            </a:r>
            <a:endParaRPr lang="en-US" sz="13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inovasi: perancang, penyelia, penguji</a:t>
            </a:r>
            <a:endParaRPr lang="en-US" sz="13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Koordinasi lintas unit (Keputusan Sekda)</a:t>
            </a:r>
            <a:endParaRPr lang="en-US" sz="13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300" dirty="0">
                <a:solidFill>
                  <a:schemeClr val="tx1"/>
                </a:solidFill>
              </a:rPr>
              <a:t>Memfasilitasi subdomain resmi prokopim.tarakankota.go.id</a:t>
            </a:r>
            <a:endParaRPr lang="en-US" sz="13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14 jenis peran pengguna</a:t>
            </a:r>
            <a:endParaRPr lang="en-US" sz="13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300" dirty="0">
                <a:solidFill>
                  <a:schemeClr val="bg1"/>
                </a:solidFill>
              </a:rPr>
              <a:t>di luar Bagian: Pimpinan, ajudan, pengawal, mitra DKISP</a:t>
            </a:r>
            <a:endParaRPr lang="en-US" sz="13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instansi memakai kanal publik ruangan dan audiensi</a:t>
            </a:r>
            <a:endParaRPr lang="en-US" sz="13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Tim Koordinasi lintas perangkat daerah</a:t>
            </a:r>
            <a:endParaRPr lang="en-US" sz="13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300" dirty="0">
                <a:solidFill>
                  <a:schemeClr val="accent6"/>
                </a:solidFill>
              </a:rPr>
              <a:t>Tim Inovasi Prokopim Hibot  ·  Bagian Protokol dan Komunikasi Pimpinan, Setda Kota Tarakan</a:t>
            </a:r>
            <a:endParaRPr lang="en-US" sz="13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100" dirty="0">
                <a:solidFill>
                  <a:schemeClr val="accent5"/>
                </a:solidFill>
              </a:rPr>
              <a:t>Akses juri baca-saja tersedia saat demonstrasi</a:t>
            </a:r>
            <a:endParaRPr lang="en-US" sz="11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300" dirty="0">
                <a:solidFill>
                  <a:schemeClr val="accent5"/>
                </a:solidFill>
              </a:rPr>
              <a:t>Proposal memuat keadaan per 24 September 2026. Pembaruan Oktober 2026 berikut berangkat dari pemakaian dan masukan pengguna.</a:t>
            </a:r>
            <a:endParaRPr lang="en-US" sz="1300" dirty="0"/>
          </a:p>
        </p:txBody>
      </p:sp>
      <p:sp>
        <p:nvSpPr>
          <p:cNvPr id="5" name="baru1"/>
          <p:cNvSpPr/>
          <p:nvPr/>
        </p:nvSpPr>
        <p:spPr>
          <a:xfrm>
            <a:off x="548640" y="1783080"/>
            <a:ext cx="3545738" cy="1828800"/>
          </a:xfrm>
          <a:prstGeom prst="roundRect">
            <a:avLst>
              <a:gd name="adj" fmla="val 6000"/>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1143000"/>
          </a:xfrm>
          <a:prstGeom prst="rect">
            <a:avLst/>
          </a:prstGeom>
          <a:noFill/>
          <a:ln/>
        </p:spPr>
        <p:txBody>
          <a:bodyPr wrap="square" lIns="0" tIns="0" rIns="0" bIns="0" rtlCol="0" anchor="t"/>
          <a:lstStyle/>
          <a:p>
            <a:pPr indent="0" marL="0">
              <a:buNone/>
            </a:pPr>
            <a:r>
              <a:rPr lang="en-US" sz="1200" dirty="0">
                <a:solidFill>
                  <a:schemeClr val="tx1"/>
                </a:solidFill>
              </a:rPr>
              <a:t>Proposal: lima kali sehari. Kini tiga waktu (06.30, 07.30, 16.00) ditambah kabar seketika, berdasarkan data pemakaian agar pesan tidak berulang.</a:t>
            </a:r>
            <a:endParaRPr lang="en-US" sz="1200" dirty="0"/>
          </a:p>
        </p:txBody>
      </p:sp>
      <p:sp>
        <p:nvSpPr>
          <p:cNvPr id="10" name="baru2"/>
          <p:cNvSpPr/>
          <p:nvPr/>
        </p:nvSpPr>
        <p:spPr>
          <a:xfrm>
            <a:off x="4322978" y="1783080"/>
            <a:ext cx="3545738" cy="1828800"/>
          </a:xfrm>
          <a:prstGeom prst="roundRect">
            <a:avLst>
              <a:gd name="adj" fmla="val 6000"/>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1143000"/>
          </a:xfrm>
          <a:prstGeom prst="rect">
            <a:avLst/>
          </a:prstGeom>
          <a:noFill/>
          <a:ln/>
        </p:spPr>
        <p:txBody>
          <a:bodyPr wrap="square" lIns="0" tIns="0" rIns="0" bIns="0" rtlCol="0" anchor="t"/>
          <a:lstStyle/>
          <a:p>
            <a:pPr indent="0" marL="0">
              <a:buNone/>
            </a:pPr>
            <a:r>
              <a:rPr lang="en-US" sz="1200" dirty="0">
                <a:solidFill>
                  <a:schemeClr val="tx1"/>
                </a:solidFill>
              </a:rPr>
              <a:t>Pesan WhatsApp hanya untuk acara hari ini atau besok; selebihnya lewat notifikasi aplikasi, sehingga tidak ada pesan penting yang tenggelam.</a:t>
            </a:r>
            <a:endParaRPr lang="en-US" sz="1200" dirty="0"/>
          </a:p>
        </p:txBody>
      </p:sp>
      <p:sp>
        <p:nvSpPr>
          <p:cNvPr id="15" name="baru3"/>
          <p:cNvSpPr/>
          <p:nvPr/>
        </p:nvSpPr>
        <p:spPr>
          <a:xfrm>
            <a:off x="8097317" y="1783080"/>
            <a:ext cx="3545738" cy="1828800"/>
          </a:xfrm>
          <a:prstGeom prst="roundRect">
            <a:avLst>
              <a:gd name="adj" fmla="val 6000"/>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Pemberitahuan tamu berjenjang</a:t>
            </a:r>
            <a:endParaRPr lang="en-US" sz="1500" dirty="0"/>
          </a:p>
        </p:txBody>
      </p:sp>
      <p:sp>
        <p:nvSpPr>
          <p:cNvPr id="19" name="Text 17"/>
          <p:cNvSpPr txBox="1"/>
          <p:nvPr/>
        </p:nvSpPr>
        <p:spPr>
          <a:xfrm>
            <a:off x="8280197" y="2404872"/>
            <a:ext cx="3179978" cy="1143000"/>
          </a:xfrm>
          <a:prstGeom prst="rect">
            <a:avLst/>
          </a:prstGeom>
          <a:noFill/>
          <a:ln/>
        </p:spPr>
        <p:txBody>
          <a:bodyPr wrap="square" lIns="0" tIns="0" rIns="0" bIns="0" rtlCol="0" anchor="t"/>
          <a:lstStyle/>
          <a:p>
            <a:pPr indent="0" marL="0">
              <a:buNone/>
            </a:pPr>
            <a:r>
              <a:rPr lang="en-US" sz="1200" dirty="0">
                <a:solidFill>
                  <a:schemeClr val="tx1"/>
                </a:solidFill>
              </a:rPr>
              <a:t>Pimpinan menerima ringkasan pagi, bukan kabar per permohonan, dengan jam tenang 21.00–06.00. Admin dapat mengirim ulang pemberitahuan ke tamu dengan jeda anti-spam.</a:t>
            </a:r>
            <a:endParaRPr lang="en-US" sz="1200" dirty="0"/>
          </a:p>
        </p:txBody>
      </p:sp>
      <p:sp>
        <p:nvSpPr>
          <p:cNvPr id="20" name="baru4"/>
          <p:cNvSpPr/>
          <p:nvPr/>
        </p:nvSpPr>
        <p:spPr>
          <a:xfrm>
            <a:off x="548640" y="3794760"/>
            <a:ext cx="3545738" cy="1828800"/>
          </a:xfrm>
          <a:prstGeom prst="roundRect">
            <a:avLst>
              <a:gd name="adj" fmla="val 6000"/>
            </a:avLst>
          </a:prstGeom>
          <a:solidFill>
            <a:schemeClr val="bg2"/>
          </a:solidFill>
          <a:ln w="9525">
            <a:solidFill>
              <a:schemeClr val="bg2"/>
            </a:solidFill>
            <a:prstDash val="solid"/>
          </a:ln>
        </p:spPr>
      </p:sp>
      <p:sp>
        <p:nvSpPr>
          <p:cNvPr id="21" name="Shape 19"/>
          <p:cNvSpPr/>
          <p:nvPr/>
        </p:nvSpPr>
        <p:spPr>
          <a:xfrm>
            <a:off x="731520" y="3959352"/>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416552"/>
            <a:ext cx="3179978" cy="1143000"/>
          </a:xfrm>
          <a:prstGeom prst="rect">
            <a:avLst/>
          </a:prstGeom>
          <a:noFill/>
          <a:ln/>
        </p:spPr>
        <p:txBody>
          <a:bodyPr wrap="square" lIns="0" tIns="0" rIns="0" bIns="0" rtlCol="0" anchor="t"/>
          <a:lstStyle/>
          <a:p>
            <a:pPr indent="0" marL="0">
              <a:buNone/>
            </a:pPr>
            <a:r>
              <a:rPr lang="en-US" sz="1200" dirty="0">
                <a:solidFill>
                  <a:schemeClr val="tx1"/>
                </a:solidFill>
              </a:rPr>
              <a:t>Meteran dan arsip pesan keluar dengan status terkirim atau dibaca, peringatan dini bila gagal beruntun. Isi pesan dihapus setelah 90 hari; OTP tidak disimpan.</a:t>
            </a:r>
            <a:endParaRPr lang="en-US" sz="1200" dirty="0"/>
          </a:p>
        </p:txBody>
      </p:sp>
      <p:sp>
        <p:nvSpPr>
          <p:cNvPr id="25" name="baru5"/>
          <p:cNvSpPr/>
          <p:nvPr/>
        </p:nvSpPr>
        <p:spPr>
          <a:xfrm>
            <a:off x="4322978" y="3794760"/>
            <a:ext cx="3545738" cy="1828800"/>
          </a:xfrm>
          <a:prstGeom prst="roundRect">
            <a:avLst>
              <a:gd name="adj" fmla="val 6000"/>
            </a:avLst>
          </a:prstGeom>
          <a:solidFill>
            <a:schemeClr val="bg2"/>
          </a:solidFill>
          <a:ln w="9525">
            <a:solidFill>
              <a:schemeClr val="bg2"/>
            </a:solidFill>
            <a:prstDash val="solid"/>
          </a:ln>
        </p:spPr>
      </p:sp>
      <p:sp>
        <p:nvSpPr>
          <p:cNvPr id="26" name="Shape 24"/>
          <p:cNvSpPr/>
          <p:nvPr/>
        </p:nvSpPr>
        <p:spPr>
          <a:xfrm>
            <a:off x="4505858" y="3959352"/>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mudah dan aman</a:t>
            </a:r>
            <a:endParaRPr lang="en-US" sz="1500" dirty="0"/>
          </a:p>
        </p:txBody>
      </p:sp>
      <p:sp>
        <p:nvSpPr>
          <p:cNvPr id="29" name="Text 27"/>
          <p:cNvSpPr txBox="1"/>
          <p:nvPr/>
        </p:nvSpPr>
        <p:spPr>
          <a:xfrm>
            <a:off x="4505858" y="4416552"/>
            <a:ext cx="3179978" cy="1143000"/>
          </a:xfrm>
          <a:prstGeom prst="rect">
            <a:avLst/>
          </a:prstGeom>
          <a:noFill/>
          <a:ln/>
        </p:spPr>
        <p:txBody>
          <a:bodyPr wrap="square" lIns="0" tIns="0" rIns="0" bIns="0" rtlCol="0" anchor="t"/>
          <a:lstStyle/>
          <a:p>
            <a:pPr indent="0" marL="0">
              <a:buNone/>
            </a:pPr>
            <a:r>
              <a:rPr lang="en-US" sz="1200" dirty="0">
                <a:solidFill>
                  <a:schemeClr val="tx1"/>
                </a:solidFill>
              </a:rPr>
              <a:t>Sidik jari atau wajah (passkey) dan akun Google, tetap hanya untuk akun yang didaftarkan Admin. Kebijakan privasi dan ketentuan mengikuti UU 27/2022.</a:t>
            </a:r>
            <a:endParaRPr lang="en-US" sz="1200" dirty="0"/>
          </a:p>
        </p:txBody>
      </p:sp>
      <p:sp>
        <p:nvSpPr>
          <p:cNvPr id="30" name="baru6"/>
          <p:cNvSpPr/>
          <p:nvPr/>
        </p:nvSpPr>
        <p:spPr>
          <a:xfrm>
            <a:off x="8097317" y="3794760"/>
            <a:ext cx="3545738" cy="1828800"/>
          </a:xfrm>
          <a:prstGeom prst="roundRect">
            <a:avLst>
              <a:gd name="adj" fmla="val 6000"/>
            </a:avLst>
          </a:prstGeom>
          <a:solidFill>
            <a:schemeClr val="bg2"/>
          </a:solidFill>
          <a:ln w="9525">
            <a:solidFill>
              <a:schemeClr val="bg2"/>
            </a:solidFill>
            <a:prstDash val="solid"/>
          </a:ln>
        </p:spPr>
      </p:sp>
      <p:sp>
        <p:nvSpPr>
          <p:cNvPr id="31" name="Shape 29"/>
          <p:cNvSpPr/>
          <p:nvPr/>
        </p:nvSpPr>
        <p:spPr>
          <a:xfrm>
            <a:off x="8280197" y="3959352"/>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416552"/>
            <a:ext cx="3179978" cy="1143000"/>
          </a:xfrm>
          <a:prstGeom prst="rect">
            <a:avLst/>
          </a:prstGeom>
          <a:noFill/>
          <a:ln/>
        </p:spPr>
        <p:txBody>
          <a:bodyPr wrap="square" lIns="0" tIns="0" rIns="0" bIns="0" rtlCol="0" anchor="t"/>
          <a:lstStyle/>
          <a:p>
            <a:pPr indent="0" marL="0">
              <a:buNone/>
            </a:pPr>
            <a:r>
              <a:rPr lang="en-US" sz="1200" dirty="0">
                <a:solidFill>
                  <a:schemeClr val="tx1"/>
                </a:solidFill>
              </a:rPr>
              <a:t>Acara di zona WIB, WITA, atau WIT ditulis menurut undangan dan ditampilkan menurut tempat pengguna, sehingga jam tidak lagi tertukar.</a:t>
            </a:r>
            <a:endParaRPr lang="en-US" sz="1200" dirty="0"/>
          </a:p>
        </p:txBody>
      </p:sp>
      <p:sp>
        <p:nvSpPr>
          <p:cNvPr id="35"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6" name="Text 34"/>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300" b="1" dirty="0">
                <a:solidFill>
                  <a:schemeClr val="accent1"/>
                </a:solidFill>
              </a:rPr>
              <a:t>Nilai tambah  </a:t>
            </a:r>
            <a:pPr indent="0" marL="0">
              <a:buNone/>
            </a:pPr>
            <a:r>
              <a:rPr lang="en-US" sz="1300" dirty="0">
                <a:solidFill>
                  <a:schemeClr val="bg1"/>
                </a:solidFill>
              </a:rPr>
              <a:t>Setiap pembaruan berangkat dari kendala pengguna, dikerjakan tim sendiri tanpa belanja pengadaan, dan dicatat dalam riwayat perubahan aplikasi.</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2026-10-18T22:01:08Z</dcterms:created>
  <dcterms:modified xsi:type="dcterms:W3CDTF">2026-10-18T22:01:08Z</dcterms:modified>
</cp:coreProperties>
</file>