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22e23a01-dc3f-a500-0301-6de06877ac60}">
          <p14:sldIdLst>
            <p14:sldId id="256"/>
          </p14:sldIdLst>
        </p14:section>
        <p14:section name="Latar belakang" id="{d878a4cc-f8ab-70cc-a1b1-8ef9d6989753}">
          <p14:sldIdLst>
            <p14:sldId id="257"/>
            <p14:sldId id="258"/>
          </p14:sldIdLst>
        </p14:section>
        <p14:section name="Terobosan inovasi" id="{321f04c2-e25d-d420-71bd-438eca57ce9f}">
          <p14:sldIdLst>
            <p14:sldId id="259"/>
            <p14:sldId id="260"/>
          </p14:sldIdLst>
        </p14:section>
        <p14:section name="Manfaat inovasi" id="{7131e0a7-4b06-dca8-a7ed-0f4c062ddfe5}">
          <p14:sldIdLst>
            <p14:sldId id="261"/>
            <p14:sldId id="262"/>
            <p14:sldId id="263"/>
          </p14:sldIdLst>
        </p14:section>
        <p14:section name="Pemanfaatan sumber daya" id="{09e74e3a-96f5-a734-7ced-df6965d211fb}">
          <p14:sldIdLst>
            <p14:sldId id="264"/>
          </p14:sldIdLst>
        </p14:section>
        <p14:section name="Diseminasi inovasi" id="{0498b799-bd64-9c55-98f7-182bb429fb77}">
          <p14:sldIdLst>
            <p14:sldId id="265"/>
          </p14:sldIdLst>
        </p14:section>
        <p14:section name="Kompatibilitas" id="{70cd9dc0-2cbe-67df-1eb8-8fb526521f72}">
          <p14:sldIdLst>
            <p14:sldId id="266"/>
          </p14:sldIdLst>
        </p14:section>
        <p14:section name="Penutup" id="{898f6651-3907-506b-d395-f8b8e24fad6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30 detik (menit 2:50–6:20 paparan). Admin RK memegang laptop, Kasubbag dan Kabag memegang HP; Kabag memandu. Semua memakai instans demo berdata contoh. Cadangan: video demo luring 3:30 di laptop dan diska lepas. Admin RK memberi isyarat pada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tiga angka saja: 1,99 jam (dari perkiraan 18–24 jam), 99,3 persen tayang kurang dari sehari, dan 47,5 persen penelaahan terjadi di luar jam kerja — artinya pekerjaan tidak lagi menunggu jendela 30 menit.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66 instansi meminjam ruangan dan 53 instansi mengajukan audiensi tanpa datang berulang.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Bila daerah lain ingin memakai, yang disesuaikan hanya nama jabatan, pengguna, dan tata naskah.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median 8 menit</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Kanal publik</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Ajukan audiensi → kode penelusuran</a:t>
            </a:r>
            <a:endParaRPr lang="en-US" sz="1400" dirty="0"/>
          </a:p>
        </p:txBody>
      </p:sp>
      <p:sp>
        <p:nvSpPr>
          <p:cNvPr id="34" name="demo7"/>
          <p:cNvSpPr/>
          <p:nvPr/>
        </p:nvSpPr>
        <p:spPr>
          <a:xfrm>
            <a:off x="6233008" y="3840480"/>
            <a:ext cx="2567864" cy="1828800"/>
          </a:xfrm>
          <a:prstGeom prst="roundRect">
            <a:avLst>
              <a:gd name="adj" fmla="val 6000"/>
            </a:avLst>
          </a:prstGeom>
          <a:solidFill>
            <a:srgbClr val="13233F"/>
          </a:solidFill>
          <a:ln w="9525">
            <a:solidFill>
              <a:srgbClr val="2A3B57"/>
            </a:solidFill>
            <a:prstDash val="solid"/>
          </a:ln>
        </p:spPr>
      </p:sp>
      <p:sp>
        <p:nvSpPr>
          <p:cNvPr id="35" name="Shape 33"/>
          <p:cNvSpPr/>
          <p:nvPr/>
        </p:nvSpPr>
        <p:spPr>
          <a:xfrm>
            <a:off x="6434176" y="4041648"/>
            <a:ext cx="457200" cy="457200"/>
          </a:xfrm>
          <a:prstGeom prst="ellipse">
            <a:avLst/>
          </a:prstGeom>
          <a:solidFill>
            <a:schemeClr val="accent1"/>
          </a:solidFill>
          <a:ln w="12700">
            <a:solidFill>
              <a:schemeClr val="accent1"/>
            </a:solidFill>
            <a:prstDash val="solid"/>
          </a:ln>
        </p:spPr>
      </p:sp>
      <p:sp>
        <p:nvSpPr>
          <p:cNvPr id="36" name="Text 34"/>
          <p:cNvSpPr txBox="1"/>
          <p:nvPr/>
        </p:nvSpPr>
        <p:spPr>
          <a:xfrm>
            <a:off x="6434176"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7</a:t>
            </a:r>
            <a:endParaRPr lang="en-US" sz="1400" dirty="0"/>
          </a:p>
        </p:txBody>
      </p:sp>
      <p:sp>
        <p:nvSpPr>
          <p:cNvPr id="37" name="Text 35"/>
          <p:cNvSpPr txBox="1"/>
          <p:nvPr/>
        </p:nvSpPr>
        <p:spPr>
          <a:xfrm>
            <a:off x="7037680"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8" name="Text 36"/>
          <p:cNvSpPr txBox="1"/>
          <p:nvPr/>
        </p:nvSpPr>
        <p:spPr>
          <a:xfrm>
            <a:off x="6434176"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tanda terima terkirim</a:t>
            </a:r>
            <a:endParaRPr lang="en-US" sz="1400" dirty="0"/>
          </a:p>
        </p:txBody>
      </p:sp>
      <p:sp>
        <p:nvSpPr>
          <p:cNvPr id="39" name="Text 37"/>
          <p:cNvSpPr txBox="1"/>
          <p:nvPr/>
        </p:nvSpPr>
        <p:spPr>
          <a:xfrm>
            <a:off x="9075191" y="3931920"/>
            <a:ext cx="2567864" cy="1463040"/>
          </a:xfrm>
          <a:prstGeom prst="rect">
            <a:avLst/>
          </a:prstGeom>
          <a:noFill/>
          <a:ln/>
        </p:spPr>
        <p:txBody>
          <a:bodyPr wrap="square" lIns="0" tIns="0" rIns="0" bIns="0" rtlCol="0" anchor="t"/>
          <a:lstStyle/>
          <a:p>
            <a:pPr indent="0" marL="0">
              <a:spcAft>
                <a:spcPts val="600"/>
              </a:spcAft>
              <a:buNone/>
            </a:pPr>
            <a:r>
              <a:rPr lang="en-US" sz="1400" i="1" dirty="0">
                <a:solidFill>
                  <a:schemeClr val="accent1"/>
                </a:solidFill>
              </a:rPr>
              <a:t>Langkah 1–4: satu alur sampai ke Pimpinan.</a:t>
            </a:r>
            <a:endParaRPr lang="en-US" sz="1400" dirty="0"/>
          </a:p>
          <a:p>
            <a:pPr indent="0" marL="0">
              <a:spcAft>
                <a:spcPts val="600"/>
              </a:spcAft>
              <a:buNone/>
            </a:pPr>
            <a:r>
              <a:rPr lang="en-US" sz="1400" i="1" dirty="0">
                <a:solidFill>
                  <a:schemeClr val="accent1"/>
                </a:solidFill>
              </a:rPr>
              <a:t>Langkah 5–7: setiap keputusan dan pesan tercatat.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Lebih cepat, terlacak, dan tanpa belanja pengadaan</a:t>
            </a:r>
            <a:endParaRPr lang="en-US" sz="2800" dirty="0"/>
          </a:p>
        </p:txBody>
      </p:sp>
      <p:sp>
        <p:nvSpPr>
          <p:cNvPr id="4" name="pembanding"/>
          <p:cNvSpPr/>
          <p:nvPr/>
        </p:nvSpPr>
        <p:spPr>
          <a:xfrm>
            <a:off x="548640" y="1645920"/>
            <a:ext cx="4572000" cy="4343400"/>
          </a:xfrm>
          <a:prstGeom prst="roundRect">
            <a:avLst>
              <a:gd name="adj" fmla="val 2526"/>
            </a:avLst>
          </a:prstGeom>
          <a:solidFill>
            <a:schemeClr val="tx2"/>
          </a:solidFill>
          <a:ln w="9525">
            <a:solidFill>
              <a:schemeClr val="tx2"/>
            </a:solidFill>
            <a:prstDash val="solid"/>
          </a:ln>
        </p:spPr>
      </p:sp>
      <p:sp>
        <p:nvSpPr>
          <p:cNvPr id="5" name="Text 3"/>
          <p:cNvSpPr txBox="1"/>
          <p:nvPr/>
        </p:nvSpPr>
        <p:spPr>
          <a:xfrm>
            <a:off x="868680" y="1874520"/>
            <a:ext cx="3931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DARI PENGAJUAN SAMPAI TAYANG</a:t>
            </a:r>
            <a:endParaRPr lang="en-US" sz="1200" dirty="0"/>
          </a:p>
        </p:txBody>
      </p:sp>
      <p:sp>
        <p:nvSpPr>
          <p:cNvPr id="6" name="Text 4"/>
          <p:cNvSpPr txBox="1"/>
          <p:nvPr/>
        </p:nvSpPr>
        <p:spPr>
          <a:xfrm>
            <a:off x="868680" y="2240280"/>
            <a:ext cx="4023360" cy="1051560"/>
          </a:xfrm>
          <a:prstGeom prst="rect">
            <a:avLst/>
          </a:prstGeom>
          <a:noFill/>
          <a:ln/>
        </p:spPr>
        <p:txBody>
          <a:bodyPr wrap="square" lIns="0" tIns="0" rIns="0" bIns="0" rtlCol="0" anchor="t"/>
          <a:lstStyle/>
          <a:p>
            <a:pPr indent="0" marL="0">
              <a:buNone/>
            </a:pPr>
            <a:r>
              <a:rPr lang="en-US" sz="6600" b="1" dirty="0">
                <a:solidFill>
                  <a:schemeClr val="bg1"/>
                </a:solidFill>
              </a:rPr>
              <a:t>1,99 jam</a:t>
            </a:r>
            <a:endParaRPr lang="en-US" sz="6600" dirty="0"/>
          </a:p>
        </p:txBody>
      </p:sp>
      <p:sp>
        <p:nvSpPr>
          <p:cNvPr id="7" name="Text 5"/>
          <p:cNvSpPr txBox="1"/>
          <p:nvPr/>
        </p:nvSpPr>
        <p:spPr>
          <a:xfrm>
            <a:off x="868680" y="3291840"/>
            <a:ext cx="3931920" cy="320040"/>
          </a:xfrm>
          <a:prstGeom prst="rect">
            <a:avLst/>
          </a:prstGeom>
          <a:noFill/>
          <a:ln/>
        </p:spPr>
        <p:txBody>
          <a:bodyPr wrap="square" lIns="0" tIns="0" rIns="0" bIns="0" rtlCol="0" anchor="t"/>
          <a:lstStyle/>
          <a:p>
            <a:pPr indent="0" marL="0">
              <a:buNone/>
            </a:pPr>
            <a:r>
              <a:rPr lang="en-US" sz="1500" dirty="0">
                <a:solidFill>
                  <a:schemeClr val="accent6"/>
                </a:solidFill>
              </a:rPr>
              <a:t>median sesudah Prokopim Hibot</a:t>
            </a:r>
            <a:endParaRPr lang="en-US" sz="1500" dirty="0"/>
          </a:p>
        </p:txBody>
      </p:sp>
      <p:sp>
        <p:nvSpPr>
          <p:cNvPr id="8" name="Shape 6"/>
          <p:cNvSpPr/>
          <p:nvPr/>
        </p:nvSpPr>
        <p:spPr>
          <a:xfrm>
            <a:off x="868680" y="3840480"/>
            <a:ext cx="3931920" cy="0"/>
          </a:xfrm>
          <a:prstGeom prst="line">
            <a:avLst/>
          </a:prstGeom>
          <a:noFill/>
          <a:ln w="12700">
            <a:solidFill>
              <a:srgbClr val="2A3B57"/>
            </a:solidFill>
            <a:prstDash val="solid"/>
          </a:ln>
        </p:spPr>
      </p:sp>
      <p:sp>
        <p:nvSpPr>
          <p:cNvPr id="9" name="Text 7"/>
          <p:cNvSpPr txBox="1"/>
          <p:nvPr/>
        </p:nvSpPr>
        <p:spPr>
          <a:xfrm>
            <a:off x="868680" y="4023360"/>
            <a:ext cx="3931920" cy="640080"/>
          </a:xfrm>
          <a:prstGeom prst="rect">
            <a:avLst/>
          </a:prstGeom>
          <a:noFill/>
          <a:ln/>
        </p:spPr>
        <p:txBody>
          <a:bodyPr wrap="square" lIns="0" tIns="0" rIns="0" bIns="0" rtlCol="0" anchor="t"/>
          <a:lstStyle/>
          <a:p>
            <a:pPr indent="0" marL="0">
              <a:buNone/>
            </a:pPr>
            <a:r>
              <a:rPr lang="en-US" sz="3400" b="1" dirty="0">
                <a:solidFill>
                  <a:schemeClr val="accent6"/>
                </a:solidFill>
              </a:rPr>
              <a:t>±18–24 jam</a:t>
            </a:r>
            <a:endParaRPr lang="en-US" sz="3400" dirty="0"/>
          </a:p>
        </p:txBody>
      </p:sp>
      <p:sp>
        <p:nvSpPr>
          <p:cNvPr id="10" name="Text 8"/>
          <p:cNvSpPr txBox="1"/>
          <p:nvPr/>
        </p:nvSpPr>
        <p:spPr>
          <a:xfrm>
            <a:off x="868680" y="4663440"/>
            <a:ext cx="3931920" cy="320040"/>
          </a:xfrm>
          <a:prstGeom prst="rect">
            <a:avLst/>
          </a:prstGeom>
          <a:noFill/>
          <a:ln/>
        </p:spPr>
        <p:txBody>
          <a:bodyPr wrap="square" lIns="0" tIns="0" rIns="0" bIns="0" rtlCol="0" anchor="t"/>
          <a:lstStyle/>
          <a:p>
            <a:pPr indent="0" marL="0">
              <a:buNone/>
            </a:pPr>
            <a:r>
              <a:rPr lang="en-US" sz="1400" dirty="0">
                <a:solidFill>
                  <a:schemeClr val="accent6"/>
                </a:solidFill>
              </a:rPr>
              <a:t>perkiraan alur lama (tidak pernah dicatat)</a:t>
            </a:r>
            <a:endParaRPr lang="en-US" sz="1400" dirty="0"/>
          </a:p>
        </p:txBody>
      </p:sp>
      <p:sp>
        <p:nvSpPr>
          <p:cNvPr id="11" name="Text 9"/>
          <p:cNvSpPr txBox="1"/>
          <p:nvPr/>
        </p:nvSpPr>
        <p:spPr>
          <a:xfrm>
            <a:off x="868680" y="5212080"/>
            <a:ext cx="3931920" cy="457200"/>
          </a:xfrm>
          <a:prstGeom prst="rect">
            <a:avLst/>
          </a:prstGeom>
          <a:noFill/>
          <a:ln/>
        </p:spPr>
        <p:txBody>
          <a:bodyPr wrap="square" lIns="0" tIns="0" rIns="0" bIns="0" rtlCol="0" anchor="t"/>
          <a:lstStyle/>
          <a:p>
            <a:pPr indent="0" marL="0">
              <a:buNone/>
            </a:pPr>
            <a:r>
              <a:rPr lang="en-US" sz="1800" b="1" dirty="0">
                <a:solidFill>
                  <a:schemeClr val="accent1"/>
                </a:solidFill>
              </a:rPr>
              <a:t>99,3% tayang kurang dari 24 jam</a:t>
            </a:r>
            <a:endParaRPr lang="en-US" sz="1800" dirty="0"/>
          </a:p>
        </p:txBody>
      </p:sp>
      <p:sp>
        <p:nvSpPr>
          <p:cNvPr id="12" name="angka1"/>
          <p:cNvSpPr/>
          <p:nvPr/>
        </p:nvSpPr>
        <p:spPr>
          <a:xfrm>
            <a:off x="5486400" y="1645920"/>
            <a:ext cx="2964028" cy="1280160"/>
          </a:xfrm>
          <a:prstGeom prst="roundRect">
            <a:avLst>
              <a:gd name="adj" fmla="val 8571"/>
            </a:avLst>
          </a:prstGeom>
          <a:solidFill>
            <a:schemeClr val="bg2"/>
          </a:solidFill>
          <a:ln w="9525">
            <a:solidFill>
              <a:schemeClr val="bg2"/>
            </a:solidFill>
            <a:prstDash val="solid"/>
          </a:ln>
        </p:spPr>
      </p:sp>
      <p:sp>
        <p:nvSpPr>
          <p:cNvPr id="13" name="Text 11"/>
          <p:cNvSpPr txBox="1"/>
          <p:nvPr/>
        </p:nvSpPr>
        <p:spPr>
          <a:xfrm>
            <a:off x="5715000"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8 menit</a:t>
            </a:r>
            <a:endParaRPr lang="en-US" sz="3000" dirty="0"/>
          </a:p>
        </p:txBody>
      </p:sp>
      <p:sp>
        <p:nvSpPr>
          <p:cNvPr id="14" name="Text 12"/>
          <p:cNvSpPr txBox="1"/>
          <p:nvPr/>
        </p:nvSpPr>
        <p:spPr>
          <a:xfrm>
            <a:off x="5715000"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median keputusan Kepala Bagian</a:t>
            </a:r>
            <a:endParaRPr lang="en-US" sz="1300" dirty="0"/>
          </a:p>
        </p:txBody>
      </p:sp>
      <p:sp>
        <p:nvSpPr>
          <p:cNvPr id="15" name="angka2"/>
          <p:cNvSpPr/>
          <p:nvPr/>
        </p:nvSpPr>
        <p:spPr>
          <a:xfrm>
            <a:off x="8679028" y="1645920"/>
            <a:ext cx="2964028" cy="1280160"/>
          </a:xfrm>
          <a:prstGeom prst="roundRect">
            <a:avLst>
              <a:gd name="adj" fmla="val 8571"/>
            </a:avLst>
          </a:prstGeom>
          <a:solidFill>
            <a:schemeClr val="bg2"/>
          </a:solidFill>
          <a:ln w="9525">
            <a:solidFill>
              <a:schemeClr val="bg2"/>
            </a:solidFill>
            <a:prstDash val="solid"/>
          </a:ln>
        </p:spPr>
      </p:sp>
      <p:sp>
        <p:nvSpPr>
          <p:cNvPr id="16" name="Text 14"/>
          <p:cNvSpPr txBox="1"/>
          <p:nvPr/>
        </p:nvSpPr>
        <p:spPr>
          <a:xfrm>
            <a:off x="8907628"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47,5%</a:t>
            </a:r>
            <a:endParaRPr lang="en-US" sz="3000" dirty="0"/>
          </a:p>
        </p:txBody>
      </p:sp>
      <p:sp>
        <p:nvSpPr>
          <p:cNvPr id="17" name="Text 15"/>
          <p:cNvSpPr txBox="1"/>
          <p:nvPr/>
        </p:nvSpPr>
        <p:spPr>
          <a:xfrm>
            <a:off x="8907628"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telaah dan persetujuan di luar jam kerja (405 dari 852)</a:t>
            </a:r>
            <a:endParaRPr lang="en-US" sz="1300" dirty="0"/>
          </a:p>
        </p:txBody>
      </p:sp>
      <p:sp>
        <p:nvSpPr>
          <p:cNvPr id="18" name="angka3"/>
          <p:cNvSpPr/>
          <p:nvPr/>
        </p:nvSpPr>
        <p:spPr>
          <a:xfrm>
            <a:off x="5486400" y="3172968"/>
            <a:ext cx="2964028" cy="1280160"/>
          </a:xfrm>
          <a:prstGeom prst="roundRect">
            <a:avLst>
              <a:gd name="adj" fmla="val 8571"/>
            </a:avLst>
          </a:prstGeom>
          <a:solidFill>
            <a:schemeClr val="bg2"/>
          </a:solidFill>
          <a:ln w="9525">
            <a:solidFill>
              <a:schemeClr val="bg2"/>
            </a:solidFill>
            <a:prstDash val="solid"/>
          </a:ln>
        </p:spPr>
      </p:sp>
      <p:sp>
        <p:nvSpPr>
          <p:cNvPr id="19" name="Text 17"/>
          <p:cNvSpPr txBox="1"/>
          <p:nvPr/>
        </p:nvSpPr>
        <p:spPr>
          <a:xfrm>
            <a:off x="5715000"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3.072</a:t>
            </a:r>
            <a:endParaRPr lang="en-US" sz="3000" dirty="0"/>
          </a:p>
        </p:txBody>
      </p:sp>
      <p:sp>
        <p:nvSpPr>
          <p:cNvPr id="20" name="Text 18"/>
          <p:cNvSpPr txBox="1"/>
          <p:nvPr/>
        </p:nvSpPr>
        <p:spPr>
          <a:xfrm>
            <a:off x="5715000"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peristiwa jejak audit pada 438 kegiatan</a:t>
            </a:r>
            <a:endParaRPr lang="en-US" sz="1300" dirty="0"/>
          </a:p>
        </p:txBody>
      </p:sp>
      <p:sp>
        <p:nvSpPr>
          <p:cNvPr id="21" name="angka4"/>
          <p:cNvSpPr/>
          <p:nvPr/>
        </p:nvSpPr>
        <p:spPr>
          <a:xfrm>
            <a:off x="8679028" y="3172968"/>
            <a:ext cx="2964028" cy="1280160"/>
          </a:xfrm>
          <a:prstGeom prst="roundRect">
            <a:avLst>
              <a:gd name="adj" fmla="val 8571"/>
            </a:avLst>
          </a:prstGeom>
          <a:solidFill>
            <a:schemeClr val="bg2"/>
          </a:solidFill>
          <a:ln w="9525">
            <a:solidFill>
              <a:schemeClr val="bg2"/>
            </a:solidFill>
            <a:prstDash val="solid"/>
          </a:ln>
        </p:spPr>
      </p:sp>
      <p:sp>
        <p:nvSpPr>
          <p:cNvPr id="22" name="Text 20"/>
          <p:cNvSpPr txBox="1"/>
          <p:nvPr/>
        </p:nvSpPr>
        <p:spPr>
          <a:xfrm>
            <a:off x="8907628"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92,4%</a:t>
            </a:r>
            <a:endParaRPr lang="en-US" sz="3000" dirty="0"/>
          </a:p>
        </p:txBody>
      </p:sp>
      <p:sp>
        <p:nvSpPr>
          <p:cNvPr id="23" name="Text 21"/>
          <p:cNvSpPr txBox="1"/>
          <p:nvPr/>
        </p:nvSpPr>
        <p:spPr>
          <a:xfrm>
            <a:off x="8907628"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memiliki penugasan petugas</a:t>
            </a:r>
            <a:endParaRPr lang="en-US" sz="1300" dirty="0"/>
          </a:p>
        </p:txBody>
      </p:sp>
      <p:sp>
        <p:nvSpPr>
          <p:cNvPr id="24" name="angka5"/>
          <p:cNvSpPr/>
          <p:nvPr/>
        </p:nvSpPr>
        <p:spPr>
          <a:xfrm>
            <a:off x="5486400" y="4700016"/>
            <a:ext cx="2964028" cy="1280160"/>
          </a:xfrm>
          <a:prstGeom prst="roundRect">
            <a:avLst>
              <a:gd name="adj" fmla="val 8571"/>
            </a:avLst>
          </a:prstGeom>
          <a:solidFill>
            <a:schemeClr val="bg2"/>
          </a:solidFill>
          <a:ln w="9525">
            <a:solidFill>
              <a:schemeClr val="bg2"/>
            </a:solidFill>
            <a:prstDash val="solid"/>
          </a:ln>
        </p:spPr>
      </p:sp>
      <p:sp>
        <p:nvSpPr>
          <p:cNvPr id="25" name="Text 23"/>
          <p:cNvSpPr txBox="1"/>
          <p:nvPr/>
        </p:nvSpPr>
        <p:spPr>
          <a:xfrm>
            <a:off x="5715000"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589</a:t>
            </a:r>
            <a:endParaRPr lang="en-US" sz="3000" dirty="0"/>
          </a:p>
        </p:txBody>
      </p:sp>
      <p:sp>
        <p:nvSpPr>
          <p:cNvPr id="26" name="Text 24"/>
          <p:cNvSpPr txBox="1"/>
          <p:nvPr/>
        </p:nvSpPr>
        <p:spPr>
          <a:xfrm>
            <a:off x="5715000"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terkelola sejak Maret 2026</a:t>
            </a:r>
            <a:endParaRPr lang="en-US" sz="1300" dirty="0"/>
          </a:p>
        </p:txBody>
      </p:sp>
      <p:sp>
        <p:nvSpPr>
          <p:cNvPr id="27" name="angka6"/>
          <p:cNvSpPr/>
          <p:nvPr/>
        </p:nvSpPr>
        <p:spPr>
          <a:xfrm>
            <a:off x="8679028" y="4700016"/>
            <a:ext cx="2964028" cy="1280160"/>
          </a:xfrm>
          <a:prstGeom prst="roundRect">
            <a:avLst>
              <a:gd name="adj" fmla="val 8571"/>
            </a:avLst>
          </a:prstGeom>
          <a:solidFill>
            <a:schemeClr val="bg2"/>
          </a:solidFill>
          <a:ln w="9525">
            <a:solidFill>
              <a:schemeClr val="bg2"/>
            </a:solidFill>
            <a:prstDash val="solid"/>
          </a:ln>
        </p:spPr>
      </p:sp>
      <p:sp>
        <p:nvSpPr>
          <p:cNvPr id="28" name="Text 26"/>
          <p:cNvSpPr txBox="1"/>
          <p:nvPr/>
        </p:nvSpPr>
        <p:spPr>
          <a:xfrm>
            <a:off x="8907628"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Rp0</a:t>
            </a:r>
            <a:endParaRPr lang="en-US" sz="3000" dirty="0"/>
          </a:p>
        </p:txBody>
      </p:sp>
      <p:sp>
        <p:nvSpPr>
          <p:cNvPr id="29" name="Text 27"/>
          <p:cNvSpPr txBox="1"/>
          <p:nvPr/>
        </p:nvSpPr>
        <p:spPr>
          <a:xfrm>
            <a:off x="8907628"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belanja pengadaan</a:t>
            </a:r>
            <a:endParaRPr lang="en-US" sz="1300" dirty="0"/>
          </a:p>
        </p:txBody>
      </p:sp>
      <p:sp>
        <p:nvSpPr>
          <p:cNvPr id="30" name="Text 28"/>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masyarakat</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66</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meminjam ruangan secara daring</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53</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mengajukan audiensi secara daring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i="1" dirty="0">
                <a:solidFill>
                  <a:schemeClr val="tx2"/>
                </a:solidFill>
              </a:rPr>
              <a:t>“Yang dibutuhkan daerah lain hanya peramban, kuota gratis, dan 11 SOP yang siap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2026-10-16T21:55:56Z</dcterms:created>
  <dcterms:modified xsi:type="dcterms:W3CDTF">2026-10-16T21:55:56Z</dcterms:modified>
</cp:coreProperties>
</file>