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790f2907-bd8f-9ec7-d73e-56ca6e968c00}">
          <p14:sldIdLst>
            <p14:sldId id="256"/>
          </p14:sldIdLst>
        </p14:section>
        <p14:section name="Latar belakang" id="{d0f2726b-f8db-7a0e-9fed-56b3732f7329}">
          <p14:sldIdLst>
            <p14:sldId id="257"/>
            <p14:sldId id="258"/>
          </p14:sldIdLst>
        </p14:section>
        <p14:section name="Terobosan inovasi" id="{dff3e7c8-76b9-a962-f91f-efe1dba0caaf}">
          <p14:sldIdLst>
            <p14:sldId id="259"/>
            <p14:sldId id="260"/>
          </p14:sldIdLst>
        </p14:section>
        <p14:section name="Manfaat inovasi" id="{100175e6-670a-fc1e-22ba-bb8866a67550}">
          <p14:sldIdLst>
            <p14:sldId id="261"/>
            <p14:sldId id="262"/>
            <p14:sldId id="263"/>
          </p14:sldIdLst>
        </p14:section>
        <p14:section name="Pemanfaatan sumber daya" id="{53bf8d2d-4813-2aca-d1ef-9c8ceb3c29e8}">
          <p14:sldIdLst>
            <p14:sldId id="264"/>
          </p14:sldIdLst>
        </p14:section>
        <p14:section name="Diseminasi inovasi" id="{739e79be-5ba9-8c76-a527-95f1abf44cca}">
          <p14:sldIdLst>
            <p14:sldId id="265"/>
          </p14:sldIdLst>
        </p14:section>
        <p14:section name="Kompatibilitas" id="{8db2e6f6-0ab7-6672-b5c0-21eb1dfac5ff}">
          <p14:sldIdLst>
            <p14:sldId id="266"/>
          </p14:sldIdLst>
        </p14:section>
        <p14:section name="Penutup" id="{a1406237-c0aa-04f9-cf59-6eaf4ccb0803}">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Izin kami sampaikan Prokopim Hibot, satu alur digital terverifikasi untuk agenda Pimpinan Daerah. (±20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Januari 2026. Tiga lembar disposisi agenda diturunkan; yang sampai ke kami hanya dua. Tidak ada yang lalai, tetapi tidak ada pula yang bisa mengetahuinya. Sebelum Maret 2026: rencana kegiatan di spreadsheet lalu dicetak, penelaahan hanya sempat sekitar 30 menit menjelang jam pulang, disposisi beredar sebagai foto, penugasan bergantung pada ingatan.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Telaah bersama seluruh Bagian sesudah peristiwa Januari menemukan pola yang sama di banyak tempat: penugasan tersimpan dalam ingatan, ruangan hanya tercatat di papan tulis, arsip tersebar. Akarnya satu: tidak ada satu sumber data yang sahih. Data pembanding: dari undangan sampai tayang diperkirakan 18–24 jam.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empat pilihan. Menambah pengawasan tidak menyentuh akar masalah. Merapikan spreadsheet tetap menyisakan banyak versi. Membeli aplikasi jadi butuh anggaran, padahal alur keprotokolan sangat khas. Kami memilih membangun sendiri. Hasilnya satu alur: Admin RK → Kasubbag → Kabag → tayang di HP Pimpinan. Sebut daftar periksa wajib, Pelaksana Harian, dan kanal publik.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Kebaruan ada pada cara aplikasi menjaga mutu keputusan: jejak audit, daftar periksa wajib, Pelaksana Harian bermasa berlaku, pengawasan menurut kegentingan, kanal publik terlacak, dan kalender bersama. Sejak proposal, aplikasi terus dikembangkan dari kendala pengguna (sebut bulannya: Oktober 2026). Lalu: 'Izin kami tunjukkan langsung di aplikasi.' → masuk demo.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menit 30 detik (menit 2:50–6:20 paparan). Admin RK memegang laptop, Kasubbag dan Kabag memegang HP; Kabag memandu. Semua memakai instans demo berdata contoh. Cadangan: video demo luring 3:30 di laptop dan diska lepas. Admin RK memberi isyarat pada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tiga angka saja: 1,99 jam (dari perkiraan 18–24 jam), 99,3 persen tayang kurang dari sehari, dan 47,5 persen penelaahan terjadi di luar jam kerja — artinya pekerjaan tidak lagi menunggu jendela 30 menit. (±50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satu kutipan Wali Kota. Lalu: 62 kegiatan didisposisikan langsung dari aplikasi, 341 konfirmasi ajudan, 66 instansi meminjam ruangan dan 53 instansi mengajukan audiensi tanpa datang berulang. (±25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lebih dulu pertanyaan 'bila Kabag dimutasi': kewenangan melekat pada jabatan, 11 SOP, kode dan riwayat tersimpan lengkap, akun layanan atas nama instansi, pengelola kedua didampingi mulai 2027. Biaya berjalan mendekati nol.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Penyebarluasan: 21 akun di luar Bagian, kanal publik dipakai 66 dan 53 instansi, Tim Koordinasi lintas perangkat daerah. Paket replikasi untuk daerah di Kalimantan Utara Juli–Desember 2027; yang disesuaikan hanya nama jabatan, pengguna, dan tata naskah.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Kompatibilitas: dasar regulasi pelayanan publik, keprotokolan, inovasi daerah, SPBE; selaras Misi 3 RPJMD Kaltara dan Misi 4 Kota Tarakan. Aplikasi menyesuaikan cara kerja Pimpinan — contohnya naskah sambutan tetap tercetak.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alur. Satu data. Setiap keputusan tercatat.' Terima kasih. Tawarkan akun juri baca-saja bila juri ingin mencoba.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ASN Pemerintah Kabupaten/Kota</a:t>
            </a:r>
            <a:endParaRPr lang="en-US" sz="1000" dirty="0"/>
          </a:p>
        </p:txBody>
      </p:sp>
      <p:pic>
        <p:nvPicPr>
          <p:cNvPr id="5" name="Image 0" descr="/tmp/claude-0/-home-user-joyful-visuals/b7e05af7-82ac-5fa7-8dd0-336e0ff929be/scratchpa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tmp/claude-0/-home-user-joyful-visuals/b7e05af7-82ac-5fa7-8dd0-336e0ff929be/scratchpa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tmp/claude-0/-home-user-joyful-visuals/b7e05af7-82ac-5fa7-8dd0-336e0ff929be/scratchpa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tmp/claude-0/-home-user-joyful-visuals/b7e05af7-82ac-5fa7-8dd0-336e0ff929be/scratchpa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Text 4"/>
          <p:cNvSpPr txBox="1"/>
          <p:nvPr/>
        </p:nvSpPr>
        <p:spPr>
          <a:xfrm>
            <a:off x="548640" y="4023360"/>
            <a:ext cx="7132320" cy="685800"/>
          </a:xfrm>
          <a:prstGeom prst="rect">
            <a:avLst/>
          </a:prstGeom>
          <a:noFill/>
          <a:ln/>
        </p:spPr>
        <p:txBody>
          <a:bodyPr wrap="square" lIns="0" tIns="0" rIns="0" bIns="0" rtlCol="0" anchor="t"/>
          <a:lstStyle/>
          <a:p>
            <a:pPr indent="0" marL="0">
              <a:spcAft>
                <a:spcPts val="200"/>
              </a:spcAft>
              <a:buNone/>
            </a:pPr>
            <a:r>
              <a:rPr lang="en-US" sz="1500" dirty="0">
                <a:solidFill>
                  <a:schemeClr val="accent6"/>
                </a:solidFill>
              </a:rPr>
              <a:t>Inovasi Terapan – ASN Pemerintah Kabupaten/Kota</a:t>
            </a:r>
            <a:endParaRPr lang="en-US" sz="1500" dirty="0"/>
          </a:p>
          <a:p>
            <a:pPr indent="0" marL="0">
              <a:spcAft>
                <a:spcPts val="200"/>
              </a:spcAft>
              <a:buNone/>
            </a:pPr>
            <a:r>
              <a:rPr lang="en-US" sz="1500" dirty="0">
                <a:solidFill>
                  <a:schemeClr val="accent6"/>
                </a:solidFill>
              </a:rPr>
              <a:t>Bagian Protokol dan Komunikasi Pimpinan, Sekretariat Daerah Kota Tarakan</a:t>
            </a:r>
            <a:endParaRPr lang="en-US" sz="1500" dirty="0"/>
          </a:p>
        </p:txBody>
      </p:sp>
      <p:sp>
        <p:nvSpPr>
          <p:cNvPr id="9" name="Text 5"/>
          <p:cNvSpPr txBox="1"/>
          <p:nvPr/>
        </p:nvSpPr>
        <p:spPr>
          <a:xfrm>
            <a:off x="548640" y="5074920"/>
            <a:ext cx="7132320" cy="685800"/>
          </a:xfrm>
          <a:prstGeom prst="rect">
            <a:avLst/>
          </a:prstGeom>
          <a:noFill/>
          <a:ln/>
        </p:spPr>
        <p:txBody>
          <a:bodyPr wrap="square" lIns="0" tIns="0" rIns="0" bIns="0" rtlCol="0" anchor="t"/>
          <a:lstStyle/>
          <a:p>
            <a:pPr indent="0" marL="0">
              <a:buNone/>
            </a:pPr>
            <a:r>
              <a:rPr lang="en-US" sz="1300" b="1" dirty="0">
                <a:solidFill>
                  <a:schemeClr val="accent1"/>
                </a:solidFill>
              </a:rPr>
              <a:t>Tim Inovasi  </a:t>
            </a:r>
            <a:pPr indent="0" marL="0">
              <a:buNone/>
            </a:pPr>
            <a:r>
              <a:rPr lang="en-US" sz="1300" dirty="0">
                <a:solidFill>
                  <a:schemeClr val="bg1"/>
                </a:solidFill>
              </a:rPr>
              <a:t>Anugrah Yega Pranatha, M.Si. (Ketua)  ·  Saifullah, S.H.  ·  Juliyanti, S.AP.  ·  Mastura, S.Sos.  ·  Ni Kade Sari Handayani, S.AP.</a:t>
            </a:r>
            <a:endParaRPr lang="en-US" sz="1300" dirty="0"/>
          </a:p>
        </p:txBody>
      </p:sp>
      <p:pic>
        <p:nvPicPr>
          <p:cNvPr id="10" name="Image 2" descr="/tmp/claude-0/-home-user-joyful-visuals/b7e05af7-82ac-5fa7-8dd0-336e0ff929be/scratchpa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169164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193852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1874520"/>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1</a:t>
            </a:r>
            <a:endParaRPr lang="en-US" sz="1600" dirty="0"/>
          </a:p>
        </p:txBody>
      </p:sp>
      <p:sp>
        <p:nvSpPr>
          <p:cNvPr id="8" name="Text 6"/>
          <p:cNvSpPr txBox="1"/>
          <p:nvPr/>
        </p:nvSpPr>
        <p:spPr>
          <a:xfrm>
            <a:off x="1508760" y="222199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2898648"/>
            <a:ext cx="4480560" cy="1005840"/>
          </a:xfrm>
          <a:prstGeom prst="roundRect">
            <a:avLst>
              <a:gd name="adj" fmla="val 10909"/>
            </a:avLst>
          </a:prstGeom>
          <a:solidFill>
            <a:schemeClr val="bg2"/>
          </a:solidFill>
          <a:ln w="9525">
            <a:solidFill>
              <a:schemeClr val="bg2"/>
            </a:solidFill>
            <a:prstDash val="solid"/>
          </a:ln>
        </p:spPr>
      </p:sp>
      <p:sp>
        <p:nvSpPr>
          <p:cNvPr id="10" name="Shape 8"/>
          <p:cNvSpPr/>
          <p:nvPr/>
        </p:nvSpPr>
        <p:spPr>
          <a:xfrm>
            <a:off x="777240" y="3145536"/>
            <a:ext cx="512064" cy="512064"/>
          </a:xfrm>
          <a:prstGeom prst="ellipse">
            <a:avLst/>
          </a:prstGeom>
          <a:solidFill>
            <a:schemeClr val="accent3"/>
          </a:solidFill>
          <a:ln w="12700">
            <a:solidFill>
              <a:schemeClr val="accent3"/>
            </a:solidFill>
            <a:prstDash val="solid"/>
          </a:ln>
        </p:spPr>
      </p:sp>
      <p:sp>
        <p:nvSpPr>
          <p:cNvPr id="11" name="Text 9"/>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081528"/>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2</a:t>
            </a:r>
            <a:endParaRPr lang="en-US" sz="1600" dirty="0"/>
          </a:p>
        </p:txBody>
      </p:sp>
      <p:sp>
        <p:nvSpPr>
          <p:cNvPr id="13" name="Text 11"/>
          <p:cNvSpPr txBox="1"/>
          <p:nvPr/>
        </p:nvSpPr>
        <p:spPr>
          <a:xfrm>
            <a:off x="1508760" y="3429000"/>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14" name="lembar3"/>
          <p:cNvSpPr/>
          <p:nvPr/>
        </p:nvSpPr>
        <p:spPr>
          <a:xfrm>
            <a:off x="548640" y="4105656"/>
            <a:ext cx="4480560" cy="1005840"/>
          </a:xfrm>
          <a:prstGeom prst="roundRect">
            <a:avLst>
              <a:gd name="adj" fmla="val 10909"/>
            </a:avLst>
          </a:prstGeom>
          <a:solidFill>
            <a:srgbClr val="FDECEC"/>
          </a:solidFill>
          <a:ln w="19050">
            <a:solidFill>
              <a:schemeClr val="accent4"/>
            </a:solidFill>
            <a:prstDash val="solid"/>
          </a:ln>
        </p:spPr>
      </p:sp>
      <p:sp>
        <p:nvSpPr>
          <p:cNvPr id="15" name="Shape 13"/>
          <p:cNvSpPr/>
          <p:nvPr/>
        </p:nvSpPr>
        <p:spPr>
          <a:xfrm>
            <a:off x="777240" y="4352544"/>
            <a:ext cx="512064" cy="512064"/>
          </a:xfrm>
          <a:prstGeom prst="ellipse">
            <a:avLst/>
          </a:prstGeom>
          <a:solidFill>
            <a:schemeClr val="accent4"/>
          </a:solidFill>
          <a:ln w="12700">
            <a:solidFill>
              <a:schemeClr val="accent4"/>
            </a:solidFill>
            <a:prstDash val="solid"/>
          </a:ln>
        </p:spPr>
      </p:sp>
      <p:sp>
        <p:nvSpPr>
          <p:cNvPr id="16" name="Text 14"/>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Text 15"/>
          <p:cNvSpPr txBox="1"/>
          <p:nvPr/>
        </p:nvSpPr>
        <p:spPr>
          <a:xfrm>
            <a:off x="1508760" y="4288536"/>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3</a:t>
            </a:r>
            <a:endParaRPr lang="en-US" sz="1600" dirty="0"/>
          </a:p>
        </p:txBody>
      </p:sp>
      <p:sp>
        <p:nvSpPr>
          <p:cNvPr id="18" name="Text 16"/>
          <p:cNvSpPr txBox="1"/>
          <p:nvPr/>
        </p:nvSpPr>
        <p:spPr>
          <a:xfrm>
            <a:off x="1508760" y="4636008"/>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9" name="Text 17"/>
          <p:cNvSpPr txBox="1"/>
          <p:nvPr/>
        </p:nvSpPr>
        <p:spPr>
          <a:xfrm>
            <a:off x="548640" y="544068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20" name="Text 18"/>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Dari undangan sampai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Tidak menyentuh akar masalah</a:t>
            </a:r>
            <a:endParaRPr lang="en-US" sz="12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Tetap banyak versi, tanpa jejak keputusan</a:t>
            </a:r>
            <a:endParaRPr lang="en-US" sz="12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Butuh anggaran; alur keprotokolan sangat khas</a:t>
            </a:r>
            <a:endParaRPr lang="en-US" sz="12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200" dirty="0">
                <a:solidFill>
                  <a:schemeClr val="accent1"/>
                </a:solidFill>
              </a:rPr>
              <a:t>Dipilih — tanpa anggaran pengadaan</a:t>
            </a:r>
            <a:endParaRPr lang="en-US" sz="12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median 8 menit</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Siapa, kapan, apa keputusannya — 3.072 peristiwa</a:t>
            </a:r>
            <a:endParaRPr lang="en-US" sz="12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Tombol setuju baru aktif sesudah butir dicentang</a:t>
            </a:r>
            <a:endParaRPr lang="en-US" sz="12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Kewenangan padam sendiri pada tanggal akhirnya</a:t>
            </a:r>
            <a:endParaRPr lang="en-US" sz="12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Usulan tertahan ditandai menurut umur dan hari H</a:t>
            </a:r>
            <a:endParaRPr lang="en-US" sz="12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Pemohon memantau sendiri dengan kode penelusuran</a:t>
            </a:r>
            <a:endParaRPr lang="en-US" sz="12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Agenda tersetujui tampil sendiri di Google Calendar</a:t>
            </a:r>
            <a:endParaRPr lang="en-US" sz="12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Kanal publik</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Ajukan audiensi → kode penelusuran</a:t>
            </a:r>
            <a:endParaRPr lang="en-US" sz="1400" dirty="0"/>
          </a:p>
        </p:txBody>
      </p:sp>
      <p:sp>
        <p:nvSpPr>
          <p:cNvPr id="34" name="demo7"/>
          <p:cNvSpPr/>
          <p:nvPr/>
        </p:nvSpPr>
        <p:spPr>
          <a:xfrm>
            <a:off x="6233008" y="3840480"/>
            <a:ext cx="2567864" cy="1828800"/>
          </a:xfrm>
          <a:prstGeom prst="roundRect">
            <a:avLst>
              <a:gd name="adj" fmla="val 6000"/>
            </a:avLst>
          </a:prstGeom>
          <a:solidFill>
            <a:srgbClr val="13233F"/>
          </a:solidFill>
          <a:ln w="9525">
            <a:solidFill>
              <a:srgbClr val="2A3B57"/>
            </a:solidFill>
            <a:prstDash val="solid"/>
          </a:ln>
        </p:spPr>
      </p:sp>
      <p:sp>
        <p:nvSpPr>
          <p:cNvPr id="35" name="Shape 33"/>
          <p:cNvSpPr/>
          <p:nvPr/>
        </p:nvSpPr>
        <p:spPr>
          <a:xfrm>
            <a:off x="6434176" y="4041648"/>
            <a:ext cx="457200" cy="457200"/>
          </a:xfrm>
          <a:prstGeom prst="ellipse">
            <a:avLst/>
          </a:prstGeom>
          <a:solidFill>
            <a:schemeClr val="accent1"/>
          </a:solidFill>
          <a:ln w="12700">
            <a:solidFill>
              <a:schemeClr val="accent1"/>
            </a:solidFill>
            <a:prstDash val="solid"/>
          </a:ln>
        </p:spPr>
      </p:sp>
      <p:sp>
        <p:nvSpPr>
          <p:cNvPr id="36" name="Text 34"/>
          <p:cNvSpPr txBox="1"/>
          <p:nvPr/>
        </p:nvSpPr>
        <p:spPr>
          <a:xfrm>
            <a:off x="6434176"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7</a:t>
            </a:r>
            <a:endParaRPr lang="en-US" sz="1400" dirty="0"/>
          </a:p>
        </p:txBody>
      </p:sp>
      <p:sp>
        <p:nvSpPr>
          <p:cNvPr id="37" name="Text 35"/>
          <p:cNvSpPr txBox="1"/>
          <p:nvPr/>
        </p:nvSpPr>
        <p:spPr>
          <a:xfrm>
            <a:off x="7037680"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8" name="Text 36"/>
          <p:cNvSpPr txBox="1"/>
          <p:nvPr/>
        </p:nvSpPr>
        <p:spPr>
          <a:xfrm>
            <a:off x="6434176"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tanda terima terkirim</a:t>
            </a:r>
            <a:endParaRPr lang="en-US" sz="1400" dirty="0"/>
          </a:p>
        </p:txBody>
      </p:sp>
      <p:sp>
        <p:nvSpPr>
          <p:cNvPr id="39" name="Text 37"/>
          <p:cNvSpPr txBox="1"/>
          <p:nvPr/>
        </p:nvSpPr>
        <p:spPr>
          <a:xfrm>
            <a:off x="9075191" y="3931920"/>
            <a:ext cx="2567864" cy="1463040"/>
          </a:xfrm>
          <a:prstGeom prst="rect">
            <a:avLst/>
          </a:prstGeom>
          <a:noFill/>
          <a:ln/>
        </p:spPr>
        <p:txBody>
          <a:bodyPr wrap="square" lIns="0" tIns="0" rIns="0" bIns="0" rtlCol="0" anchor="t"/>
          <a:lstStyle/>
          <a:p>
            <a:pPr indent="0" marL="0">
              <a:spcAft>
                <a:spcPts val="600"/>
              </a:spcAft>
              <a:buNone/>
            </a:pPr>
            <a:r>
              <a:rPr lang="en-US" sz="1400" i="1" dirty="0">
                <a:solidFill>
                  <a:schemeClr val="accent1"/>
                </a:solidFill>
              </a:rPr>
              <a:t>Langkah 1–4: satu alur sampai ke Pimpinan.</a:t>
            </a:r>
            <a:endParaRPr lang="en-US" sz="1400" dirty="0"/>
          </a:p>
          <a:p>
            <a:pPr indent="0" marL="0">
              <a:spcAft>
                <a:spcPts val="600"/>
              </a:spcAft>
              <a:buNone/>
            </a:pPr>
            <a:r>
              <a:rPr lang="en-US" sz="1400" i="1" dirty="0">
                <a:solidFill>
                  <a:schemeClr val="accent1"/>
                </a:solidFill>
              </a:rPr>
              <a:t>Langkah 5–7: setiap keputusan dan pesan tercatat.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Lebih cepat, terlacak, dan tanpa belanja pengadaan</a:t>
            </a:r>
            <a:endParaRPr lang="en-US" sz="2800" dirty="0"/>
          </a:p>
        </p:txBody>
      </p:sp>
      <p:sp>
        <p:nvSpPr>
          <p:cNvPr id="4" name="pembanding"/>
          <p:cNvSpPr/>
          <p:nvPr/>
        </p:nvSpPr>
        <p:spPr>
          <a:xfrm>
            <a:off x="548640" y="1645920"/>
            <a:ext cx="4572000" cy="4343400"/>
          </a:xfrm>
          <a:prstGeom prst="roundRect">
            <a:avLst>
              <a:gd name="adj" fmla="val 2526"/>
            </a:avLst>
          </a:prstGeom>
          <a:solidFill>
            <a:schemeClr val="tx2"/>
          </a:solidFill>
          <a:ln w="9525">
            <a:solidFill>
              <a:schemeClr val="tx2"/>
            </a:solidFill>
            <a:prstDash val="solid"/>
          </a:ln>
        </p:spPr>
      </p:sp>
      <p:sp>
        <p:nvSpPr>
          <p:cNvPr id="5" name="Text 3"/>
          <p:cNvSpPr txBox="1"/>
          <p:nvPr/>
        </p:nvSpPr>
        <p:spPr>
          <a:xfrm>
            <a:off x="868680" y="1874520"/>
            <a:ext cx="393192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DARI PENGAJUAN SAMPAI TAYANG</a:t>
            </a:r>
            <a:endParaRPr lang="en-US" sz="1200" dirty="0"/>
          </a:p>
        </p:txBody>
      </p:sp>
      <p:sp>
        <p:nvSpPr>
          <p:cNvPr id="6" name="Text 4"/>
          <p:cNvSpPr txBox="1"/>
          <p:nvPr/>
        </p:nvSpPr>
        <p:spPr>
          <a:xfrm>
            <a:off x="868680" y="2240280"/>
            <a:ext cx="4023360" cy="1051560"/>
          </a:xfrm>
          <a:prstGeom prst="rect">
            <a:avLst/>
          </a:prstGeom>
          <a:noFill/>
          <a:ln/>
        </p:spPr>
        <p:txBody>
          <a:bodyPr wrap="square" lIns="0" tIns="0" rIns="0" bIns="0" rtlCol="0" anchor="t"/>
          <a:lstStyle/>
          <a:p>
            <a:pPr indent="0" marL="0">
              <a:buNone/>
            </a:pPr>
            <a:r>
              <a:rPr lang="en-US" sz="6600" b="1" dirty="0">
                <a:solidFill>
                  <a:schemeClr val="bg1"/>
                </a:solidFill>
              </a:rPr>
              <a:t>1,99 jam</a:t>
            </a:r>
            <a:endParaRPr lang="en-US" sz="6600" dirty="0"/>
          </a:p>
        </p:txBody>
      </p:sp>
      <p:sp>
        <p:nvSpPr>
          <p:cNvPr id="7" name="Text 5"/>
          <p:cNvSpPr txBox="1"/>
          <p:nvPr/>
        </p:nvSpPr>
        <p:spPr>
          <a:xfrm>
            <a:off x="868680" y="3291840"/>
            <a:ext cx="3931920" cy="320040"/>
          </a:xfrm>
          <a:prstGeom prst="rect">
            <a:avLst/>
          </a:prstGeom>
          <a:noFill/>
          <a:ln/>
        </p:spPr>
        <p:txBody>
          <a:bodyPr wrap="square" lIns="0" tIns="0" rIns="0" bIns="0" rtlCol="0" anchor="t"/>
          <a:lstStyle/>
          <a:p>
            <a:pPr indent="0" marL="0">
              <a:buNone/>
            </a:pPr>
            <a:r>
              <a:rPr lang="en-US" sz="1500" dirty="0">
                <a:solidFill>
                  <a:schemeClr val="accent6"/>
                </a:solidFill>
              </a:rPr>
              <a:t>median sesudah Prokopim Hibot</a:t>
            </a:r>
            <a:endParaRPr lang="en-US" sz="1500" dirty="0"/>
          </a:p>
        </p:txBody>
      </p:sp>
      <p:sp>
        <p:nvSpPr>
          <p:cNvPr id="8" name="Shape 6"/>
          <p:cNvSpPr/>
          <p:nvPr/>
        </p:nvSpPr>
        <p:spPr>
          <a:xfrm>
            <a:off x="868680" y="3840480"/>
            <a:ext cx="3931920" cy="0"/>
          </a:xfrm>
          <a:prstGeom prst="line">
            <a:avLst/>
          </a:prstGeom>
          <a:noFill/>
          <a:ln w="12700">
            <a:solidFill>
              <a:srgbClr val="2A3B57"/>
            </a:solidFill>
            <a:prstDash val="solid"/>
          </a:ln>
        </p:spPr>
      </p:sp>
      <p:sp>
        <p:nvSpPr>
          <p:cNvPr id="9" name="Text 7"/>
          <p:cNvSpPr txBox="1"/>
          <p:nvPr/>
        </p:nvSpPr>
        <p:spPr>
          <a:xfrm>
            <a:off x="868680" y="4023360"/>
            <a:ext cx="3931920" cy="640080"/>
          </a:xfrm>
          <a:prstGeom prst="rect">
            <a:avLst/>
          </a:prstGeom>
          <a:noFill/>
          <a:ln/>
        </p:spPr>
        <p:txBody>
          <a:bodyPr wrap="square" lIns="0" tIns="0" rIns="0" bIns="0" rtlCol="0" anchor="t"/>
          <a:lstStyle/>
          <a:p>
            <a:pPr indent="0" marL="0">
              <a:buNone/>
            </a:pPr>
            <a:r>
              <a:rPr lang="en-US" sz="3400" b="1" dirty="0">
                <a:solidFill>
                  <a:schemeClr val="accent6"/>
                </a:solidFill>
              </a:rPr>
              <a:t>±18–24 jam</a:t>
            </a:r>
            <a:endParaRPr lang="en-US" sz="3400" dirty="0"/>
          </a:p>
        </p:txBody>
      </p:sp>
      <p:sp>
        <p:nvSpPr>
          <p:cNvPr id="10" name="Text 8"/>
          <p:cNvSpPr txBox="1"/>
          <p:nvPr/>
        </p:nvSpPr>
        <p:spPr>
          <a:xfrm>
            <a:off x="868680" y="4663440"/>
            <a:ext cx="3931920" cy="320040"/>
          </a:xfrm>
          <a:prstGeom prst="rect">
            <a:avLst/>
          </a:prstGeom>
          <a:noFill/>
          <a:ln/>
        </p:spPr>
        <p:txBody>
          <a:bodyPr wrap="square" lIns="0" tIns="0" rIns="0" bIns="0" rtlCol="0" anchor="t"/>
          <a:lstStyle/>
          <a:p>
            <a:pPr indent="0" marL="0">
              <a:buNone/>
            </a:pPr>
            <a:r>
              <a:rPr lang="en-US" sz="1400" dirty="0">
                <a:solidFill>
                  <a:schemeClr val="accent6"/>
                </a:solidFill>
              </a:rPr>
              <a:t>perkiraan alur lama (tidak pernah dicatat)</a:t>
            </a:r>
            <a:endParaRPr lang="en-US" sz="1400" dirty="0"/>
          </a:p>
        </p:txBody>
      </p:sp>
      <p:sp>
        <p:nvSpPr>
          <p:cNvPr id="11" name="Text 9"/>
          <p:cNvSpPr txBox="1"/>
          <p:nvPr/>
        </p:nvSpPr>
        <p:spPr>
          <a:xfrm>
            <a:off x="868680" y="5212080"/>
            <a:ext cx="3931920" cy="457200"/>
          </a:xfrm>
          <a:prstGeom prst="rect">
            <a:avLst/>
          </a:prstGeom>
          <a:noFill/>
          <a:ln/>
        </p:spPr>
        <p:txBody>
          <a:bodyPr wrap="square" lIns="0" tIns="0" rIns="0" bIns="0" rtlCol="0" anchor="t"/>
          <a:lstStyle/>
          <a:p>
            <a:pPr indent="0" marL="0">
              <a:buNone/>
            </a:pPr>
            <a:r>
              <a:rPr lang="en-US" sz="1800" b="1" dirty="0">
                <a:solidFill>
                  <a:schemeClr val="accent1"/>
                </a:solidFill>
              </a:rPr>
              <a:t>99,3% tayang kurang dari 24 jam</a:t>
            </a:r>
            <a:endParaRPr lang="en-US" sz="1800" dirty="0"/>
          </a:p>
        </p:txBody>
      </p:sp>
      <p:sp>
        <p:nvSpPr>
          <p:cNvPr id="12" name="angka1"/>
          <p:cNvSpPr/>
          <p:nvPr/>
        </p:nvSpPr>
        <p:spPr>
          <a:xfrm>
            <a:off x="5486400" y="1645920"/>
            <a:ext cx="2964028" cy="1280160"/>
          </a:xfrm>
          <a:prstGeom prst="roundRect">
            <a:avLst>
              <a:gd name="adj" fmla="val 8571"/>
            </a:avLst>
          </a:prstGeom>
          <a:solidFill>
            <a:schemeClr val="bg2"/>
          </a:solidFill>
          <a:ln w="9525">
            <a:solidFill>
              <a:schemeClr val="bg2"/>
            </a:solidFill>
            <a:prstDash val="solid"/>
          </a:ln>
        </p:spPr>
      </p:sp>
      <p:sp>
        <p:nvSpPr>
          <p:cNvPr id="13" name="Text 11"/>
          <p:cNvSpPr txBox="1"/>
          <p:nvPr/>
        </p:nvSpPr>
        <p:spPr>
          <a:xfrm>
            <a:off x="5715000" y="1783080"/>
            <a:ext cx="2506828" cy="594360"/>
          </a:xfrm>
          <a:prstGeom prst="rect">
            <a:avLst/>
          </a:prstGeom>
          <a:noFill/>
          <a:ln/>
        </p:spPr>
        <p:txBody>
          <a:bodyPr wrap="square" lIns="0" tIns="0" rIns="0" bIns="0" rtlCol="0" anchor="t"/>
          <a:lstStyle/>
          <a:p>
            <a:pPr indent="0" marL="0">
              <a:buNone/>
            </a:pPr>
            <a:r>
              <a:rPr lang="en-US" sz="3000" b="1" dirty="0">
                <a:solidFill>
                  <a:schemeClr val="tx2"/>
                </a:solidFill>
              </a:rPr>
              <a:t>8 menit</a:t>
            </a:r>
            <a:endParaRPr lang="en-US" sz="3000" dirty="0"/>
          </a:p>
        </p:txBody>
      </p:sp>
      <p:sp>
        <p:nvSpPr>
          <p:cNvPr id="14" name="Text 12"/>
          <p:cNvSpPr txBox="1"/>
          <p:nvPr/>
        </p:nvSpPr>
        <p:spPr>
          <a:xfrm>
            <a:off x="5715000" y="2359152"/>
            <a:ext cx="2506828" cy="502920"/>
          </a:xfrm>
          <a:prstGeom prst="rect">
            <a:avLst/>
          </a:prstGeom>
          <a:noFill/>
          <a:ln/>
        </p:spPr>
        <p:txBody>
          <a:bodyPr wrap="square" lIns="0" tIns="0" rIns="0" bIns="0" rtlCol="0" anchor="t"/>
          <a:lstStyle/>
          <a:p>
            <a:pPr indent="0" marL="0">
              <a:buNone/>
            </a:pPr>
            <a:r>
              <a:rPr lang="en-US" sz="1300" dirty="0">
                <a:solidFill>
                  <a:schemeClr val="accent5"/>
                </a:solidFill>
              </a:rPr>
              <a:t>median keputusan Kepala Bagian</a:t>
            </a:r>
            <a:endParaRPr lang="en-US" sz="1300" dirty="0"/>
          </a:p>
        </p:txBody>
      </p:sp>
      <p:sp>
        <p:nvSpPr>
          <p:cNvPr id="15" name="angka2"/>
          <p:cNvSpPr/>
          <p:nvPr/>
        </p:nvSpPr>
        <p:spPr>
          <a:xfrm>
            <a:off x="8679028" y="1645920"/>
            <a:ext cx="2964028" cy="1280160"/>
          </a:xfrm>
          <a:prstGeom prst="roundRect">
            <a:avLst>
              <a:gd name="adj" fmla="val 8571"/>
            </a:avLst>
          </a:prstGeom>
          <a:solidFill>
            <a:schemeClr val="bg2"/>
          </a:solidFill>
          <a:ln w="9525">
            <a:solidFill>
              <a:schemeClr val="bg2"/>
            </a:solidFill>
            <a:prstDash val="solid"/>
          </a:ln>
        </p:spPr>
      </p:sp>
      <p:sp>
        <p:nvSpPr>
          <p:cNvPr id="16" name="Text 14"/>
          <p:cNvSpPr txBox="1"/>
          <p:nvPr/>
        </p:nvSpPr>
        <p:spPr>
          <a:xfrm>
            <a:off x="8907628" y="1783080"/>
            <a:ext cx="2506828" cy="594360"/>
          </a:xfrm>
          <a:prstGeom prst="rect">
            <a:avLst/>
          </a:prstGeom>
          <a:noFill/>
          <a:ln/>
        </p:spPr>
        <p:txBody>
          <a:bodyPr wrap="square" lIns="0" tIns="0" rIns="0" bIns="0" rtlCol="0" anchor="t"/>
          <a:lstStyle/>
          <a:p>
            <a:pPr indent="0" marL="0">
              <a:buNone/>
            </a:pPr>
            <a:r>
              <a:rPr lang="en-US" sz="3000" b="1" dirty="0">
                <a:solidFill>
                  <a:schemeClr val="tx2"/>
                </a:solidFill>
              </a:rPr>
              <a:t>47,5%</a:t>
            </a:r>
            <a:endParaRPr lang="en-US" sz="3000" dirty="0"/>
          </a:p>
        </p:txBody>
      </p:sp>
      <p:sp>
        <p:nvSpPr>
          <p:cNvPr id="17" name="Text 15"/>
          <p:cNvSpPr txBox="1"/>
          <p:nvPr/>
        </p:nvSpPr>
        <p:spPr>
          <a:xfrm>
            <a:off x="8907628" y="2359152"/>
            <a:ext cx="2506828" cy="502920"/>
          </a:xfrm>
          <a:prstGeom prst="rect">
            <a:avLst/>
          </a:prstGeom>
          <a:noFill/>
          <a:ln/>
        </p:spPr>
        <p:txBody>
          <a:bodyPr wrap="square" lIns="0" tIns="0" rIns="0" bIns="0" rtlCol="0" anchor="t"/>
          <a:lstStyle/>
          <a:p>
            <a:pPr indent="0" marL="0">
              <a:buNone/>
            </a:pPr>
            <a:r>
              <a:rPr lang="en-US" sz="1300" dirty="0">
                <a:solidFill>
                  <a:schemeClr val="accent5"/>
                </a:solidFill>
              </a:rPr>
              <a:t>telaah dan persetujuan di luar jam kerja (405 dari 852)</a:t>
            </a:r>
            <a:endParaRPr lang="en-US" sz="1300" dirty="0"/>
          </a:p>
        </p:txBody>
      </p:sp>
      <p:sp>
        <p:nvSpPr>
          <p:cNvPr id="18" name="angka3"/>
          <p:cNvSpPr/>
          <p:nvPr/>
        </p:nvSpPr>
        <p:spPr>
          <a:xfrm>
            <a:off x="5486400" y="3172968"/>
            <a:ext cx="2964028" cy="1280160"/>
          </a:xfrm>
          <a:prstGeom prst="roundRect">
            <a:avLst>
              <a:gd name="adj" fmla="val 8571"/>
            </a:avLst>
          </a:prstGeom>
          <a:solidFill>
            <a:schemeClr val="bg2"/>
          </a:solidFill>
          <a:ln w="9525">
            <a:solidFill>
              <a:schemeClr val="bg2"/>
            </a:solidFill>
            <a:prstDash val="solid"/>
          </a:ln>
        </p:spPr>
      </p:sp>
      <p:sp>
        <p:nvSpPr>
          <p:cNvPr id="19" name="Text 17"/>
          <p:cNvSpPr txBox="1"/>
          <p:nvPr/>
        </p:nvSpPr>
        <p:spPr>
          <a:xfrm>
            <a:off x="5715000" y="3310128"/>
            <a:ext cx="2506828" cy="594360"/>
          </a:xfrm>
          <a:prstGeom prst="rect">
            <a:avLst/>
          </a:prstGeom>
          <a:noFill/>
          <a:ln/>
        </p:spPr>
        <p:txBody>
          <a:bodyPr wrap="square" lIns="0" tIns="0" rIns="0" bIns="0" rtlCol="0" anchor="t"/>
          <a:lstStyle/>
          <a:p>
            <a:pPr indent="0" marL="0">
              <a:buNone/>
            </a:pPr>
            <a:r>
              <a:rPr lang="en-US" sz="3000" b="1" dirty="0">
                <a:solidFill>
                  <a:schemeClr val="tx2"/>
                </a:solidFill>
              </a:rPr>
              <a:t>3.072</a:t>
            </a:r>
            <a:endParaRPr lang="en-US" sz="3000" dirty="0"/>
          </a:p>
        </p:txBody>
      </p:sp>
      <p:sp>
        <p:nvSpPr>
          <p:cNvPr id="20" name="Text 18"/>
          <p:cNvSpPr txBox="1"/>
          <p:nvPr/>
        </p:nvSpPr>
        <p:spPr>
          <a:xfrm>
            <a:off x="5715000" y="3886200"/>
            <a:ext cx="2506828" cy="502920"/>
          </a:xfrm>
          <a:prstGeom prst="rect">
            <a:avLst/>
          </a:prstGeom>
          <a:noFill/>
          <a:ln/>
        </p:spPr>
        <p:txBody>
          <a:bodyPr wrap="square" lIns="0" tIns="0" rIns="0" bIns="0" rtlCol="0" anchor="t"/>
          <a:lstStyle/>
          <a:p>
            <a:pPr indent="0" marL="0">
              <a:buNone/>
            </a:pPr>
            <a:r>
              <a:rPr lang="en-US" sz="1300" dirty="0">
                <a:solidFill>
                  <a:schemeClr val="accent5"/>
                </a:solidFill>
              </a:rPr>
              <a:t>peristiwa jejak audit pada 438 kegiatan</a:t>
            </a:r>
            <a:endParaRPr lang="en-US" sz="1300" dirty="0"/>
          </a:p>
        </p:txBody>
      </p:sp>
      <p:sp>
        <p:nvSpPr>
          <p:cNvPr id="21" name="angka4"/>
          <p:cNvSpPr/>
          <p:nvPr/>
        </p:nvSpPr>
        <p:spPr>
          <a:xfrm>
            <a:off x="8679028" y="3172968"/>
            <a:ext cx="2964028" cy="1280160"/>
          </a:xfrm>
          <a:prstGeom prst="roundRect">
            <a:avLst>
              <a:gd name="adj" fmla="val 8571"/>
            </a:avLst>
          </a:prstGeom>
          <a:solidFill>
            <a:schemeClr val="bg2"/>
          </a:solidFill>
          <a:ln w="9525">
            <a:solidFill>
              <a:schemeClr val="bg2"/>
            </a:solidFill>
            <a:prstDash val="solid"/>
          </a:ln>
        </p:spPr>
      </p:sp>
      <p:sp>
        <p:nvSpPr>
          <p:cNvPr id="22" name="Text 20"/>
          <p:cNvSpPr txBox="1"/>
          <p:nvPr/>
        </p:nvSpPr>
        <p:spPr>
          <a:xfrm>
            <a:off x="8907628" y="3310128"/>
            <a:ext cx="2506828" cy="594360"/>
          </a:xfrm>
          <a:prstGeom prst="rect">
            <a:avLst/>
          </a:prstGeom>
          <a:noFill/>
          <a:ln/>
        </p:spPr>
        <p:txBody>
          <a:bodyPr wrap="square" lIns="0" tIns="0" rIns="0" bIns="0" rtlCol="0" anchor="t"/>
          <a:lstStyle/>
          <a:p>
            <a:pPr indent="0" marL="0">
              <a:buNone/>
            </a:pPr>
            <a:r>
              <a:rPr lang="en-US" sz="3000" b="1" dirty="0">
                <a:solidFill>
                  <a:schemeClr val="tx2"/>
                </a:solidFill>
              </a:rPr>
              <a:t>92,4%</a:t>
            </a:r>
            <a:endParaRPr lang="en-US" sz="3000" dirty="0"/>
          </a:p>
        </p:txBody>
      </p:sp>
      <p:sp>
        <p:nvSpPr>
          <p:cNvPr id="23" name="Text 21"/>
          <p:cNvSpPr txBox="1"/>
          <p:nvPr/>
        </p:nvSpPr>
        <p:spPr>
          <a:xfrm>
            <a:off x="8907628" y="3886200"/>
            <a:ext cx="2506828" cy="502920"/>
          </a:xfrm>
          <a:prstGeom prst="rect">
            <a:avLst/>
          </a:prstGeom>
          <a:noFill/>
          <a:ln/>
        </p:spPr>
        <p:txBody>
          <a:bodyPr wrap="square" lIns="0" tIns="0" rIns="0" bIns="0" rtlCol="0" anchor="t"/>
          <a:lstStyle/>
          <a:p>
            <a:pPr indent="0" marL="0">
              <a:buNone/>
            </a:pPr>
            <a:r>
              <a:rPr lang="en-US" sz="1300" dirty="0">
                <a:solidFill>
                  <a:schemeClr val="accent5"/>
                </a:solidFill>
              </a:rPr>
              <a:t>kegiatan memiliki penugasan petugas</a:t>
            </a:r>
            <a:endParaRPr lang="en-US" sz="1300" dirty="0"/>
          </a:p>
        </p:txBody>
      </p:sp>
      <p:sp>
        <p:nvSpPr>
          <p:cNvPr id="24" name="angka5"/>
          <p:cNvSpPr/>
          <p:nvPr/>
        </p:nvSpPr>
        <p:spPr>
          <a:xfrm>
            <a:off x="5486400" y="4700016"/>
            <a:ext cx="2964028" cy="1280160"/>
          </a:xfrm>
          <a:prstGeom prst="roundRect">
            <a:avLst>
              <a:gd name="adj" fmla="val 8571"/>
            </a:avLst>
          </a:prstGeom>
          <a:solidFill>
            <a:schemeClr val="bg2"/>
          </a:solidFill>
          <a:ln w="9525">
            <a:solidFill>
              <a:schemeClr val="bg2"/>
            </a:solidFill>
            <a:prstDash val="solid"/>
          </a:ln>
        </p:spPr>
      </p:sp>
      <p:sp>
        <p:nvSpPr>
          <p:cNvPr id="25" name="Text 23"/>
          <p:cNvSpPr txBox="1"/>
          <p:nvPr/>
        </p:nvSpPr>
        <p:spPr>
          <a:xfrm>
            <a:off x="5715000" y="4837176"/>
            <a:ext cx="2506828" cy="594360"/>
          </a:xfrm>
          <a:prstGeom prst="rect">
            <a:avLst/>
          </a:prstGeom>
          <a:noFill/>
          <a:ln/>
        </p:spPr>
        <p:txBody>
          <a:bodyPr wrap="square" lIns="0" tIns="0" rIns="0" bIns="0" rtlCol="0" anchor="t"/>
          <a:lstStyle/>
          <a:p>
            <a:pPr indent="0" marL="0">
              <a:buNone/>
            </a:pPr>
            <a:r>
              <a:rPr lang="en-US" sz="3000" b="1" dirty="0">
                <a:solidFill>
                  <a:schemeClr val="tx2"/>
                </a:solidFill>
              </a:rPr>
              <a:t>589</a:t>
            </a:r>
            <a:endParaRPr lang="en-US" sz="3000" dirty="0"/>
          </a:p>
        </p:txBody>
      </p:sp>
      <p:sp>
        <p:nvSpPr>
          <p:cNvPr id="26" name="Text 24"/>
          <p:cNvSpPr txBox="1"/>
          <p:nvPr/>
        </p:nvSpPr>
        <p:spPr>
          <a:xfrm>
            <a:off x="5715000" y="5413248"/>
            <a:ext cx="2506828" cy="502920"/>
          </a:xfrm>
          <a:prstGeom prst="rect">
            <a:avLst/>
          </a:prstGeom>
          <a:noFill/>
          <a:ln/>
        </p:spPr>
        <p:txBody>
          <a:bodyPr wrap="square" lIns="0" tIns="0" rIns="0" bIns="0" rtlCol="0" anchor="t"/>
          <a:lstStyle/>
          <a:p>
            <a:pPr indent="0" marL="0">
              <a:buNone/>
            </a:pPr>
            <a:r>
              <a:rPr lang="en-US" sz="1300" dirty="0">
                <a:solidFill>
                  <a:schemeClr val="accent5"/>
                </a:solidFill>
              </a:rPr>
              <a:t>kegiatan terkelola sejak Maret 2026</a:t>
            </a:r>
            <a:endParaRPr lang="en-US" sz="1300" dirty="0"/>
          </a:p>
        </p:txBody>
      </p:sp>
      <p:sp>
        <p:nvSpPr>
          <p:cNvPr id="27" name="angka6"/>
          <p:cNvSpPr/>
          <p:nvPr/>
        </p:nvSpPr>
        <p:spPr>
          <a:xfrm>
            <a:off x="8679028" y="4700016"/>
            <a:ext cx="2964028" cy="1280160"/>
          </a:xfrm>
          <a:prstGeom prst="roundRect">
            <a:avLst>
              <a:gd name="adj" fmla="val 8571"/>
            </a:avLst>
          </a:prstGeom>
          <a:solidFill>
            <a:schemeClr val="bg2"/>
          </a:solidFill>
          <a:ln w="9525">
            <a:solidFill>
              <a:schemeClr val="bg2"/>
            </a:solidFill>
            <a:prstDash val="solid"/>
          </a:ln>
        </p:spPr>
      </p:sp>
      <p:sp>
        <p:nvSpPr>
          <p:cNvPr id="28" name="Text 26"/>
          <p:cNvSpPr txBox="1"/>
          <p:nvPr/>
        </p:nvSpPr>
        <p:spPr>
          <a:xfrm>
            <a:off x="8907628" y="4837176"/>
            <a:ext cx="2506828" cy="594360"/>
          </a:xfrm>
          <a:prstGeom prst="rect">
            <a:avLst/>
          </a:prstGeom>
          <a:noFill/>
          <a:ln/>
        </p:spPr>
        <p:txBody>
          <a:bodyPr wrap="square" lIns="0" tIns="0" rIns="0" bIns="0" rtlCol="0" anchor="t"/>
          <a:lstStyle/>
          <a:p>
            <a:pPr indent="0" marL="0">
              <a:buNone/>
            </a:pPr>
            <a:r>
              <a:rPr lang="en-US" sz="3000" b="1" dirty="0">
                <a:solidFill>
                  <a:schemeClr val="tx2"/>
                </a:solidFill>
              </a:rPr>
              <a:t>Rp0</a:t>
            </a:r>
            <a:endParaRPr lang="en-US" sz="3000" dirty="0"/>
          </a:p>
        </p:txBody>
      </p:sp>
      <p:sp>
        <p:nvSpPr>
          <p:cNvPr id="29" name="Text 27"/>
          <p:cNvSpPr txBox="1"/>
          <p:nvPr/>
        </p:nvSpPr>
        <p:spPr>
          <a:xfrm>
            <a:off x="8907628" y="5413248"/>
            <a:ext cx="2506828" cy="502920"/>
          </a:xfrm>
          <a:prstGeom prst="rect">
            <a:avLst/>
          </a:prstGeom>
          <a:noFill/>
          <a:ln/>
        </p:spPr>
        <p:txBody>
          <a:bodyPr wrap="square" lIns="0" tIns="0" rIns="0" bIns="0" rtlCol="0" anchor="t"/>
          <a:lstStyle/>
          <a:p>
            <a:pPr indent="0" marL="0">
              <a:buNone/>
            </a:pPr>
            <a:r>
              <a:rPr lang="en-US" sz="1300" dirty="0">
                <a:solidFill>
                  <a:schemeClr val="accent5"/>
                </a:solidFill>
              </a:rPr>
              <a:t>belanja pengadaan</a:t>
            </a:r>
            <a:endParaRPr lang="en-US" sz="1300" dirty="0"/>
          </a:p>
        </p:txBody>
      </p:sp>
      <p:sp>
        <p:nvSpPr>
          <p:cNvPr id="30" name="Text 28"/>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000" dirty="0">
                <a:solidFill>
                  <a:schemeClr val="accent5"/>
                </a:solidFill>
              </a:rPr>
              <a:t>Sumber: basis data Prokopim Hibot, 24 September 2026. Angka "sebelum" adalah estimasi dari alur lama.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masyarakat</a:t>
            </a:r>
            <a:endParaRPr lang="en-US" sz="2800" dirty="0"/>
          </a:p>
        </p:txBody>
      </p:sp>
      <p:pic>
        <p:nvPicPr>
          <p:cNvPr id="4" name="Image 0" descr="/tmp/claude-0/-home-user-joyful-visuals/b7e05af7-82ac-5fa7-8dd0-336e0ff929be/scratchpa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300" b="1" dirty="0">
                <a:solidFill>
                  <a:schemeClr val="accent1"/>
                </a:solidFill>
              </a:rPr>
              <a:t>dr. H. Khairul, M.Kes. — Wali Kota Tarakan</a:t>
            </a:r>
            <a:endParaRPr lang="en-US" sz="13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200" b="1" dirty="0">
                <a:solidFill>
                  <a:schemeClr val="accent5"/>
                </a:solidFill>
              </a:rPr>
              <a:t>Muhammad Rizky Dinata Putra, S.Tr.IP. — Ajudan Wakil Wali Kota</a:t>
            </a:r>
            <a:endParaRPr lang="en-US" sz="12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kegiatan didisposisikan Wali Kota kepada Wakil langsung dari aplikasi</a:t>
            </a:r>
            <a:endParaRPr lang="en-US" sz="12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konfirmasi kehadiran oleh ajudan</a:t>
            </a:r>
            <a:endParaRPr lang="en-US" sz="12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66</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200" dirty="0">
                <a:solidFill>
                  <a:schemeClr val="accent5"/>
                </a:solidFill>
              </a:rPr>
              <a:t>instansi meminjam ruangan secara daring</a:t>
            </a:r>
            <a:endParaRPr lang="en-US" sz="12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53</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200" dirty="0">
                <a:solidFill>
                  <a:schemeClr val="accent5"/>
                </a:solidFill>
              </a:rPr>
              <a:t>instansi mengajukan audiensi secara daring</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300" dirty="0">
                <a:solidFill>
                  <a:schemeClr val="accent5"/>
                </a:solidFill>
              </a:rPr>
              <a:t>Efisiensi: ketika lalu lintas data mencapai 6,4 GB/bulan (kuota 5 GB), pengambilan data diubah hanya untuk data yang berubah — turun ke ±1 GB.</a:t>
            </a:r>
            <a:endParaRPr lang="en-US" sz="13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inovasi: perancang, penyelia, penguji</a:t>
            </a:r>
            <a:endParaRPr lang="en-US" sz="13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Koordinasi lintas unit (Keputusan Sekda)</a:t>
            </a:r>
            <a:endParaRPr lang="en-US" sz="13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300" dirty="0">
                <a:solidFill>
                  <a:schemeClr val="tx1"/>
                </a:solidFill>
              </a:rPr>
              <a:t>Memfasilitasi subdomain resmi prokopim.tarakankota.go.id</a:t>
            </a:r>
            <a:endParaRPr lang="en-US" sz="13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14 jenis peran pengguna</a:t>
            </a:r>
            <a:endParaRPr lang="en-US" sz="13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300" dirty="0">
                <a:solidFill>
                  <a:schemeClr val="bg1"/>
                </a:solidFill>
              </a:rPr>
              <a:t>di luar Bagian: Pimpinan, ajudan, pengawal, mitra DKISP</a:t>
            </a:r>
            <a:endParaRPr lang="en-US" sz="13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instansi memakai kanal publik ruangan dan audiensi</a:t>
            </a:r>
            <a:endParaRPr lang="en-US" sz="13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Tim Koordinasi lintas perangkat daerah</a:t>
            </a:r>
            <a:endParaRPr lang="en-US" sz="13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i="1" dirty="0">
                <a:solidFill>
                  <a:schemeClr val="tx2"/>
                </a:solidFill>
              </a:rPr>
              <a:t>“Yang dibutuhkan daerah lain hanya peramban, kuota gratis, dan 11 SOP yang siap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Peta jalan penyebarluasan</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tx2"/>
          </a:solidFill>
          <a:ln w="12700">
            <a:solidFill>
              <a:schemeClr val="tx2"/>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7" name="Shape 25"/>
          <p:cNvSpPr/>
          <p:nvPr/>
        </p:nvSpPr>
        <p:spPr>
          <a:xfrm>
            <a:off x="6446520" y="4709160"/>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Jul–Des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Paket replikasi: Pemprov Kaltara, Bulungan, Malinau, Nunukan, Tana Tidung, Sekretariat DPRD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tmp/claude-0/-home-user-joyful-visuals/b7e05af7-82ac-5fa7-8dd0-336e0ff929be/scratchpa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tmp/claude-0/-home-user-joyful-visuals/b7e05af7-82ac-5fa7-8dd0-336e0ff929be/scratchpa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300" dirty="0">
                <a:solidFill>
                  <a:schemeClr val="accent6"/>
                </a:solidFill>
              </a:rPr>
              <a:t>Tim Inovasi Prokopim Hibot  ·  Bagian Protokol dan Komunikasi Pimpinan, Setda Kota Tarakan</a:t>
            </a:r>
            <a:endParaRPr lang="en-US" sz="13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tmp/claude-0/-home-user-joyful-visuals/b7e05af7-82ac-5fa7-8dd0-336e0ff929be/scratchpa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100" dirty="0">
                <a:solidFill>
                  <a:schemeClr val="accent5"/>
                </a:solidFill>
              </a:rPr>
              <a:t>Akses juri baca-saja tersedia saat demonstrasi</a:t>
            </a:r>
            <a:endParaRPr lang="en-US" sz="11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2026-10-16T21:53:58Z</dcterms:created>
  <dcterms:modified xsi:type="dcterms:W3CDTF">2026-10-16T21:53:58Z</dcterms:modified>
</cp:coreProperties>
</file>