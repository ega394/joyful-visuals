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51cf0cad-da0b-ac28-c27f-16a22d223971}">
          <p14:sldIdLst>
            <p14:sldId id="256"/>
          </p14:sldIdLst>
        </p14:section>
        <p14:section name="Latar belakang" id="{f6cc05e3-d649-c4a8-416d-9ba99c1b86e6}">
          <p14:sldIdLst>
            <p14:sldId id="257"/>
            <p14:sldId id="258"/>
          </p14:sldIdLst>
        </p14:section>
        <p14:section name="Terobosan inovasi" id="{e397a59b-c2fd-9c92-5a49-4fd15cca0fd1}">
          <p14:sldIdLst>
            <p14:sldId id="259"/>
            <p14:sldId id="260"/>
          </p14:sldIdLst>
        </p14:section>
        <p14:section name="Manfaat inovasi" id="{45b38ebb-c7b5-1213-c831-577559f461f2}">
          <p14:sldIdLst>
            <p14:sldId id="261"/>
            <p14:sldId id="262"/>
            <p14:sldId id="263"/>
          </p14:sldIdLst>
        </p14:section>
        <p14:section name="Fitur lain: kanal publik" id="{32e5240d-25bb-7570-f808-ddbe7d0029a7}">
          <p14:sldIdLst>
            <p14:sldId id="264"/>
          </p14:sldIdLst>
        </p14:section>
        <p14:section name="Pemanfaatan sumber daya" id="{bea47bc6-ab4b-a184-b507-4c9abb85b3a3}">
          <p14:sldIdLst>
            <p14:sldId id="265"/>
          </p14:sldIdLst>
        </p14:section>
        <p14:section name="Diseminasi inovasi" id="{f59c59fb-89eb-5573-b811-e775065e8030}">
          <p14:sldIdLst>
            <p14:sldId id="266"/>
          </p14:sldIdLst>
        </p14:section>
        <p14:section name="Kompatibilitas" id="{241a1636-1690-4514-2a92-e5abb61fcb8b}">
          <p14:sldIdLst>
            <p14:sldId id="267"/>
          </p14:sldIdLst>
        </p14:section>
        <p14:section name="Penutup" id="{a0f7488c-d2d8-61ff-daab-5c19aad7d240}">
          <p14:sldIdLst>
            <p14:sldId id="268"/>
          </p14:sldIdLst>
        </p14:section>
        <p14:section name="Cadangan penjelasan" id="{ac82f500-d1cb-6ee5-d65b-7677500ccd7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(menit 2:50–5:50 paparan). Admin RK memegang laptop, Kasubbag dan Kabag memegang HP; Kabag memandu. Semua memakai instans demo berdata contoh. Kanal publik tidak didemokan di sini; ia fitur terpisah (slide 9). Cadangan: video demo luring di laptop dan diska lepas. Admin RK memberi isyarat pada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 dari kiri ke kanan: sebelumnya diperkirakan 18–24 jam (tidak pernah dicatat), sekarang median 1,99 jam yang terukur, dan 99,3% tayang kurang dari sehari. Sebutkan tiga angka saja: 1,99 jam, 99,3%, dan 47,5% penelaahan di luar jam kerja (405 dari 852), artinya pekerjaan tidak lagi menunggu jendela 30 menit. Jejak audit: 3.072 peristiwa pada 438 kegiatan; penugasan petugas pada 92,4% kegiatan.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67 tindakan Pelaksana Harian tercatat, dan notifikasi aktif di 37 perangkat.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Sampaikan sebagai fitur tersendiri, bukan bagian dari alur agenda. Peminjaman ruangan: 123 pengajuan dari 66 instansi, 98 disetujui. Audiensi: 55 permohonan dari 53 instansi, 48 selesai diproses, 31 menjadi agenda Pimpinan. Pemohon memantau dengan kode penelusuran. Data per 24 September 2026.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hanya bila juri menanyakan perbedaan dengan proposal. Jujur dan ringkas: pengingat lima kali sehari dirampingkan menjadi tiga waktu berdasarkan data pemakaian; WhatsApp hanya untuk acara hari ini atau besok; notifikasi tamu berjenjang; Monitor WA; masuk dengan sidik jari dan Google; jam acara berzona. Semua pembaruan berangkat dari kendala pengguna dan tanpa belanja pengadaan.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34924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Pengajuan →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Dipantau sendiri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54864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a:t>
            </a:r>
            <a:endParaRPr lang="en-US" sz="1500" dirty="0"/>
          </a:p>
        </p:txBody>
      </p:sp>
      <p:sp>
        <p:nvSpPr>
          <p:cNvPr id="25" name="sebab1"/>
          <p:cNvSpPr/>
          <p:nvPr/>
        </p:nvSpPr>
        <p:spPr>
          <a:xfrm>
            <a:off x="548640" y="4892040"/>
            <a:ext cx="3545738"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49808"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49808" y="5349240"/>
            <a:ext cx="3143402"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bisa dilakukan kapan saja, dari mana saja</a:t>
            </a:r>
            <a:endParaRPr lang="en-US" sz="1400" dirty="0"/>
          </a:p>
        </p:txBody>
      </p:sp>
      <p:sp>
        <p:nvSpPr>
          <p:cNvPr id="28" name="sebab2"/>
          <p:cNvSpPr/>
          <p:nvPr/>
        </p:nvSpPr>
        <p:spPr>
          <a:xfrm>
            <a:off x="4322978" y="4892040"/>
            <a:ext cx="3545738"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4524146"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4524146" y="5349240"/>
            <a:ext cx="3143402" cy="594360"/>
          </a:xfrm>
          <a:prstGeom prst="rect">
            <a:avLst/>
          </a:prstGeom>
          <a:noFill/>
          <a:ln/>
        </p:spPr>
        <p:txBody>
          <a:bodyPr wrap="square" lIns="0" tIns="0" rIns="0" bIns="0" rtlCol="0" anchor="t"/>
          <a:lstStyle/>
          <a:p>
            <a:pPr indent="0" marL="0">
              <a:buNone/>
            </a:pPr>
            <a:r>
              <a:rPr lang="en-US" sz="1400" dirty="0">
                <a:solidFill>
                  <a:schemeClr val="tx1"/>
                </a:solidFill>
              </a:rPr>
              <a:t>tidak ada versi ganda, foto disposisi, atau grup yang harus ditelusuri</a:t>
            </a:r>
            <a:endParaRPr lang="en-US" sz="1400" dirty="0"/>
          </a:p>
        </p:txBody>
      </p:sp>
      <p:sp>
        <p:nvSpPr>
          <p:cNvPr id="31" name="sebab3"/>
          <p:cNvSpPr/>
          <p:nvPr/>
        </p:nvSpPr>
        <p:spPr>
          <a:xfrm>
            <a:off x="8097317" y="4892040"/>
            <a:ext cx="3545738"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8298485" y="4983480"/>
            <a:ext cx="3143402"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8298485" y="5349240"/>
            <a:ext cx="3143402"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 bukan sesudahnya</a:t>
            </a:r>
            <a:endParaRPr lang="en-US" sz="1400" dirty="0"/>
          </a:p>
        </p:txBody>
      </p:sp>
      <p:sp>
        <p:nvSpPr>
          <p:cNvPr id="34" name="Text 32"/>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jajarannya</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memakai kanal publik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828800"/>
          </a:xfrm>
          <a:prstGeom prst="roundRect">
            <a:avLst>
              <a:gd name="adj" fmla="val 6000"/>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828800"/>
          </a:xfrm>
          <a:prstGeom prst="roundRect">
            <a:avLst>
              <a:gd name="adj" fmla="val 6000"/>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828800"/>
          </a:xfrm>
          <a:prstGeom prst="roundRect">
            <a:avLst>
              <a:gd name="adj" fmla="val 6000"/>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1143000"/>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794760"/>
            <a:ext cx="3545738" cy="1828800"/>
          </a:xfrm>
          <a:prstGeom prst="roundRect">
            <a:avLst>
              <a:gd name="adj" fmla="val 6000"/>
            </a:avLst>
          </a:prstGeom>
          <a:solidFill>
            <a:schemeClr val="bg2"/>
          </a:solidFill>
          <a:ln w="9525">
            <a:solidFill>
              <a:schemeClr val="bg2"/>
            </a:solidFill>
            <a:prstDash val="solid"/>
          </a:ln>
        </p:spPr>
      </p:sp>
      <p:sp>
        <p:nvSpPr>
          <p:cNvPr id="21" name="Shape 19"/>
          <p:cNvSpPr/>
          <p:nvPr/>
        </p:nvSpPr>
        <p:spPr>
          <a:xfrm>
            <a:off x="731520" y="3959352"/>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794760"/>
            <a:ext cx="3545738" cy="1828800"/>
          </a:xfrm>
          <a:prstGeom prst="roundRect">
            <a:avLst>
              <a:gd name="adj" fmla="val 6000"/>
            </a:avLst>
          </a:prstGeom>
          <a:solidFill>
            <a:schemeClr val="bg2"/>
          </a:solidFill>
          <a:ln w="9525">
            <a:solidFill>
              <a:schemeClr val="bg2"/>
            </a:solidFill>
            <a:prstDash val="solid"/>
          </a:ln>
        </p:spPr>
      </p:sp>
      <p:sp>
        <p:nvSpPr>
          <p:cNvPr id="26" name="Shape 24"/>
          <p:cNvSpPr/>
          <p:nvPr/>
        </p:nvSpPr>
        <p:spPr>
          <a:xfrm>
            <a:off x="4505858" y="3959352"/>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794760"/>
            <a:ext cx="3545738" cy="1828800"/>
          </a:xfrm>
          <a:prstGeom prst="roundRect">
            <a:avLst>
              <a:gd name="adj" fmla="val 6000"/>
            </a:avLst>
          </a:prstGeom>
          <a:solidFill>
            <a:schemeClr val="bg2"/>
          </a:solidFill>
          <a:ln w="9525">
            <a:solidFill>
              <a:schemeClr val="bg2"/>
            </a:solidFill>
            <a:prstDash val="solid"/>
          </a:ln>
        </p:spPr>
      </p:sp>
      <p:sp>
        <p:nvSpPr>
          <p:cNvPr id="31" name="Shape 29"/>
          <p:cNvSpPr/>
          <p:nvPr/>
        </p:nvSpPr>
        <p:spPr>
          <a:xfrm>
            <a:off x="8280197" y="3959352"/>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95935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95935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416552"/>
            <a:ext cx="3179978" cy="1143000"/>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6" name="Text 34"/>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2026-10-19T02:48:05Z</dcterms:created>
  <dcterms:modified xsi:type="dcterms:W3CDTF">2026-10-19T02:48:05Z</dcterms:modified>
</cp:coreProperties>
</file>