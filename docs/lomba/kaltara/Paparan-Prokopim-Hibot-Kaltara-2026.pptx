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 id="{22b31861-89e8-529c-3ddd-68de11282f5a}">
          <p14:sldIdLst>
            <p14:sldId id="256"/>
          </p14:sldIdLst>
        </p14:section>
        <p14:section name="Latar belakang" id="{c62de004-ec85-8b49-21d5-5eac92a678b4}">
          <p14:sldIdLst>
            <p14:sldId id="257"/>
            <p14:sldId id="258"/>
          </p14:sldIdLst>
        </p14:section>
        <p14:section name="Terobosan inovasi" id="{b51b8a1c-4ce1-ad87-c9f8-91a5fb530d90}">
          <p14:sldIdLst>
            <p14:sldId id="259"/>
            <p14:sldId id="260"/>
          </p14:sldIdLst>
        </p14:section>
        <p14:section name="Manfaat inovasi" id="{766c32ba-9e80-3efd-661d-74e82d4b46a8}">
          <p14:sldIdLst>
            <p14:sldId id="261"/>
            <p14:sldId id="262"/>
            <p14:sldId id="263"/>
          </p14:sldIdLst>
        </p14:section>
        <p14:section name="Fitur lain: kanal publik" id="{23628f64-73fd-5023-cc57-7f27981caeb8}">
          <p14:sldIdLst>
            <p14:sldId id="264"/>
          </p14:sldIdLst>
        </p14:section>
        <p14:section name="Pemanfaatan sumber daya" id="{c1e47e3a-038c-c442-c240-f212efb985b6}">
          <p14:sldIdLst>
            <p14:sldId id="265"/>
          </p14:sldIdLst>
        </p14:section>
        <p14:section name="Diseminasi inovasi" id="{2d2e970c-e0e4-87e2-9e3f-1a70f75e9683}">
          <p14:sldIdLst>
            <p14:sldId id="266"/>
          </p14:sldIdLst>
        </p14:section>
        <p14:section name="Kompatibilitas" id="{ba8ac8fb-48fb-1330-b201-54c89ef97fdd}">
          <p14:sldIdLst>
            <p14:sldId id="267"/>
          </p14:sldIdLst>
        </p14:section>
        <p14:section name="Penutup" id="{65a6dd3a-cd16-f7c7-d5eb-61f926578fd3}">
          <p14:sldIdLst>
            <p14:sldId id="268"/>
          </p14:sldIdLst>
        </p14:section>
        <p14:section name="Cadangan penjelasan" id="{a7a31cc3-34aa-1c7c-2df8-d4855af55963}">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Pembuka
Assalamualaikum warahmatullahi wabarakatuh. Selamat [pagi/siang], Bapak dan Ibu Dewan Juri yang kami hormati.
Izin kami sampaikan Prokopim Hibot, satu alur digital terverifikasi untuk agenda Pimpinan Daerah, dari Bagian Protokol dan Komunikasi Pimpinan, Sekretariat Daerah Kota Tarakan. Kami mengikuti kategori Inovasi Terapan, ASN Pemerintah Kabupaten/Kota.
Isyarat: Berdiri tegak, tatap juri, senyum. Jangan buru-buru; kalimat pertama menentukan kesan.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0:25–1:10 · Latar belakang: peristiwa Januari
Awal Januari 2026, dua lembar disposisi agenda turun dari meja Pimpinan: rencana kegiatan dan rencana audiensi.
Yang ini sampai kepada kami, karena difoto dan dikirim ke grup. Yang ini, rencana audiensi untuk Senin, 5 Januari, tertinggal.
Tidak ada yang lalai. Tetapi tidak ada pula yang bisa mengetahuinya, karena tidak ada catatan berapa lembar yang seharusnya kami terima.
Saat itu rencana kegiatan disusun di spreadsheet lalu dicetak, penelaahan hanya sempat sekitar 30 menit menjelang jam pulang, disposisi beredar sebagai foto, dan dari pengajuan sampai tayang diperkirakan 18 sampai 24 jam.
Isyarat: Tunjuk foto atas saat 'yang ini sampai', foto bawah saat 'yang ini tertinggal'. Pelankan suara di 'tidak ada yang lalai', beri jeda sejenak.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1:10–1:40 · Akar masalah
Kami lalu menelaah bersama seluruh Bagian, dan menemukan pola yang sama di banyak tempat: keputusan tidak meninggalkan jejak, beberapa versi cetakan beredar bersamaan, pengetahuan kerja melekat pada orang.
Akarnya satu: tidak ada satu sumber data yang dapat dirujuk semua pihak.
Isyarat: Tunjuk kotak 'Akar masalah'. Kalimat terakhir diucapkan pelan dan tegas.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1:40–2:15 · Terobosan: pilihan dan alur
Kami menimbang empat pilihan. Menambah pengawasan tidak menyentuh akar masalah. Merapikan spreadsheet tetap menyisakan banyak versi. Membeli aplikasi jadi butuh anggaran, padahal alur keprotokolan sangat khas.
Maka kami membangun sendiri, tanpa belanja pengadaan. Hasilnya satu alur berjenjang: Admin Rencana Kegiatan, Kepala Sub Bagian, Kepala Bagian, lalu tayang di HP Pimpinan.
Isyarat: Sapukan tangan dari kiri ke kanan mengikuti empat kartu, lalu empat langkah alur.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2:15–2:40 · Enam unsur kebaruan
Kebaruannya ada pada cara menjaga mutu keputusan: setiap langkah tercatat, persetujuan baru aktif setelah daftar periksa dicentang, dan kewenangan Pelaksana Harian padam sendiri pada tanggal akhirnya.
Sejak proposal, aplikasi terus dikembangkan dari kendala pengguna. Izin kami tunjukkan langsung di aplikasi.
Isyarat: Pada 'izin kami tunjukkan', beri anggukan ke Admin RK: tanda demo dimulai.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2:40–5:40 · DEMONSTRASI (3 menit)
(1) Admin RK, laptop · 0:00–0:35 — "Admin kami menerima undangan. Cukup dipindai: nama acara, tanggal, jam, lokasi, dan zona waktunya terisi sendiri. Aplikasi juga memeriksa benturan jadwal. Admin memeriksa, lalu mengirim."
(2) Kasubbag, HP · 0:35–1:05 — "Kepala Sub Bagian langsung menerima notifikasi, di mana pun berada. Tombol teruskan baru aktif setelah undangan dibuka dan daftar periksa dicentang. Kekeliruan tertahan sebelum sampai ke Pimpinan."
(3) Kabag, HP · 1:05–1:25 — "Saya memutus dari HP saya. Setujui, dan agenda langsung tayang, tanpa cetak ulang."
(4) HP Wali Kota · 1:25–2:05 — "Saat itu juga agenda tiba di HP Wali Kota. Beliau atau ajudan cukup menekan Hadir, atau mendisposisikan kepada Wakil Wali Kota. Disposisi inilah yang dulu beredar sebagai foto."
(5) Admin RK, laptop · 2:05–2:35 — "Petugas ditugaskan dan langsung diberi tahu. Di Riwayat Alur, setiap langkah tadi tercatat: siapa, kapan, dan apa keputusannya."
(6) Kabag, HP · 2:35–3:00 — "Dan di Monitor WA kami memastikan pesan penugasan itu terkirim dan dibaca. Tidak ada lagi lembar yang tertinggal tanpa ada yang tahu."
Isyarat: Kabag memandu dan berbicara; Admin RK dan Kasubbag hanya mengoperasikan. Semua memakai instans demo berdata contoh. Bila aplikasi atau jaringan bermasalah lebih dari 10 detik, langsung putar video demo cadangan di laptop. Admin RK memberi isyarat pada menit 5:40.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5:40–6:30 · Manfaat terukur
Hasilnya terukur dari basis data, per 24 September 2026. Dari pengajuan sampai tayang, yang dulu diperkirakan 18 sampai 24 jam, kini median 1,99 jam, dan 99,3 persen tayang kurang dari sehari.
589 kegiatan terkelola dan 3.072 keputusan terekam. 92,4 persen kegiatan sudah ada petugasnya. Hampir separuh penelaahan, 47,5 persen, dilakukan di luar jam kerja: pekerjaan tidak lagi menunggu jendela 30 menit.
Dan hemat kertas: rencana kegiatan tidak lagi dicetak ulang, 452 berkas undangan terarsip digital.
Isyarat: Beri jeda dua detik sesudah '1,99 jam'. Ini angka utama; biarkan juri mencernanya.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6:30–7:00 · Dirasakan Pimpinan
Manfaatnya dirasakan langsung oleh Pimpinan. Wali Kota menyampaikan: "Yang terpenting bagi saya adalah kepastian: ke mana saya harus hadir, kapan, dan siapa yang menyiapkannya."
62 kegiatan telah beliau disposisikan kepada Wakil langsung dari aplikasi, dan ajudan sudah 341 kali mengonfirmasi kehadiran.
Isyarat: Bacakan kutipan dengan nada hormat dan pelan, sambil menunjuk kotak kutipan.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7:00–7:25 · Fitur lain: kanal publik
Di luar alur agenda, ada fitur tersendiri untuk masyarakat: kanal publik. Tanpa akun, 66 instansi mengajukan peminjaman ruangan dan 53 instansi mengajukan audiensi, lalu memantau statusnya sendiri dengan kode penelusuran, tanpa datang atau menelepon berulang.
Isyarat: Tegaskan 'fitur tersendiri', supaya juri tidak mencampurnya dengan alur agenda.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7:25–7:55 · Pemanfaatan sumber daya
Seluruhnya dibangun tim sendiri, tanpa belanja pengadaan, dengan layanan tanpa biaya.
Bagaimana bila pengelolanya pindah? Kewenangan melekat pada jabatan, sebelas SOP disiapkan, kode dan riwayat tersimpan lengkap atas nama instansi, dan pengelola kedua didampingi mulai 2027.
Isyarat: Pertanyaan 'bila Kabag pindah' hampir pasti muncul; dengan menjawabnya lebih dulu, Bapak menguasai arah tanya jawab.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7:55–8:25 · Diseminasi
Pemakaiannya sudah melampaui Bagian kami: Pimpinan, ajudan, pengawal, mitra di DKISP, dan Tim Koordinasi lintas perangkat daerah.
Inovasi ini siap direplikasi sesuai kebutuhan; yang disesuaikan hanya nama jabatan, pengguna, dan tata naskah. Sebelas SOP disahkan Sekretaris Daerah pada Oktober sampai Desember 2026.
Isyarat: Sebut 'siap direplikasi' dengan yakin; jangan menjanjikan daerah tertentu.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8:25–8:50 · Kompatibilitas
Inovasi ini selaras dengan Undang-Undang Pelayanan Publik dan Keprotokolan, Peraturan Pemerintah tentang Inovasi Daerah, dan SPBE, serta mendukung Misi 3 RPJMD Kalimantan Utara dan Misi 4 Kota Tarakan.
Aplikasi menyesuaikan cara kerja Pimpinan, bukan sebaliknya: naskah sambutan tetap tersedia tercetak.
Isyarat: Cukup sebut garis besar; nomor peraturan sudah tertulis di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8:50–9:15 · Penutup
Bapak dan Ibu Dewan Juri, Januari lalu satu lembar tertinggal tanpa ada yang tahu. Hari ini, setiap lembar dan setiap keputusan tercatat.
Prokopim Hibot: satu alur, satu data, setiap keputusan tercatat. Terima kasih. Wassalamualaikum warahmatullahi wabarakatuh.
Isyarat: Ucapkan slogan perlahan, satu frasa satu tarikan napas, lalu diam dan tatap juri. Jangan menambah kalimat sesudah 'terima kasih'.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 CADANGAN: bila ditanya perbedaan dengan proposal
Proposal memuat keadaan per 24 September 2026. Pembaruan Oktober 2026 berangkat dari pemakaian: pengingat dirampingkan menjadi tiga waktu, WhatsApp hanya untuk acara hari ini atau besok, notifikasi tamu berjenjang, Monitor WA, masuk dengan sidik jari dan akun Google, dan jam acara mengikuti zona waktu.
Koreksi data: di proposal kami menulis tiga lembar berdasarkan ingatan. Saat menyiapkan paparan ini kami menelusuri lembar aslinya; ternyata dua lembar, rencana kegiatan sampai dan rencana audiensi tertinggal. Inilah alasan aplikasi ini dibangun: tanpa catatan, bahkan jumlah lembar pun bergantung pada ingatan.
Isyarat: Tampilkan hanya bila ditanya. Jawab jujur dan tenang; koreksi yang disampaikan terbuka menambah kepercayaan.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SI">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rtlCol="0"/>
          <a:lstStyle>
            <a:lvl1pPr algn="l" indent="0" marL="0">
              <a:buNone/>
              <a:defRPr lang="en-US" sz="2800" b="1" dirty="0">
                <a:solidFill>
                  <a:schemeClr val="tx2"/>
                </a:solidFill>
              </a:defRPr>
            </a:lvl1pPr>
          </a:lstStyle>
          <a:p>
            <a:pPr algn="l" indent="0" marL="0">
              <a:buNone/>
            </a:pPr>
            <a:endParaRPr lang="en-US" sz="28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Prokopim Hibot  ·  Kaltara Innovation Awards 2026  ·  Kategori Inovasi Terapan – ASN Pemerintah Kabupaten/Kota</a:t>
            </a:r>
            <a:endParaRPr lang="en-US" sz="1000" dirty="0"/>
          </a:p>
        </p:txBody>
      </p:sp>
      <p:pic>
        <p:nvPicPr>
          <p:cNvPr id="5" name="Image 0" descr="/home/user/joyful-visuals/docs/lomba/build/paparan/aset/kaltara.png">    </p:cNvPr>
          <p:cNvPicPr>
            <a:picLocks noChangeAspect="1"/>
          </p:cNvPicPr>
          <p:nvPr/>
        </p:nvPicPr>
        <p:blipFill>
          <a:blip r:embed="rId1"/>
          <a:stretch>
            <a:fillRect/>
          </a:stretch>
        </p:blipFill>
        <p:spPr>
          <a:xfrm>
            <a:off x="10225735" y="6355080"/>
            <a:ext cx="274320" cy="365760"/>
          </a:xfrm>
          <a:prstGeom prst="rect">
            <a:avLst/>
          </a:prstGeom>
        </p:spPr>
      </p:pic>
      <p:pic>
        <p:nvPicPr>
          <p:cNvPr id="6" name="Image 1" descr="/home/user/joyful-visuals/docs/lomba/build/paparan/aset/tarakan.png">    </p:cNvPr>
          <p:cNvPicPr>
            <a:picLocks noChangeAspect="1"/>
          </p:cNvPicPr>
          <p:nvPr/>
        </p:nvPicPr>
        <p:blipFill>
          <a:blip r:embed="rId2"/>
          <a:stretch>
            <a:fillRect/>
          </a:stretch>
        </p:blipFill>
        <p:spPr>
          <a:xfrm>
            <a:off x="10591495" y="6355080"/>
            <a:ext cx="365760" cy="365760"/>
          </a:xfrm>
          <a:prstGeom prst="rect">
            <a:avLst/>
          </a:prstGeom>
        </p:spPr>
      </p:pic>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ELAP">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rtlCol="0"/>
          <a:lstStyle>
            <a:lvl1pPr algn="l" indent="0" marL="0">
              <a:buNone/>
              <a:defRPr lang="en-US" sz="2800" b="1" dirty="0">
                <a:solidFill>
                  <a:schemeClr val="bg1"/>
                </a:solidFill>
              </a:defRPr>
            </a:lvl1pPr>
          </a:lstStyle>
          <a:p>
            <a:pPr algn="l" indent="0" marL="0">
              <a:buNone/>
            </a:pPr>
            <a:endParaRPr lang="en-US" sz="2800" dirty="0"/>
          </a:p>
        </p:txBody>
      </p:sp>
      <p:sp>
        <p:nvSpPr>
          <p:cNvPr id="4" name="Text 0"/>
          <p:cNvSpPr/>
          <p:nvPr/>
        </p:nvSpPr>
        <p:spPr>
          <a:xfrm>
            <a:off x="548640" y="6419088"/>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Prokopim Hibot  ·  Kaltara Innovation Awards 2026  ·  Kategori Inovasi Terapan – ASN Pemerintah Kabupaten/Kota</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slideLayout" Target="../slideLayouts/slideLayout3.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3.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las logo"/>
          <p:cNvSpPr/>
          <p:nvPr/>
        </p:nvSpPr>
        <p:spPr>
          <a:xfrm>
            <a:off x="548640" y="411480"/>
            <a:ext cx="1783080" cy="868680"/>
          </a:xfrm>
          <a:prstGeom prst="roundRect">
            <a:avLst>
              <a:gd name="adj" fmla="val 14737"/>
            </a:avLst>
          </a:prstGeom>
          <a:solidFill>
            <a:schemeClr val="bg1"/>
          </a:solidFill>
          <a:ln w="12700">
            <a:solidFill>
              <a:schemeClr val="bg1"/>
            </a:solidFill>
            <a:prstDash val="solid"/>
          </a:ln>
        </p:spPr>
      </p:sp>
      <p:pic>
        <p:nvPicPr>
          <p:cNvPr id="3" name="Image 0" descr="/home/user/joyful-visuals/docs/lomba/build/paparan/aset/kaltara.png">    </p:cNvPr>
          <p:cNvPicPr>
            <a:picLocks noChangeAspect="1"/>
          </p:cNvPicPr>
          <p:nvPr/>
        </p:nvPicPr>
        <p:blipFill>
          <a:blip r:embed="rId1"/>
          <a:stretch>
            <a:fillRect/>
          </a:stretch>
        </p:blipFill>
        <p:spPr>
          <a:xfrm>
            <a:off x="731520" y="484632"/>
            <a:ext cx="548640" cy="731520"/>
          </a:xfrm>
          <a:prstGeom prst="rect">
            <a:avLst/>
          </a:prstGeom>
        </p:spPr>
      </p:pic>
      <p:pic>
        <p:nvPicPr>
          <p:cNvPr id="4" name="Image 1" descr="/home/user/joyful-visuals/docs/lomba/build/paparan/aset/tarakan.png">    </p:cNvPr>
          <p:cNvPicPr>
            <a:picLocks noChangeAspect="1"/>
          </p:cNvPicPr>
          <p:nvPr/>
        </p:nvPicPr>
        <p:blipFill>
          <a:blip r:embed="rId2"/>
          <a:stretch>
            <a:fillRect/>
          </a:stretch>
        </p:blipFill>
        <p:spPr>
          <a:xfrm>
            <a:off x="1444752" y="484632"/>
            <a:ext cx="731520" cy="731520"/>
          </a:xfrm>
          <a:prstGeom prst="rect">
            <a:avLst/>
          </a:prstGeom>
        </p:spPr>
      </p:pic>
      <p:sp>
        <p:nvSpPr>
          <p:cNvPr id="5" name="Text 1"/>
          <p:cNvSpPr txBox="1"/>
          <p:nvPr/>
        </p:nvSpPr>
        <p:spPr>
          <a:xfrm>
            <a:off x="548640" y="1417320"/>
            <a:ext cx="768096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KALTARA INNOVATION AWARDS 2026  ·  PENILAIAN TAHAP II</a:t>
            </a:r>
            <a:endParaRPr lang="en-US" sz="1200" dirty="0"/>
          </a:p>
        </p:txBody>
      </p:sp>
      <p:sp>
        <p:nvSpPr>
          <p:cNvPr id="6" name="Text 2"/>
          <p:cNvSpPr txBox="1"/>
          <p:nvPr/>
        </p:nvSpPr>
        <p:spPr>
          <a:xfrm>
            <a:off x="548640" y="1828800"/>
            <a:ext cx="7498080" cy="1005840"/>
          </a:xfrm>
          <a:prstGeom prst="rect">
            <a:avLst/>
          </a:prstGeom>
          <a:noFill/>
          <a:ln/>
        </p:spPr>
        <p:txBody>
          <a:bodyPr wrap="square" lIns="0" tIns="0" rIns="0" bIns="0" rtlCol="0" anchor="t"/>
          <a:lstStyle/>
          <a:p>
            <a:pPr indent="0" marL="0">
              <a:buNone/>
            </a:pPr>
            <a:r>
              <a:rPr lang="en-US" sz="5400" b="1" dirty="0">
                <a:solidFill>
                  <a:schemeClr val="bg1"/>
                </a:solidFill>
                <a:latin typeface="Arial" pitchFamily="34" charset="0"/>
                <a:ea typeface="Arial" pitchFamily="34" charset="-122"/>
                <a:cs typeface="Arial" pitchFamily="34" charset="-120"/>
              </a:rPr>
              <a:t>Prokopim Hibot</a:t>
            </a:r>
            <a:endParaRPr lang="en-US" sz="5400" dirty="0"/>
          </a:p>
        </p:txBody>
      </p:sp>
      <p:sp>
        <p:nvSpPr>
          <p:cNvPr id="7" name="Text 3"/>
          <p:cNvSpPr txBox="1"/>
          <p:nvPr/>
        </p:nvSpPr>
        <p:spPr>
          <a:xfrm>
            <a:off x="548640" y="2880360"/>
            <a:ext cx="7132320" cy="914400"/>
          </a:xfrm>
          <a:prstGeom prst="rect">
            <a:avLst/>
          </a:prstGeom>
          <a:noFill/>
          <a:ln/>
        </p:spPr>
        <p:txBody>
          <a:bodyPr wrap="square" lIns="0" tIns="0" rIns="0" bIns="0" rtlCol="0" anchor="t"/>
          <a:lstStyle/>
          <a:p>
            <a:pPr indent="0" marL="0">
              <a:buNone/>
            </a:pPr>
            <a:r>
              <a:rPr lang="en-US" sz="2200" dirty="0">
                <a:solidFill>
                  <a:schemeClr val="accent1"/>
                </a:solidFill>
              </a:rPr>
              <a:t>Satu Alur Digital Terverifikasi untuk Tata Kelola Agenda dan Keprotokolan Pimpinan Daerah</a:t>
            </a:r>
            <a:endParaRPr lang="en-US" sz="2200" dirty="0"/>
          </a:p>
        </p:txBody>
      </p:sp>
      <p:sp>
        <p:nvSpPr>
          <p:cNvPr id="8" name="Shape 4"/>
          <p:cNvSpPr/>
          <p:nvPr/>
        </p:nvSpPr>
        <p:spPr>
          <a:xfrm>
            <a:off x="548640" y="3931920"/>
            <a:ext cx="7498080" cy="658368"/>
          </a:xfrm>
          <a:prstGeom prst="roundRect">
            <a:avLst>
              <a:gd name="adj" fmla="val 11111"/>
            </a:avLst>
          </a:prstGeom>
          <a:solidFill>
            <a:schemeClr val="accent1">
              <a:alpha val="15000"/>
            </a:schemeClr>
          </a:solidFill>
          <a:ln w="15875">
            <a:solidFill>
              <a:schemeClr val="accent1"/>
            </a:solidFill>
            <a:prstDash val="solid"/>
          </a:ln>
        </p:spPr>
      </p:sp>
      <p:sp>
        <p:nvSpPr>
          <p:cNvPr id="9" name="Text 5"/>
          <p:cNvSpPr txBox="1"/>
          <p:nvPr/>
        </p:nvSpPr>
        <p:spPr>
          <a:xfrm>
            <a:off x="777240" y="3931920"/>
            <a:ext cx="1188720" cy="658368"/>
          </a:xfrm>
          <a:prstGeom prst="rect">
            <a:avLst/>
          </a:prstGeom>
          <a:noFill/>
          <a:ln/>
        </p:spPr>
        <p:txBody>
          <a:bodyPr wrap="square" lIns="0" tIns="0" rIns="0" bIns="0" rtlCol="0" anchor="ctr"/>
          <a:lstStyle/>
          <a:p>
            <a:pPr indent="0" marL="0">
              <a:buNone/>
            </a:pPr>
            <a:r>
              <a:rPr lang="en-US" sz="1200" b="1" spc="100" kern="0" dirty="0">
                <a:solidFill>
                  <a:schemeClr val="accent1"/>
                </a:solidFill>
              </a:rPr>
              <a:t>KATEGORI</a:t>
            </a:r>
            <a:endParaRPr lang="en-US" sz="1200" dirty="0"/>
          </a:p>
        </p:txBody>
      </p:sp>
      <p:sp>
        <p:nvSpPr>
          <p:cNvPr id="10" name="Text 6"/>
          <p:cNvSpPr txBox="1"/>
          <p:nvPr/>
        </p:nvSpPr>
        <p:spPr>
          <a:xfrm>
            <a:off x="1874520" y="3931920"/>
            <a:ext cx="6080760" cy="658368"/>
          </a:xfrm>
          <a:prstGeom prst="rect">
            <a:avLst/>
          </a:prstGeom>
          <a:noFill/>
          <a:ln/>
        </p:spPr>
        <p:txBody>
          <a:bodyPr wrap="square" lIns="0" tIns="0" rIns="0" bIns="0" rtlCol="0" anchor="ctr"/>
          <a:lstStyle/>
          <a:p>
            <a:pPr indent="0" marL="0">
              <a:buNone/>
            </a:pPr>
            <a:r>
              <a:rPr lang="en-US" sz="1900" b="1" dirty="0">
                <a:solidFill>
                  <a:schemeClr val="bg1"/>
                </a:solidFill>
              </a:rPr>
              <a:t>Inovasi Terapan – ASN Pemerintah Kabupaten/Kota</a:t>
            </a:r>
            <a:endParaRPr lang="en-US" sz="1900" dirty="0"/>
          </a:p>
        </p:txBody>
      </p:sp>
      <p:sp>
        <p:nvSpPr>
          <p:cNvPr id="11" name="Text 7"/>
          <p:cNvSpPr txBox="1"/>
          <p:nvPr/>
        </p:nvSpPr>
        <p:spPr>
          <a:xfrm>
            <a:off x="548640" y="4681728"/>
            <a:ext cx="7132320" cy="329184"/>
          </a:xfrm>
          <a:prstGeom prst="rect">
            <a:avLst/>
          </a:prstGeom>
          <a:noFill/>
          <a:ln/>
        </p:spPr>
        <p:txBody>
          <a:bodyPr wrap="square" lIns="0" tIns="0" rIns="0" bIns="0" rtlCol="0" anchor="t"/>
          <a:lstStyle/>
          <a:p>
            <a:pPr indent="0" marL="0">
              <a:buNone/>
            </a:pPr>
            <a:r>
              <a:rPr lang="en-US" sz="1500" dirty="0">
                <a:solidFill>
                  <a:schemeClr val="accent6"/>
                </a:solidFill>
              </a:rPr>
              <a:t>Bagian Protokol dan Komunikasi Pimpinan, Sekretariat Daerah Kota Tarakan</a:t>
            </a:r>
            <a:endParaRPr lang="en-US" sz="1500" dirty="0"/>
          </a:p>
        </p:txBody>
      </p:sp>
      <p:sp>
        <p:nvSpPr>
          <p:cNvPr id="12" name="Text 8"/>
          <p:cNvSpPr txBox="1"/>
          <p:nvPr/>
        </p:nvSpPr>
        <p:spPr>
          <a:xfrm>
            <a:off x="548640" y="5212080"/>
            <a:ext cx="7132320" cy="685800"/>
          </a:xfrm>
          <a:prstGeom prst="rect">
            <a:avLst/>
          </a:prstGeom>
          <a:noFill/>
          <a:ln/>
        </p:spPr>
        <p:txBody>
          <a:bodyPr wrap="square" lIns="0" tIns="0" rIns="0" bIns="0" rtlCol="0" anchor="t"/>
          <a:lstStyle/>
          <a:p>
            <a:pPr indent="0" marL="0">
              <a:buNone/>
            </a:pPr>
            <a:r>
              <a:rPr lang="en-US" sz="1400" b="1" dirty="0">
                <a:solidFill>
                  <a:schemeClr val="accent1"/>
                </a:solidFill>
              </a:rPr>
              <a:t>Tim Inovasi  </a:t>
            </a:r>
            <a:pPr indent="0" marL="0">
              <a:buNone/>
            </a:pPr>
            <a:r>
              <a:rPr lang="en-US" sz="1400" dirty="0">
                <a:solidFill>
                  <a:schemeClr val="bg1"/>
                </a:solidFill>
              </a:rPr>
              <a:t>Anugrah Yega Pranatha, M.Si. (Ketua)  ·  Saifullah, S.H.  ·  Juliyanti, S.AP.  ·  Mastura, S.Sos.  ·  Ni Kade Sari Handayani, S.AP.</a:t>
            </a:r>
            <a:endParaRPr lang="en-US" sz="1400" dirty="0"/>
          </a:p>
        </p:txBody>
      </p:sp>
      <p:pic>
        <p:nvPicPr>
          <p:cNvPr id="13" name="Image 2" descr="/home/user/joyful-visuals/docs/lomba/build/paparan/aset/hp_walikota.jpg">    </p:cNvPr>
          <p:cNvPicPr>
            <a:picLocks noChangeAspect="1"/>
          </p:cNvPicPr>
          <p:nvPr/>
        </p:nvPicPr>
        <p:blipFill>
          <a:blip r:embed="rId3"/>
          <a:stretch>
            <a:fillRect/>
          </a:stretch>
        </p:blipFill>
        <p:spPr>
          <a:xfrm>
            <a:off x="8549640" y="502920"/>
            <a:ext cx="2697480" cy="5833872"/>
          </a:xfrm>
          <a:prstGeom prst="rect">
            <a:avLst/>
          </a:prstGeom>
          <a:effectLst>
            <a:outerShdw sx="100000" sy="100000" kx="0" ky="0" algn="bl" rotWithShape="0" blurRad="152400" dist="50800" dir="5400000">
              <a:srgbClr val="000000">
                <a:alpha val="35000"/>
              </a:srgbClr>
            </a:outerShdw>
          </a:effectLst>
        </p:spPr>
      </p:pic>
      <p:sp>
        <p:nvSpPr>
          <p:cNvPr id="15"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endParaRPr lang="en-US" sz="1200" dirty="0"/>
          </a:p>
        </p:txBody>
      </p:sp>
      <p:sp>
        <p:nvSpPr>
          <p:cNvPr id="16"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LATAR BELAKANG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Satu lembar disposisi hilang, dan tak ada yang tahu</a:t>
            </a:r>
            <a:endParaRPr lang="en-US" sz="2800" dirty="0"/>
          </a:p>
        </p:txBody>
      </p:sp>
      <p:sp>
        <p:nvSpPr>
          <p:cNvPr id="4" name="lembar1"/>
          <p:cNvSpPr/>
          <p:nvPr/>
        </p:nvSpPr>
        <p:spPr>
          <a:xfrm>
            <a:off x="548640" y="2011680"/>
            <a:ext cx="4480560" cy="1005840"/>
          </a:xfrm>
          <a:prstGeom prst="roundRect">
            <a:avLst>
              <a:gd name="adj" fmla="val 10909"/>
            </a:avLst>
          </a:prstGeom>
          <a:solidFill>
            <a:schemeClr val="bg2"/>
          </a:solidFill>
          <a:ln w="9525">
            <a:solidFill>
              <a:schemeClr val="bg2"/>
            </a:solidFill>
            <a:prstDash val="solid"/>
          </a:ln>
        </p:spPr>
      </p:sp>
      <p:sp>
        <p:nvSpPr>
          <p:cNvPr id="5" name="Shape 3"/>
          <p:cNvSpPr/>
          <p:nvPr/>
        </p:nvSpPr>
        <p:spPr>
          <a:xfrm>
            <a:off x="777240" y="2258568"/>
            <a:ext cx="512064" cy="512064"/>
          </a:xfrm>
          <a:prstGeom prst="ellipse">
            <a:avLst/>
          </a:prstGeom>
          <a:solidFill>
            <a:schemeClr val="accent3"/>
          </a:solidFill>
          <a:ln w="12700">
            <a:solidFill>
              <a:schemeClr val="accent3"/>
            </a:solidFill>
            <a:prstDash val="solid"/>
          </a:ln>
        </p:spPr>
      </p:sp>
      <p:sp>
        <p:nvSpPr>
          <p:cNvPr id="6" name="Text 4"/>
          <p:cNvSpPr txBox="1"/>
          <p:nvPr/>
        </p:nvSpPr>
        <p:spPr>
          <a:xfrm>
            <a:off x="777240" y="2258568"/>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7" name="Text 5"/>
          <p:cNvSpPr txBox="1"/>
          <p:nvPr/>
        </p:nvSpPr>
        <p:spPr>
          <a:xfrm>
            <a:off x="1508760" y="2194560"/>
            <a:ext cx="3383280" cy="329184"/>
          </a:xfrm>
          <a:prstGeom prst="rect">
            <a:avLst/>
          </a:prstGeom>
          <a:noFill/>
          <a:ln/>
        </p:spPr>
        <p:txBody>
          <a:bodyPr wrap="square" lIns="0" tIns="0" rIns="0" bIns="0" rtlCol="0" anchor="t"/>
          <a:lstStyle/>
          <a:p>
            <a:pPr indent="0" marL="0">
              <a:buNone/>
            </a:pPr>
            <a:r>
              <a:rPr lang="en-US" sz="1600" b="1" dirty="0">
                <a:solidFill>
                  <a:schemeClr val="tx2"/>
                </a:solidFill>
              </a:rPr>
              <a:t>Rencana Kegiatan</a:t>
            </a:r>
            <a:endParaRPr lang="en-US" sz="1600" dirty="0"/>
          </a:p>
        </p:txBody>
      </p:sp>
      <p:sp>
        <p:nvSpPr>
          <p:cNvPr id="8" name="Text 6"/>
          <p:cNvSpPr txBox="1"/>
          <p:nvPr/>
        </p:nvSpPr>
        <p:spPr>
          <a:xfrm>
            <a:off x="1508760" y="2542032"/>
            <a:ext cx="3383280" cy="310896"/>
          </a:xfrm>
          <a:prstGeom prst="rect">
            <a:avLst/>
          </a:prstGeom>
          <a:noFill/>
          <a:ln/>
        </p:spPr>
        <p:txBody>
          <a:bodyPr wrap="square" lIns="0" tIns="0" rIns="0" bIns="0" rtlCol="0" anchor="t"/>
          <a:lstStyle/>
          <a:p>
            <a:pPr indent="0" marL="0">
              <a:buNone/>
            </a:pPr>
            <a:r>
              <a:rPr lang="en-US" sz="1400" dirty="0">
                <a:solidFill>
                  <a:schemeClr val="accent5"/>
                </a:solidFill>
              </a:rPr>
              <a:t>Difoto, terkirim ke grup WA</a:t>
            </a:r>
            <a:endParaRPr lang="en-US" sz="1400" dirty="0"/>
          </a:p>
        </p:txBody>
      </p:sp>
      <p:sp>
        <p:nvSpPr>
          <p:cNvPr id="9" name="lembar2"/>
          <p:cNvSpPr/>
          <p:nvPr/>
        </p:nvSpPr>
        <p:spPr>
          <a:xfrm>
            <a:off x="548640" y="3383280"/>
            <a:ext cx="4480560" cy="1005840"/>
          </a:xfrm>
          <a:prstGeom prst="roundRect">
            <a:avLst>
              <a:gd name="adj" fmla="val 10909"/>
            </a:avLst>
          </a:prstGeom>
          <a:solidFill>
            <a:srgbClr val="FDECEC"/>
          </a:solidFill>
          <a:ln w="19050">
            <a:solidFill>
              <a:schemeClr val="accent4"/>
            </a:solidFill>
            <a:prstDash val="solid"/>
          </a:ln>
        </p:spPr>
      </p:sp>
      <p:sp>
        <p:nvSpPr>
          <p:cNvPr id="10" name="Shape 8"/>
          <p:cNvSpPr/>
          <p:nvPr/>
        </p:nvSpPr>
        <p:spPr>
          <a:xfrm>
            <a:off x="777240" y="3630168"/>
            <a:ext cx="512064" cy="512064"/>
          </a:xfrm>
          <a:prstGeom prst="ellipse">
            <a:avLst/>
          </a:prstGeom>
          <a:solidFill>
            <a:schemeClr val="accent4"/>
          </a:solidFill>
          <a:ln w="12700">
            <a:solidFill>
              <a:schemeClr val="accent4"/>
            </a:solidFill>
            <a:prstDash val="solid"/>
          </a:ln>
        </p:spPr>
      </p:sp>
      <p:sp>
        <p:nvSpPr>
          <p:cNvPr id="11" name="Text 9"/>
          <p:cNvSpPr txBox="1"/>
          <p:nvPr/>
        </p:nvSpPr>
        <p:spPr>
          <a:xfrm>
            <a:off x="777240" y="3630168"/>
            <a:ext cx="512064" cy="512064"/>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12" name="Text 10"/>
          <p:cNvSpPr txBox="1"/>
          <p:nvPr/>
        </p:nvSpPr>
        <p:spPr>
          <a:xfrm>
            <a:off x="1508760" y="3566160"/>
            <a:ext cx="3383280" cy="329184"/>
          </a:xfrm>
          <a:prstGeom prst="rect">
            <a:avLst/>
          </a:prstGeom>
          <a:noFill/>
          <a:ln/>
        </p:spPr>
        <p:txBody>
          <a:bodyPr wrap="square" lIns="0" tIns="0" rIns="0" bIns="0" rtlCol="0" anchor="t"/>
          <a:lstStyle/>
          <a:p>
            <a:pPr indent="0" marL="0">
              <a:buNone/>
            </a:pPr>
            <a:r>
              <a:rPr lang="en-US" sz="1600" b="1" dirty="0">
                <a:solidFill>
                  <a:schemeClr val="tx2"/>
                </a:solidFill>
              </a:rPr>
              <a:t>Rencana Audiensi</a:t>
            </a:r>
            <a:endParaRPr lang="en-US" sz="1600" dirty="0"/>
          </a:p>
        </p:txBody>
      </p:sp>
      <p:sp>
        <p:nvSpPr>
          <p:cNvPr id="13" name="Text 11"/>
          <p:cNvSpPr txBox="1"/>
          <p:nvPr/>
        </p:nvSpPr>
        <p:spPr>
          <a:xfrm>
            <a:off x="1508760" y="3913632"/>
            <a:ext cx="3383280" cy="310896"/>
          </a:xfrm>
          <a:prstGeom prst="rect">
            <a:avLst/>
          </a:prstGeom>
          <a:noFill/>
          <a:ln/>
        </p:spPr>
        <p:txBody>
          <a:bodyPr wrap="square" lIns="0" tIns="0" rIns="0" bIns="0" rtlCol="0" anchor="t"/>
          <a:lstStyle/>
          <a:p>
            <a:pPr indent="0" marL="0">
              <a:buNone/>
            </a:pPr>
            <a:r>
              <a:rPr lang="en-US" sz="1400" b="1" dirty="0">
                <a:solidFill>
                  <a:schemeClr val="accent4"/>
                </a:solidFill>
              </a:rPr>
              <a:t>Tertinggal — tidak ada yang tahu</a:t>
            </a:r>
            <a:endParaRPr lang="en-US" sz="1400" dirty="0"/>
          </a:p>
        </p:txBody>
      </p:sp>
      <p:sp>
        <p:nvSpPr>
          <p:cNvPr id="14" name="Text 12"/>
          <p:cNvSpPr txBox="1"/>
          <p:nvPr/>
        </p:nvSpPr>
        <p:spPr>
          <a:xfrm>
            <a:off x="548640" y="5349240"/>
            <a:ext cx="4480560" cy="640080"/>
          </a:xfrm>
          <a:prstGeom prst="rect">
            <a:avLst/>
          </a:prstGeom>
          <a:noFill/>
          <a:ln/>
        </p:spPr>
        <p:txBody>
          <a:bodyPr wrap="square" lIns="0" tIns="0" rIns="0" bIns="0" rtlCol="0" anchor="t"/>
          <a:lstStyle/>
          <a:p>
            <a:pPr indent="0" marL="0">
              <a:buNone/>
            </a:pPr>
            <a:r>
              <a:rPr lang="en-US" sz="1500" i="1" dirty="0">
                <a:solidFill>
                  <a:schemeClr val="tx2"/>
                </a:solidFill>
              </a:rPr>
              <a:t>Januari 2026 — semua pihak bekerja dengan benar. Rantainya yang rapuh.</a:t>
            </a:r>
            <a:endParaRPr lang="en-US" sz="1500" dirty="0"/>
          </a:p>
        </p:txBody>
      </p:sp>
      <p:sp>
        <p:nvSpPr>
          <p:cNvPr id="15" name="Text 13"/>
          <p:cNvSpPr txBox="1"/>
          <p:nvPr/>
        </p:nvSpPr>
        <p:spPr>
          <a:xfrm>
            <a:off x="5669280" y="1691640"/>
            <a:ext cx="5973775" cy="365760"/>
          </a:xfrm>
          <a:prstGeom prst="rect">
            <a:avLst/>
          </a:prstGeom>
          <a:noFill/>
          <a:ln/>
        </p:spPr>
        <p:txBody>
          <a:bodyPr wrap="square" lIns="0" tIns="0" rIns="0" bIns="0" rtlCol="0" anchor="t"/>
          <a:lstStyle/>
          <a:p>
            <a:pPr indent="0" marL="0">
              <a:buNone/>
            </a:pPr>
            <a:r>
              <a:rPr lang="en-US" sz="1800" b="1" dirty="0">
                <a:solidFill>
                  <a:schemeClr val="tx2"/>
                </a:solidFill>
              </a:rPr>
              <a:t>Cara kerja sebelum Maret 2026</a:t>
            </a:r>
            <a:endParaRPr lang="en-US" sz="18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0" y="2148840"/>
          <a:ext cx="5973775" cy="914400"/>
        </p:xfrm>
        <a:graphic>
          <a:graphicData uri="http://schemas.openxmlformats.org/drawingml/2006/table">
            <a:tbl>
              <a:tblPr/>
              <a:tblGrid>
                <a:gridCol w="2331720"/>
                <a:gridCol w="3642055"/>
              </a:tblGrid>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Rencana kegiatan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Disusun di spreadsheet, lalu dicetak</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Penelaahan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±30 menit menjelang jam pulang (16.00)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Disposisi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Beredar sebagai foto di grup percakapan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Penugasan petugas</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Bergantung pada ingatan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Ketersediaan ruangan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Hanya tercatat di papan tulis</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12064">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Pengajuan → tayang</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b="1" dirty="0">
                          <a:solidFill>
                            <a:schemeClr val="accent4"/>
                          </a:solidFill>
                          <a:latin typeface="Arial" pitchFamily="34" charset="0"/>
                          <a:ea typeface="Arial" pitchFamily="34" charset="-122"/>
                          <a:cs typeface="Arial" pitchFamily="34" charset="-120"/>
                        </a:rPr>
                        <a:t>Diperkirakan 18–24 jam</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LATAR BELAKANG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Akar masalahnya satu: tidak ada sumber data yang sahih</a:t>
            </a:r>
            <a:endParaRPr lang="en-US" sz="2800" dirty="0"/>
          </a:p>
        </p:txBody>
      </p:sp>
      <p:sp>
        <p:nvSpPr>
          <p:cNvPr id="4" name="akar"/>
          <p:cNvSpPr/>
          <p:nvPr/>
        </p:nvSpPr>
        <p:spPr>
          <a:xfrm>
            <a:off x="548640" y="2651760"/>
            <a:ext cx="3291840" cy="1737360"/>
          </a:xfrm>
          <a:prstGeom prst="roundRect">
            <a:avLst>
              <a:gd name="adj" fmla="val 6316"/>
            </a:avLst>
          </a:prstGeom>
          <a:solidFill>
            <a:schemeClr val="tx2"/>
          </a:solidFill>
          <a:ln w="9525">
            <a:solidFill>
              <a:schemeClr val="tx2"/>
            </a:solidFill>
            <a:prstDash val="solid"/>
          </a:ln>
        </p:spPr>
      </p:sp>
      <p:sp>
        <p:nvSpPr>
          <p:cNvPr id="5" name="Text 3"/>
          <p:cNvSpPr txBox="1"/>
          <p:nvPr/>
        </p:nvSpPr>
        <p:spPr>
          <a:xfrm>
            <a:off x="822960" y="2880360"/>
            <a:ext cx="2743200"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AKAR MASALAH</a:t>
            </a:r>
            <a:endParaRPr lang="en-US" sz="1200" dirty="0"/>
          </a:p>
        </p:txBody>
      </p:sp>
      <p:sp>
        <p:nvSpPr>
          <p:cNvPr id="6" name="Text 4"/>
          <p:cNvSpPr txBox="1"/>
          <p:nvPr/>
        </p:nvSpPr>
        <p:spPr>
          <a:xfrm>
            <a:off x="822960" y="3200400"/>
            <a:ext cx="2788920" cy="1097280"/>
          </a:xfrm>
          <a:prstGeom prst="rect">
            <a:avLst/>
          </a:prstGeom>
          <a:noFill/>
          <a:ln/>
        </p:spPr>
        <p:txBody>
          <a:bodyPr wrap="square" lIns="0" tIns="0" rIns="0" bIns="0" rtlCol="0" anchor="t"/>
          <a:lstStyle/>
          <a:p>
            <a:pPr indent="0" marL="0">
              <a:buNone/>
            </a:pPr>
            <a:r>
              <a:rPr lang="en-US" sz="1800" b="1" dirty="0">
                <a:solidFill>
                  <a:schemeClr val="bg1"/>
                </a:solidFill>
              </a:rPr>
              <a:t>Tidak ada satu sumber data yang dapat dirujuk semua pihak</a:t>
            </a:r>
            <a:endParaRPr lang="en-US" sz="1800" dirty="0"/>
          </a:p>
        </p:txBody>
      </p:sp>
      <p:sp>
        <p:nvSpPr>
          <p:cNvPr id="7" name="Shape 5"/>
          <p:cNvSpPr/>
          <p:nvPr/>
        </p:nvSpPr>
        <p:spPr>
          <a:xfrm>
            <a:off x="3840480" y="3520440"/>
            <a:ext cx="1005840" cy="-1591056"/>
          </a:xfrm>
          <a:prstGeom prst="line">
            <a:avLst/>
          </a:prstGeom>
          <a:noFill/>
          <a:ln w="22225">
            <a:solidFill>
              <a:schemeClr val="accent5"/>
            </a:solidFill>
            <a:prstDash val="solid"/>
            <a:tailEnd type="triangle"/>
          </a:ln>
        </p:spPr>
      </p:sp>
      <p:sp>
        <p:nvSpPr>
          <p:cNvPr id="8" name="cabang1"/>
          <p:cNvSpPr/>
          <p:nvPr/>
        </p:nvSpPr>
        <p:spPr>
          <a:xfrm>
            <a:off x="4892040" y="1627632"/>
            <a:ext cx="3931920" cy="603504"/>
          </a:xfrm>
          <a:prstGeom prst="roundRect">
            <a:avLst>
              <a:gd name="adj" fmla="val 18182"/>
            </a:avLst>
          </a:prstGeom>
          <a:solidFill>
            <a:schemeClr val="bg2"/>
          </a:solidFill>
          <a:ln w="9525">
            <a:solidFill>
              <a:schemeClr val="bg2"/>
            </a:solidFill>
            <a:prstDash val="solid"/>
          </a:ln>
        </p:spPr>
      </p:sp>
      <p:sp>
        <p:nvSpPr>
          <p:cNvPr id="9" name="Text 7"/>
          <p:cNvSpPr txBox="1"/>
          <p:nvPr/>
        </p:nvSpPr>
        <p:spPr>
          <a:xfrm>
            <a:off x="5093208" y="1627632"/>
            <a:ext cx="3611880" cy="603504"/>
          </a:xfrm>
          <a:prstGeom prst="rect">
            <a:avLst/>
          </a:prstGeom>
          <a:noFill/>
          <a:ln/>
        </p:spPr>
        <p:txBody>
          <a:bodyPr wrap="square" lIns="0" tIns="0" rIns="0" bIns="0" rtlCol="0" anchor="ctr"/>
          <a:lstStyle/>
          <a:p>
            <a:pPr indent="0" marL="0">
              <a:buNone/>
            </a:pPr>
            <a:r>
              <a:rPr lang="en-US" sz="1500" dirty="0">
                <a:solidFill>
                  <a:schemeClr val="tx1"/>
                </a:solidFill>
              </a:rPr>
              <a:t>Penelaahan terikat jendela ±30 menit</a:t>
            </a:r>
            <a:endParaRPr lang="en-US" sz="1500" dirty="0"/>
          </a:p>
        </p:txBody>
      </p:sp>
      <p:sp>
        <p:nvSpPr>
          <p:cNvPr id="10" name="Shape 8"/>
          <p:cNvSpPr/>
          <p:nvPr/>
        </p:nvSpPr>
        <p:spPr>
          <a:xfrm>
            <a:off x="3840480" y="3520440"/>
            <a:ext cx="1005840" cy="-804672"/>
          </a:xfrm>
          <a:prstGeom prst="line">
            <a:avLst/>
          </a:prstGeom>
          <a:noFill/>
          <a:ln w="22225">
            <a:solidFill>
              <a:schemeClr val="accent5"/>
            </a:solidFill>
            <a:prstDash val="solid"/>
            <a:tailEnd type="triangle"/>
          </a:ln>
        </p:spPr>
      </p:sp>
      <p:sp>
        <p:nvSpPr>
          <p:cNvPr id="11" name="cabang2"/>
          <p:cNvSpPr/>
          <p:nvPr/>
        </p:nvSpPr>
        <p:spPr>
          <a:xfrm>
            <a:off x="4892040" y="2414016"/>
            <a:ext cx="3931920" cy="603504"/>
          </a:xfrm>
          <a:prstGeom prst="roundRect">
            <a:avLst>
              <a:gd name="adj" fmla="val 18182"/>
            </a:avLst>
          </a:prstGeom>
          <a:solidFill>
            <a:schemeClr val="bg2"/>
          </a:solidFill>
          <a:ln w="9525">
            <a:solidFill>
              <a:schemeClr val="bg2"/>
            </a:solidFill>
            <a:prstDash val="solid"/>
          </a:ln>
        </p:spPr>
      </p:sp>
      <p:sp>
        <p:nvSpPr>
          <p:cNvPr id="12" name="Text 10"/>
          <p:cNvSpPr txBox="1"/>
          <p:nvPr/>
        </p:nvSpPr>
        <p:spPr>
          <a:xfrm>
            <a:off x="5093208" y="2414016"/>
            <a:ext cx="3611880" cy="603504"/>
          </a:xfrm>
          <a:prstGeom prst="rect">
            <a:avLst/>
          </a:prstGeom>
          <a:noFill/>
          <a:ln/>
        </p:spPr>
        <p:txBody>
          <a:bodyPr wrap="square" lIns="0" tIns="0" rIns="0" bIns="0" rtlCol="0" anchor="ctr"/>
          <a:lstStyle/>
          <a:p>
            <a:pPr indent="0" marL="0">
              <a:buNone/>
            </a:pPr>
            <a:r>
              <a:rPr lang="en-US" sz="1500" dirty="0">
                <a:solidFill>
                  <a:schemeClr val="tx1"/>
                </a:solidFill>
              </a:rPr>
              <a:t>Keputusan tidak meninggalkan jejak</a:t>
            </a:r>
            <a:endParaRPr lang="en-US" sz="1500" dirty="0"/>
          </a:p>
        </p:txBody>
      </p:sp>
      <p:sp>
        <p:nvSpPr>
          <p:cNvPr id="13" name="Shape 11"/>
          <p:cNvSpPr/>
          <p:nvPr/>
        </p:nvSpPr>
        <p:spPr>
          <a:xfrm>
            <a:off x="3840480" y="3520440"/>
            <a:ext cx="1005840" cy="-18288"/>
          </a:xfrm>
          <a:prstGeom prst="line">
            <a:avLst/>
          </a:prstGeom>
          <a:noFill/>
          <a:ln w="22225">
            <a:solidFill>
              <a:schemeClr val="accent5"/>
            </a:solidFill>
            <a:prstDash val="solid"/>
            <a:tailEnd type="triangle"/>
          </a:ln>
        </p:spPr>
      </p:sp>
      <p:sp>
        <p:nvSpPr>
          <p:cNvPr id="14" name="cabang3"/>
          <p:cNvSpPr/>
          <p:nvPr/>
        </p:nvSpPr>
        <p:spPr>
          <a:xfrm>
            <a:off x="4892040" y="3200400"/>
            <a:ext cx="3931920" cy="603504"/>
          </a:xfrm>
          <a:prstGeom prst="roundRect">
            <a:avLst>
              <a:gd name="adj" fmla="val 18182"/>
            </a:avLst>
          </a:prstGeom>
          <a:solidFill>
            <a:schemeClr val="bg2"/>
          </a:solidFill>
          <a:ln w="9525">
            <a:solidFill>
              <a:schemeClr val="bg2"/>
            </a:solidFill>
            <a:prstDash val="solid"/>
          </a:ln>
        </p:spPr>
      </p:sp>
      <p:sp>
        <p:nvSpPr>
          <p:cNvPr id="15" name="Text 13"/>
          <p:cNvSpPr txBox="1"/>
          <p:nvPr/>
        </p:nvSpPr>
        <p:spPr>
          <a:xfrm>
            <a:off x="5093208" y="3200400"/>
            <a:ext cx="3611880" cy="603504"/>
          </a:xfrm>
          <a:prstGeom prst="rect">
            <a:avLst/>
          </a:prstGeom>
          <a:noFill/>
          <a:ln/>
        </p:spPr>
        <p:txBody>
          <a:bodyPr wrap="square" lIns="0" tIns="0" rIns="0" bIns="0" rtlCol="0" anchor="ctr"/>
          <a:lstStyle/>
          <a:p>
            <a:pPr indent="0" marL="0">
              <a:buNone/>
            </a:pPr>
            <a:r>
              <a:rPr lang="en-US" sz="1500" dirty="0">
                <a:solidFill>
                  <a:schemeClr val="tx1"/>
                </a:solidFill>
              </a:rPr>
              <a:t>Beberapa versi cetakan beredar bersamaan</a:t>
            </a:r>
            <a:endParaRPr lang="en-US" sz="1500" dirty="0"/>
          </a:p>
        </p:txBody>
      </p:sp>
      <p:sp>
        <p:nvSpPr>
          <p:cNvPr id="16" name="Shape 14"/>
          <p:cNvSpPr/>
          <p:nvPr/>
        </p:nvSpPr>
        <p:spPr>
          <a:xfrm>
            <a:off x="3840480" y="3520440"/>
            <a:ext cx="1005840" cy="768096"/>
          </a:xfrm>
          <a:prstGeom prst="line">
            <a:avLst/>
          </a:prstGeom>
          <a:noFill/>
          <a:ln w="22225">
            <a:solidFill>
              <a:schemeClr val="accent5"/>
            </a:solidFill>
            <a:prstDash val="solid"/>
            <a:tailEnd type="triangle"/>
          </a:ln>
        </p:spPr>
      </p:sp>
      <p:sp>
        <p:nvSpPr>
          <p:cNvPr id="17" name="cabang4"/>
          <p:cNvSpPr/>
          <p:nvPr/>
        </p:nvSpPr>
        <p:spPr>
          <a:xfrm>
            <a:off x="4892040" y="3986784"/>
            <a:ext cx="3931920" cy="603504"/>
          </a:xfrm>
          <a:prstGeom prst="roundRect">
            <a:avLst>
              <a:gd name="adj" fmla="val 18182"/>
            </a:avLst>
          </a:prstGeom>
          <a:solidFill>
            <a:schemeClr val="bg2"/>
          </a:solidFill>
          <a:ln w="9525">
            <a:solidFill>
              <a:schemeClr val="bg2"/>
            </a:solidFill>
            <a:prstDash val="solid"/>
          </a:ln>
        </p:spPr>
      </p:sp>
      <p:sp>
        <p:nvSpPr>
          <p:cNvPr id="18" name="Text 16"/>
          <p:cNvSpPr txBox="1"/>
          <p:nvPr/>
        </p:nvSpPr>
        <p:spPr>
          <a:xfrm>
            <a:off x="5093208" y="3986784"/>
            <a:ext cx="3611880" cy="603504"/>
          </a:xfrm>
          <a:prstGeom prst="rect">
            <a:avLst/>
          </a:prstGeom>
          <a:noFill/>
          <a:ln/>
        </p:spPr>
        <p:txBody>
          <a:bodyPr wrap="square" lIns="0" tIns="0" rIns="0" bIns="0" rtlCol="0" anchor="ctr"/>
          <a:lstStyle/>
          <a:p>
            <a:pPr indent="0" marL="0">
              <a:buNone/>
            </a:pPr>
            <a:r>
              <a:rPr lang="en-US" sz="1500" dirty="0">
                <a:solidFill>
                  <a:schemeClr val="tx1"/>
                </a:solidFill>
              </a:rPr>
              <a:t>Pengetahuan kerja melekat pada orang</a:t>
            </a:r>
            <a:endParaRPr lang="en-US" sz="1500" dirty="0"/>
          </a:p>
        </p:txBody>
      </p:sp>
      <p:sp>
        <p:nvSpPr>
          <p:cNvPr id="19" name="Shape 17"/>
          <p:cNvSpPr/>
          <p:nvPr/>
        </p:nvSpPr>
        <p:spPr>
          <a:xfrm>
            <a:off x="3840480" y="3520440"/>
            <a:ext cx="1005840" cy="1554480"/>
          </a:xfrm>
          <a:prstGeom prst="line">
            <a:avLst/>
          </a:prstGeom>
          <a:noFill/>
          <a:ln w="22225">
            <a:solidFill>
              <a:schemeClr val="accent5"/>
            </a:solidFill>
            <a:prstDash val="solid"/>
            <a:tailEnd type="triangle"/>
          </a:ln>
        </p:spPr>
      </p:sp>
      <p:sp>
        <p:nvSpPr>
          <p:cNvPr id="20" name="cabang5"/>
          <p:cNvSpPr/>
          <p:nvPr/>
        </p:nvSpPr>
        <p:spPr>
          <a:xfrm>
            <a:off x="4892040" y="4773168"/>
            <a:ext cx="3931920" cy="603504"/>
          </a:xfrm>
          <a:prstGeom prst="roundRect">
            <a:avLst>
              <a:gd name="adj" fmla="val 18182"/>
            </a:avLst>
          </a:prstGeom>
          <a:solidFill>
            <a:schemeClr val="bg2"/>
          </a:solidFill>
          <a:ln w="9525">
            <a:solidFill>
              <a:schemeClr val="bg2"/>
            </a:solidFill>
            <a:prstDash val="solid"/>
          </a:ln>
        </p:spPr>
      </p:sp>
      <p:sp>
        <p:nvSpPr>
          <p:cNvPr id="21" name="Text 19"/>
          <p:cNvSpPr txBox="1"/>
          <p:nvPr/>
        </p:nvSpPr>
        <p:spPr>
          <a:xfrm>
            <a:off x="5093208" y="4773168"/>
            <a:ext cx="3611880" cy="603504"/>
          </a:xfrm>
          <a:prstGeom prst="rect">
            <a:avLst/>
          </a:prstGeom>
          <a:noFill/>
          <a:ln/>
        </p:spPr>
        <p:txBody>
          <a:bodyPr wrap="square" lIns="0" tIns="0" rIns="0" bIns="0" rtlCol="0" anchor="ctr"/>
          <a:lstStyle/>
          <a:p>
            <a:pPr indent="0" marL="0">
              <a:buNone/>
            </a:pPr>
            <a:r>
              <a:rPr lang="en-US" sz="1500" dirty="0">
                <a:solidFill>
                  <a:schemeClr val="tx1"/>
                </a:solidFill>
              </a:rPr>
              <a:t>Kanal publik tidak dapat ditelusuri</a:t>
            </a:r>
            <a:endParaRPr lang="en-US" sz="1500" dirty="0"/>
          </a:p>
        </p:txBody>
      </p:sp>
      <p:sp>
        <p:nvSpPr>
          <p:cNvPr id="22" name="penjaringan"/>
          <p:cNvSpPr/>
          <p:nvPr/>
        </p:nvSpPr>
        <p:spPr>
          <a:xfrm>
            <a:off x="9098280" y="1627632"/>
            <a:ext cx="2544775" cy="2926080"/>
          </a:xfrm>
          <a:prstGeom prst="roundRect">
            <a:avLst>
              <a:gd name="adj" fmla="val 4312"/>
            </a:avLst>
          </a:prstGeom>
          <a:solidFill>
            <a:srgbClr val="FFFFFF"/>
          </a:solidFill>
          <a:ln w="9525">
            <a:solidFill>
              <a:schemeClr val="accent6"/>
            </a:solidFill>
            <a:prstDash val="solid"/>
          </a:ln>
        </p:spPr>
      </p:sp>
      <p:sp>
        <p:nvSpPr>
          <p:cNvPr id="23" name="Text 21"/>
          <p:cNvSpPr txBox="1"/>
          <p:nvPr/>
        </p:nvSpPr>
        <p:spPr>
          <a:xfrm>
            <a:off x="9299448" y="1810512"/>
            <a:ext cx="2142439" cy="640080"/>
          </a:xfrm>
          <a:prstGeom prst="rect">
            <a:avLst/>
          </a:prstGeom>
          <a:noFill/>
          <a:ln/>
        </p:spPr>
        <p:txBody>
          <a:bodyPr wrap="square" lIns="0" tIns="0" rIns="0" bIns="0" rtlCol="0" anchor="t"/>
          <a:lstStyle/>
          <a:p>
            <a:pPr indent="0" marL="0">
              <a:buNone/>
            </a:pPr>
            <a:r>
              <a:rPr lang="en-US" sz="1500" b="1" dirty="0">
                <a:solidFill>
                  <a:schemeClr val="tx2"/>
                </a:solidFill>
              </a:rPr>
              <a:t>Ide dijaring dari pekerjaan sehari-hari</a:t>
            </a:r>
            <a:endParaRPr lang="en-US" sz="1500" dirty="0"/>
          </a:p>
        </p:txBody>
      </p:sp>
      <p:sp>
        <p:nvSpPr>
          <p:cNvPr id="24" name="Text 22"/>
          <p:cNvSpPr txBox="1"/>
          <p:nvPr/>
        </p:nvSpPr>
        <p:spPr>
          <a:xfrm>
            <a:off x="9299448" y="2560320"/>
            <a:ext cx="2142439" cy="2560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Banyak pintu masuk informasi agenda</a:t>
            </a:r>
            <a:endParaRPr lang="en-US" sz="1400" dirty="0"/>
          </a:p>
          <a:p>
            <a:pPr marL="342900" indent="-342900">
              <a:spcAft>
                <a:spcPts val="800"/>
              </a:spcAft>
              <a:buSzPct val="100000"/>
              <a:buChar char="•"/>
            </a:pPr>
            <a:r>
              <a:rPr lang="en-US" sz="1400" dirty="0">
                <a:solidFill>
                  <a:schemeClr val="tx1"/>
                </a:solidFill>
              </a:rPr>
              <a:t>Peristiwa Januari 2026</a:t>
            </a:r>
            <a:endParaRPr lang="en-US" sz="1400" dirty="0"/>
          </a:p>
          <a:p>
            <a:pPr marL="342900" indent="-342900">
              <a:spcAft>
                <a:spcPts val="800"/>
              </a:spcAft>
              <a:buSzPct val="100000"/>
              <a:buChar char="•"/>
            </a:pPr>
            <a:r>
              <a:rPr lang="en-US" sz="1400" dirty="0">
                <a:solidFill>
                  <a:schemeClr val="tx1"/>
                </a:solidFill>
              </a:rPr>
              <a:t>Telaah bersama seluruh Bagian Prokopim</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TEROBOSAN INOVASI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Bukan menambah pengawasan, tetapi mengganti rantainya</a:t>
            </a:r>
            <a:endParaRPr lang="en-US" sz="2800" dirty="0"/>
          </a:p>
        </p:txBody>
      </p:sp>
      <p:sp>
        <p:nvSpPr>
          <p:cNvPr id="4" name="pilihan1"/>
          <p:cNvSpPr/>
          <p:nvPr/>
        </p:nvSpPr>
        <p:spPr>
          <a:xfrm>
            <a:off x="548640" y="1600200"/>
            <a:ext cx="2602154" cy="2011680"/>
          </a:xfrm>
          <a:prstGeom prst="roundRect">
            <a:avLst>
              <a:gd name="adj" fmla="val 5455"/>
            </a:avLst>
          </a:prstGeom>
          <a:solidFill>
            <a:schemeClr val="bg2"/>
          </a:solidFill>
          <a:ln w="9525">
            <a:solidFill>
              <a:schemeClr val="bg2"/>
            </a:solidFill>
            <a:prstDash val="solid"/>
          </a:ln>
        </p:spPr>
      </p:sp>
      <p:sp>
        <p:nvSpPr>
          <p:cNvPr id="5" name="Shape 3"/>
          <p:cNvSpPr/>
          <p:nvPr/>
        </p:nvSpPr>
        <p:spPr>
          <a:xfrm>
            <a:off x="749808" y="1783080"/>
            <a:ext cx="384048" cy="384048"/>
          </a:xfrm>
          <a:prstGeom prst="ellipse">
            <a:avLst/>
          </a:prstGeom>
          <a:solidFill>
            <a:schemeClr val="accent6"/>
          </a:solidFill>
          <a:ln w="12700">
            <a:solidFill>
              <a:schemeClr val="accent6"/>
            </a:solidFill>
            <a:prstDash val="solid"/>
          </a:ln>
        </p:spPr>
      </p:sp>
      <p:sp>
        <p:nvSpPr>
          <p:cNvPr id="6" name="Text 4"/>
          <p:cNvSpPr txBox="1"/>
          <p:nvPr/>
        </p:nvSpPr>
        <p:spPr>
          <a:xfrm>
            <a:off x="749808"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7" name="Text 5"/>
          <p:cNvSpPr txBox="1"/>
          <p:nvPr/>
        </p:nvSpPr>
        <p:spPr>
          <a:xfrm>
            <a:off x="749808"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Menambah pengawasan dan pengingat manual</a:t>
            </a:r>
            <a:endParaRPr lang="en-US" sz="1400" dirty="0"/>
          </a:p>
        </p:txBody>
      </p:sp>
      <p:sp>
        <p:nvSpPr>
          <p:cNvPr id="8" name="Text 6"/>
          <p:cNvSpPr txBox="1"/>
          <p:nvPr/>
        </p:nvSpPr>
        <p:spPr>
          <a:xfrm>
            <a:off x="749808" y="3090672"/>
            <a:ext cx="2199818" cy="457200"/>
          </a:xfrm>
          <a:prstGeom prst="rect">
            <a:avLst/>
          </a:prstGeom>
          <a:noFill/>
          <a:ln/>
        </p:spPr>
        <p:txBody>
          <a:bodyPr wrap="square" lIns="0" tIns="0" rIns="0" bIns="0" rtlCol="0" anchor="t"/>
          <a:lstStyle/>
          <a:p>
            <a:pPr indent="0" marL="0">
              <a:buNone/>
            </a:pPr>
            <a:r>
              <a:rPr lang="en-US" sz="1400" dirty="0">
                <a:solidFill>
                  <a:schemeClr val="accent5"/>
                </a:solidFill>
              </a:rPr>
              <a:t>Tidak menyentuh akar masalah</a:t>
            </a:r>
            <a:endParaRPr lang="en-US" sz="1400" dirty="0"/>
          </a:p>
        </p:txBody>
      </p:sp>
      <p:sp>
        <p:nvSpPr>
          <p:cNvPr id="9" name="pilihan2"/>
          <p:cNvSpPr/>
          <p:nvPr/>
        </p:nvSpPr>
        <p:spPr>
          <a:xfrm>
            <a:off x="3379394" y="1600200"/>
            <a:ext cx="2602154" cy="2011680"/>
          </a:xfrm>
          <a:prstGeom prst="roundRect">
            <a:avLst>
              <a:gd name="adj" fmla="val 5455"/>
            </a:avLst>
          </a:prstGeom>
          <a:solidFill>
            <a:schemeClr val="bg2"/>
          </a:solidFill>
          <a:ln w="9525">
            <a:solidFill>
              <a:schemeClr val="bg2"/>
            </a:solidFill>
            <a:prstDash val="solid"/>
          </a:ln>
        </p:spPr>
      </p:sp>
      <p:sp>
        <p:nvSpPr>
          <p:cNvPr id="10" name="Shape 8"/>
          <p:cNvSpPr/>
          <p:nvPr/>
        </p:nvSpPr>
        <p:spPr>
          <a:xfrm>
            <a:off x="3580562" y="1783080"/>
            <a:ext cx="384048" cy="384048"/>
          </a:xfrm>
          <a:prstGeom prst="ellipse">
            <a:avLst/>
          </a:prstGeom>
          <a:solidFill>
            <a:schemeClr val="accent6"/>
          </a:solidFill>
          <a:ln w="12700">
            <a:solidFill>
              <a:schemeClr val="accent6"/>
            </a:solidFill>
            <a:prstDash val="solid"/>
          </a:ln>
        </p:spPr>
      </p:sp>
      <p:sp>
        <p:nvSpPr>
          <p:cNvPr id="11" name="Text 9"/>
          <p:cNvSpPr txBox="1"/>
          <p:nvPr/>
        </p:nvSpPr>
        <p:spPr>
          <a:xfrm>
            <a:off x="3580562"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12" name="Text 10"/>
          <p:cNvSpPr txBox="1"/>
          <p:nvPr/>
        </p:nvSpPr>
        <p:spPr>
          <a:xfrm>
            <a:off x="3580562"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Merapikan spreadsheet bersama</a:t>
            </a:r>
            <a:endParaRPr lang="en-US" sz="1400" dirty="0"/>
          </a:p>
        </p:txBody>
      </p:sp>
      <p:sp>
        <p:nvSpPr>
          <p:cNvPr id="13" name="Text 11"/>
          <p:cNvSpPr txBox="1"/>
          <p:nvPr/>
        </p:nvSpPr>
        <p:spPr>
          <a:xfrm>
            <a:off x="3580562" y="3090672"/>
            <a:ext cx="2199818" cy="457200"/>
          </a:xfrm>
          <a:prstGeom prst="rect">
            <a:avLst/>
          </a:prstGeom>
          <a:noFill/>
          <a:ln/>
        </p:spPr>
        <p:txBody>
          <a:bodyPr wrap="square" lIns="0" tIns="0" rIns="0" bIns="0" rtlCol="0" anchor="t"/>
          <a:lstStyle/>
          <a:p>
            <a:pPr indent="0" marL="0">
              <a:buNone/>
            </a:pPr>
            <a:r>
              <a:rPr lang="en-US" sz="1400" dirty="0">
                <a:solidFill>
                  <a:schemeClr val="accent5"/>
                </a:solidFill>
              </a:rPr>
              <a:t>Tetap banyak versi, tanpa jejak keputusan</a:t>
            </a:r>
            <a:endParaRPr lang="en-US" sz="1400" dirty="0"/>
          </a:p>
        </p:txBody>
      </p:sp>
      <p:sp>
        <p:nvSpPr>
          <p:cNvPr id="14" name="pilihan3"/>
          <p:cNvSpPr/>
          <p:nvPr/>
        </p:nvSpPr>
        <p:spPr>
          <a:xfrm>
            <a:off x="6210148" y="1600200"/>
            <a:ext cx="2602154" cy="2011680"/>
          </a:xfrm>
          <a:prstGeom prst="roundRect">
            <a:avLst>
              <a:gd name="adj" fmla="val 5455"/>
            </a:avLst>
          </a:prstGeom>
          <a:solidFill>
            <a:schemeClr val="bg2"/>
          </a:solidFill>
          <a:ln w="9525">
            <a:solidFill>
              <a:schemeClr val="bg2"/>
            </a:solidFill>
            <a:prstDash val="solid"/>
          </a:ln>
        </p:spPr>
      </p:sp>
      <p:sp>
        <p:nvSpPr>
          <p:cNvPr id="15" name="Shape 13"/>
          <p:cNvSpPr/>
          <p:nvPr/>
        </p:nvSpPr>
        <p:spPr>
          <a:xfrm>
            <a:off x="6411316" y="1783080"/>
            <a:ext cx="384048" cy="384048"/>
          </a:xfrm>
          <a:prstGeom prst="ellipse">
            <a:avLst/>
          </a:prstGeom>
          <a:solidFill>
            <a:schemeClr val="accent6"/>
          </a:solidFill>
          <a:ln w="12700">
            <a:solidFill>
              <a:schemeClr val="accent6"/>
            </a:solidFill>
            <a:prstDash val="solid"/>
          </a:ln>
        </p:spPr>
      </p:sp>
      <p:sp>
        <p:nvSpPr>
          <p:cNvPr id="16" name="Text 14"/>
          <p:cNvSpPr txBox="1"/>
          <p:nvPr/>
        </p:nvSpPr>
        <p:spPr>
          <a:xfrm>
            <a:off x="6411316" y="1783080"/>
            <a:ext cx="384048" cy="384048"/>
          </a:xfrm>
          <a:prstGeom prst="rect">
            <a:avLst/>
          </a:prstGeom>
          <a:noFill/>
          <a:ln/>
        </p:spPr>
        <p:txBody>
          <a:bodyPr wrap="square" lIns="0" tIns="0" rIns="0" bIns="0" rtlCol="0" anchor="ctr"/>
          <a:lstStyle/>
          <a:p>
            <a:pPr algn="ctr" indent="0" marL="0">
              <a:buNone/>
            </a:pPr>
            <a:r>
              <a:rPr lang="en-US" sz="1400" b="1" dirty="0">
                <a:solidFill>
                  <a:schemeClr val="accent5"/>
                </a:solidFill>
              </a:rPr>
              <a:t>✗</a:t>
            </a:r>
            <a:endParaRPr lang="en-US" sz="1400" dirty="0"/>
          </a:p>
        </p:txBody>
      </p:sp>
      <p:sp>
        <p:nvSpPr>
          <p:cNvPr id="17" name="Text 15"/>
          <p:cNvSpPr txBox="1"/>
          <p:nvPr/>
        </p:nvSpPr>
        <p:spPr>
          <a:xfrm>
            <a:off x="6411316" y="2240280"/>
            <a:ext cx="2199818" cy="777240"/>
          </a:xfrm>
          <a:prstGeom prst="rect">
            <a:avLst/>
          </a:prstGeom>
          <a:noFill/>
          <a:ln/>
        </p:spPr>
        <p:txBody>
          <a:bodyPr wrap="square" lIns="0" tIns="0" rIns="0" bIns="0" rtlCol="0" anchor="t"/>
          <a:lstStyle/>
          <a:p>
            <a:pPr indent="0" marL="0">
              <a:buNone/>
            </a:pPr>
            <a:r>
              <a:rPr lang="en-US" sz="1400" b="1" dirty="0">
                <a:solidFill>
                  <a:schemeClr val="tx2"/>
                </a:solidFill>
              </a:rPr>
              <a:t>Membeli aplikasi jadi</a:t>
            </a:r>
            <a:endParaRPr lang="en-US" sz="1400" dirty="0"/>
          </a:p>
        </p:txBody>
      </p:sp>
      <p:sp>
        <p:nvSpPr>
          <p:cNvPr id="18" name="Text 16"/>
          <p:cNvSpPr txBox="1"/>
          <p:nvPr/>
        </p:nvSpPr>
        <p:spPr>
          <a:xfrm>
            <a:off x="6411316" y="3090672"/>
            <a:ext cx="2199818" cy="457200"/>
          </a:xfrm>
          <a:prstGeom prst="rect">
            <a:avLst/>
          </a:prstGeom>
          <a:noFill/>
          <a:ln/>
        </p:spPr>
        <p:txBody>
          <a:bodyPr wrap="square" lIns="0" tIns="0" rIns="0" bIns="0" rtlCol="0" anchor="t"/>
          <a:lstStyle/>
          <a:p>
            <a:pPr indent="0" marL="0">
              <a:buNone/>
            </a:pPr>
            <a:r>
              <a:rPr lang="en-US" sz="1400" dirty="0">
                <a:solidFill>
                  <a:schemeClr val="accent5"/>
                </a:solidFill>
              </a:rPr>
              <a:t>Butuh anggaran; alur keprotokolan sangat khas</a:t>
            </a:r>
            <a:endParaRPr lang="en-US" sz="1400" dirty="0"/>
          </a:p>
        </p:txBody>
      </p:sp>
      <p:sp>
        <p:nvSpPr>
          <p:cNvPr id="19" name="pilihan4"/>
          <p:cNvSpPr/>
          <p:nvPr/>
        </p:nvSpPr>
        <p:spPr>
          <a:xfrm>
            <a:off x="9040901" y="1600200"/>
            <a:ext cx="2602154" cy="2011680"/>
          </a:xfrm>
          <a:prstGeom prst="roundRect">
            <a:avLst>
              <a:gd name="adj" fmla="val 5455"/>
            </a:avLst>
          </a:prstGeom>
          <a:solidFill>
            <a:schemeClr val="tx2"/>
          </a:solidFill>
          <a:ln w="9525">
            <a:solidFill>
              <a:schemeClr val="tx2"/>
            </a:solidFill>
            <a:prstDash val="solid"/>
          </a:ln>
          <a:effectLst>
            <a:outerShdw sx="100000" sy="100000" kx="0" ky="0" algn="bl" rotWithShape="0" blurRad="101600" dist="25400" dir="5400000">
              <a:srgbClr val="0A1628">
                <a:alpha val="12000"/>
              </a:srgbClr>
            </a:outerShdw>
          </a:effectLst>
        </p:spPr>
      </p:sp>
      <p:sp>
        <p:nvSpPr>
          <p:cNvPr id="20" name="Shape 18"/>
          <p:cNvSpPr/>
          <p:nvPr/>
        </p:nvSpPr>
        <p:spPr>
          <a:xfrm>
            <a:off x="9242069" y="1783080"/>
            <a:ext cx="384048" cy="384048"/>
          </a:xfrm>
          <a:prstGeom prst="ellipse">
            <a:avLst/>
          </a:prstGeom>
          <a:solidFill>
            <a:schemeClr val="accent1"/>
          </a:solidFill>
          <a:ln w="12700">
            <a:solidFill>
              <a:schemeClr val="accent1"/>
            </a:solidFill>
            <a:prstDash val="solid"/>
          </a:ln>
        </p:spPr>
      </p:sp>
      <p:sp>
        <p:nvSpPr>
          <p:cNvPr id="21" name="Text 19"/>
          <p:cNvSpPr txBox="1"/>
          <p:nvPr/>
        </p:nvSpPr>
        <p:spPr>
          <a:xfrm>
            <a:off x="9242069" y="178308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a:t>
            </a:r>
            <a:endParaRPr lang="en-US" sz="1400" dirty="0"/>
          </a:p>
        </p:txBody>
      </p:sp>
      <p:sp>
        <p:nvSpPr>
          <p:cNvPr id="22" name="Text 20"/>
          <p:cNvSpPr txBox="1"/>
          <p:nvPr/>
        </p:nvSpPr>
        <p:spPr>
          <a:xfrm>
            <a:off x="9242069" y="2240280"/>
            <a:ext cx="2199818" cy="777240"/>
          </a:xfrm>
          <a:prstGeom prst="rect">
            <a:avLst/>
          </a:prstGeom>
          <a:noFill/>
          <a:ln/>
        </p:spPr>
        <p:txBody>
          <a:bodyPr wrap="square" lIns="0" tIns="0" rIns="0" bIns="0" rtlCol="0" anchor="t"/>
          <a:lstStyle/>
          <a:p>
            <a:pPr indent="0" marL="0">
              <a:buNone/>
            </a:pPr>
            <a:r>
              <a:rPr lang="en-US" sz="1400" b="1" dirty="0">
                <a:solidFill>
                  <a:schemeClr val="bg1"/>
                </a:solidFill>
              </a:rPr>
              <a:t>Membangun sendiri: satu data, setiap keputusan tercatat</a:t>
            </a:r>
            <a:endParaRPr lang="en-US" sz="1400" dirty="0"/>
          </a:p>
        </p:txBody>
      </p:sp>
      <p:sp>
        <p:nvSpPr>
          <p:cNvPr id="23" name="Text 21"/>
          <p:cNvSpPr txBox="1"/>
          <p:nvPr/>
        </p:nvSpPr>
        <p:spPr>
          <a:xfrm>
            <a:off x="9242069" y="3090672"/>
            <a:ext cx="2199818" cy="457200"/>
          </a:xfrm>
          <a:prstGeom prst="rect">
            <a:avLst/>
          </a:prstGeom>
          <a:noFill/>
          <a:ln/>
        </p:spPr>
        <p:txBody>
          <a:bodyPr wrap="square" lIns="0" tIns="0" rIns="0" bIns="0" rtlCol="0" anchor="t"/>
          <a:lstStyle/>
          <a:p>
            <a:pPr indent="0" marL="0">
              <a:buNone/>
            </a:pPr>
            <a:r>
              <a:rPr lang="en-US" sz="1400" dirty="0">
                <a:solidFill>
                  <a:schemeClr val="accent1"/>
                </a:solidFill>
              </a:rPr>
              <a:t>Dipilih — tanpa anggaran pengadaan</a:t>
            </a:r>
            <a:endParaRPr lang="en-US" sz="1400" dirty="0"/>
          </a:p>
        </p:txBody>
      </p:sp>
      <p:sp>
        <p:nvSpPr>
          <p:cNvPr id="24" name="Text 22"/>
          <p:cNvSpPr txBox="1"/>
          <p:nvPr/>
        </p:nvSpPr>
        <p:spPr>
          <a:xfrm>
            <a:off x="548640" y="3840480"/>
            <a:ext cx="7315200" cy="365760"/>
          </a:xfrm>
          <a:prstGeom prst="rect">
            <a:avLst/>
          </a:prstGeom>
          <a:noFill/>
          <a:ln/>
        </p:spPr>
        <p:txBody>
          <a:bodyPr wrap="square" lIns="0" tIns="0" rIns="0" bIns="0" rtlCol="0" anchor="t"/>
          <a:lstStyle/>
          <a:p>
            <a:pPr indent="0" marL="0">
              <a:buNone/>
            </a:pPr>
            <a:r>
              <a:rPr lang="en-US" sz="1800" b="1" dirty="0">
                <a:solidFill>
                  <a:schemeClr val="tx2"/>
                </a:solidFill>
              </a:rPr>
              <a:t>Satu alur berjenjang, satu data untuk semua peran</a:t>
            </a:r>
            <a:endParaRPr lang="en-US" sz="1800" dirty="0"/>
          </a:p>
        </p:txBody>
      </p:sp>
      <p:sp>
        <p:nvSpPr>
          <p:cNvPr id="25" name="langkah1"/>
          <p:cNvSpPr/>
          <p:nvPr/>
        </p:nvSpPr>
        <p:spPr>
          <a:xfrm>
            <a:off x="548640" y="4315968"/>
            <a:ext cx="2430704" cy="1691640"/>
          </a:xfrm>
          <a:prstGeom prst="roundRect">
            <a:avLst>
              <a:gd name="adj" fmla="val 6486"/>
            </a:avLst>
          </a:prstGeom>
          <a:solidFill>
            <a:srgbClr val="FFFFFF"/>
          </a:solidFill>
          <a:ln w="9525">
            <a:solidFill>
              <a:schemeClr val="accent6"/>
            </a:solidFill>
            <a:prstDash val="solid"/>
          </a:ln>
        </p:spPr>
      </p:sp>
      <p:sp>
        <p:nvSpPr>
          <p:cNvPr id="26" name="Shape 24"/>
          <p:cNvSpPr/>
          <p:nvPr/>
        </p:nvSpPr>
        <p:spPr>
          <a:xfrm>
            <a:off x="749808" y="4517136"/>
            <a:ext cx="420624" cy="420624"/>
          </a:xfrm>
          <a:prstGeom prst="ellipse">
            <a:avLst/>
          </a:prstGeom>
          <a:solidFill>
            <a:schemeClr val="tx2"/>
          </a:solidFill>
          <a:ln w="12700">
            <a:solidFill>
              <a:schemeClr val="tx2"/>
            </a:solidFill>
            <a:prstDash val="solid"/>
          </a:ln>
        </p:spPr>
      </p:sp>
      <p:sp>
        <p:nvSpPr>
          <p:cNvPr id="27" name="Text 25"/>
          <p:cNvSpPr txBox="1"/>
          <p:nvPr/>
        </p:nvSpPr>
        <p:spPr>
          <a:xfrm>
            <a:off x="749808"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28" name="Text 26"/>
          <p:cNvSpPr txBox="1"/>
          <p:nvPr/>
        </p:nvSpPr>
        <p:spPr>
          <a:xfrm>
            <a:off x="1298448"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Admin RK</a:t>
            </a:r>
            <a:endParaRPr lang="en-US" sz="1700" dirty="0"/>
          </a:p>
        </p:txBody>
      </p:sp>
      <p:sp>
        <p:nvSpPr>
          <p:cNvPr id="29" name="Text 27"/>
          <p:cNvSpPr txBox="1"/>
          <p:nvPr/>
        </p:nvSpPr>
        <p:spPr>
          <a:xfrm>
            <a:off x="749808"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Memindai undangan; formulir terisi</a:t>
            </a:r>
            <a:endParaRPr lang="en-US" sz="1400" dirty="0"/>
          </a:p>
        </p:txBody>
      </p:sp>
      <p:sp>
        <p:nvSpPr>
          <p:cNvPr id="30" name="Shape 28"/>
          <p:cNvSpPr/>
          <p:nvPr/>
        </p:nvSpPr>
        <p:spPr>
          <a:xfrm>
            <a:off x="3034208" y="5202936"/>
            <a:ext cx="347472" cy="0"/>
          </a:xfrm>
          <a:prstGeom prst="line">
            <a:avLst/>
          </a:prstGeom>
          <a:noFill/>
          <a:ln w="22225">
            <a:solidFill>
              <a:schemeClr val="tx2"/>
            </a:solidFill>
            <a:prstDash val="solid"/>
            <a:tailEnd type="triangle"/>
          </a:ln>
        </p:spPr>
      </p:sp>
      <p:sp>
        <p:nvSpPr>
          <p:cNvPr id="31" name="langkah2"/>
          <p:cNvSpPr/>
          <p:nvPr/>
        </p:nvSpPr>
        <p:spPr>
          <a:xfrm>
            <a:off x="3436544" y="4315968"/>
            <a:ext cx="2430704" cy="1691640"/>
          </a:xfrm>
          <a:prstGeom prst="roundRect">
            <a:avLst>
              <a:gd name="adj" fmla="val 6486"/>
            </a:avLst>
          </a:prstGeom>
          <a:solidFill>
            <a:srgbClr val="FFFFFF"/>
          </a:solidFill>
          <a:ln w="9525">
            <a:solidFill>
              <a:schemeClr val="accent6"/>
            </a:solidFill>
            <a:prstDash val="solid"/>
          </a:ln>
        </p:spPr>
      </p:sp>
      <p:sp>
        <p:nvSpPr>
          <p:cNvPr id="32" name="Shape 30"/>
          <p:cNvSpPr/>
          <p:nvPr/>
        </p:nvSpPr>
        <p:spPr>
          <a:xfrm>
            <a:off x="3637712" y="4517136"/>
            <a:ext cx="420624" cy="420624"/>
          </a:xfrm>
          <a:prstGeom prst="ellipse">
            <a:avLst/>
          </a:prstGeom>
          <a:solidFill>
            <a:schemeClr val="tx2"/>
          </a:solidFill>
          <a:ln w="12700">
            <a:solidFill>
              <a:schemeClr val="tx2"/>
            </a:solidFill>
            <a:prstDash val="solid"/>
          </a:ln>
        </p:spPr>
      </p:sp>
      <p:sp>
        <p:nvSpPr>
          <p:cNvPr id="33" name="Text 31"/>
          <p:cNvSpPr txBox="1"/>
          <p:nvPr/>
        </p:nvSpPr>
        <p:spPr>
          <a:xfrm>
            <a:off x="3637712"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34" name="Text 32"/>
          <p:cNvSpPr txBox="1"/>
          <p:nvPr/>
        </p:nvSpPr>
        <p:spPr>
          <a:xfrm>
            <a:off x="4186352"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Kasubbag</a:t>
            </a:r>
            <a:endParaRPr lang="en-US" sz="1700" dirty="0"/>
          </a:p>
        </p:txBody>
      </p:sp>
      <p:sp>
        <p:nvSpPr>
          <p:cNvPr id="35" name="Text 33"/>
          <p:cNvSpPr txBox="1"/>
          <p:nvPr/>
        </p:nvSpPr>
        <p:spPr>
          <a:xfrm>
            <a:off x="3637712"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Menelaah dari mana saja; daftar periksa wajib</a:t>
            </a:r>
            <a:endParaRPr lang="en-US" sz="1400" dirty="0"/>
          </a:p>
        </p:txBody>
      </p:sp>
      <p:sp>
        <p:nvSpPr>
          <p:cNvPr id="36" name="Shape 34"/>
          <p:cNvSpPr/>
          <p:nvPr/>
        </p:nvSpPr>
        <p:spPr>
          <a:xfrm>
            <a:off x="5922112" y="5202936"/>
            <a:ext cx="347472" cy="0"/>
          </a:xfrm>
          <a:prstGeom prst="line">
            <a:avLst/>
          </a:prstGeom>
          <a:noFill/>
          <a:ln w="22225">
            <a:solidFill>
              <a:schemeClr val="tx2"/>
            </a:solidFill>
            <a:prstDash val="solid"/>
            <a:tailEnd type="triangle"/>
          </a:ln>
        </p:spPr>
      </p:sp>
      <p:sp>
        <p:nvSpPr>
          <p:cNvPr id="37" name="langkah3"/>
          <p:cNvSpPr/>
          <p:nvPr/>
        </p:nvSpPr>
        <p:spPr>
          <a:xfrm>
            <a:off x="6324448" y="4315968"/>
            <a:ext cx="2430704" cy="1691640"/>
          </a:xfrm>
          <a:prstGeom prst="roundRect">
            <a:avLst>
              <a:gd name="adj" fmla="val 6486"/>
            </a:avLst>
          </a:prstGeom>
          <a:solidFill>
            <a:srgbClr val="FFFFFF"/>
          </a:solidFill>
          <a:ln w="9525">
            <a:solidFill>
              <a:schemeClr val="accent6"/>
            </a:solidFill>
            <a:prstDash val="solid"/>
          </a:ln>
        </p:spPr>
      </p:sp>
      <p:sp>
        <p:nvSpPr>
          <p:cNvPr id="38" name="Shape 36"/>
          <p:cNvSpPr/>
          <p:nvPr/>
        </p:nvSpPr>
        <p:spPr>
          <a:xfrm>
            <a:off x="6525616" y="4517136"/>
            <a:ext cx="420624" cy="420624"/>
          </a:xfrm>
          <a:prstGeom prst="ellipse">
            <a:avLst/>
          </a:prstGeom>
          <a:solidFill>
            <a:schemeClr val="tx2"/>
          </a:solidFill>
          <a:ln w="12700">
            <a:solidFill>
              <a:schemeClr val="tx2"/>
            </a:solidFill>
            <a:prstDash val="solid"/>
          </a:ln>
        </p:spPr>
      </p:sp>
      <p:sp>
        <p:nvSpPr>
          <p:cNvPr id="39" name="Text 37"/>
          <p:cNvSpPr txBox="1"/>
          <p:nvPr/>
        </p:nvSpPr>
        <p:spPr>
          <a:xfrm>
            <a:off x="6525616"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0" name="Text 38"/>
          <p:cNvSpPr txBox="1"/>
          <p:nvPr/>
        </p:nvSpPr>
        <p:spPr>
          <a:xfrm>
            <a:off x="7074256"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Kabag</a:t>
            </a:r>
            <a:endParaRPr lang="en-US" sz="1700" dirty="0"/>
          </a:p>
        </p:txBody>
      </p:sp>
      <p:sp>
        <p:nvSpPr>
          <p:cNvPr id="41" name="Text 39"/>
          <p:cNvSpPr txBox="1"/>
          <p:nvPr/>
        </p:nvSpPr>
        <p:spPr>
          <a:xfrm>
            <a:off x="6525616"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Memutus dan menayangkan</a:t>
            </a:r>
            <a:endParaRPr lang="en-US" sz="1400" dirty="0"/>
          </a:p>
        </p:txBody>
      </p:sp>
      <p:sp>
        <p:nvSpPr>
          <p:cNvPr id="42" name="Shape 40"/>
          <p:cNvSpPr/>
          <p:nvPr/>
        </p:nvSpPr>
        <p:spPr>
          <a:xfrm>
            <a:off x="8810015" y="5202936"/>
            <a:ext cx="347472" cy="0"/>
          </a:xfrm>
          <a:prstGeom prst="line">
            <a:avLst/>
          </a:prstGeom>
          <a:noFill/>
          <a:ln w="22225">
            <a:solidFill>
              <a:schemeClr val="tx2"/>
            </a:solidFill>
            <a:prstDash val="solid"/>
            <a:tailEnd type="triangle"/>
          </a:ln>
        </p:spPr>
      </p:sp>
      <p:sp>
        <p:nvSpPr>
          <p:cNvPr id="43" name="langkah4"/>
          <p:cNvSpPr/>
          <p:nvPr/>
        </p:nvSpPr>
        <p:spPr>
          <a:xfrm>
            <a:off x="9212351" y="4315968"/>
            <a:ext cx="2430704" cy="1691640"/>
          </a:xfrm>
          <a:prstGeom prst="roundRect">
            <a:avLst>
              <a:gd name="adj" fmla="val 6486"/>
            </a:avLst>
          </a:prstGeom>
          <a:solidFill>
            <a:srgbClr val="FBF6E7"/>
          </a:solidFill>
          <a:ln w="19050">
            <a:solidFill>
              <a:schemeClr val="accent1"/>
            </a:solidFill>
            <a:prstDash val="solid"/>
          </a:ln>
        </p:spPr>
      </p:sp>
      <p:sp>
        <p:nvSpPr>
          <p:cNvPr id="44" name="Shape 42"/>
          <p:cNvSpPr/>
          <p:nvPr/>
        </p:nvSpPr>
        <p:spPr>
          <a:xfrm>
            <a:off x="9413519" y="4517136"/>
            <a:ext cx="420624" cy="420624"/>
          </a:xfrm>
          <a:prstGeom prst="ellipse">
            <a:avLst/>
          </a:prstGeom>
          <a:solidFill>
            <a:schemeClr val="tx2"/>
          </a:solidFill>
          <a:ln w="12700">
            <a:solidFill>
              <a:schemeClr val="tx2"/>
            </a:solidFill>
            <a:prstDash val="solid"/>
          </a:ln>
        </p:spPr>
      </p:sp>
      <p:sp>
        <p:nvSpPr>
          <p:cNvPr id="45" name="Text 43"/>
          <p:cNvSpPr txBox="1"/>
          <p:nvPr/>
        </p:nvSpPr>
        <p:spPr>
          <a:xfrm>
            <a:off x="9413519" y="45171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6" name="Text 44"/>
          <p:cNvSpPr txBox="1"/>
          <p:nvPr/>
        </p:nvSpPr>
        <p:spPr>
          <a:xfrm>
            <a:off x="9962159" y="4517136"/>
            <a:ext cx="1516304" cy="420624"/>
          </a:xfrm>
          <a:prstGeom prst="rect">
            <a:avLst/>
          </a:prstGeom>
          <a:noFill/>
          <a:ln/>
        </p:spPr>
        <p:txBody>
          <a:bodyPr wrap="square" lIns="0" tIns="0" rIns="0" bIns="0" rtlCol="0" anchor="ctr"/>
          <a:lstStyle/>
          <a:p>
            <a:pPr indent="0" marL="0">
              <a:buNone/>
            </a:pPr>
            <a:r>
              <a:rPr lang="en-US" sz="1700" b="1" dirty="0">
                <a:solidFill>
                  <a:schemeClr val="tx2"/>
                </a:solidFill>
              </a:rPr>
              <a:t>HP Pimpinan</a:t>
            </a:r>
            <a:endParaRPr lang="en-US" sz="1700" dirty="0"/>
          </a:p>
        </p:txBody>
      </p:sp>
      <p:sp>
        <p:nvSpPr>
          <p:cNvPr id="47" name="Text 45"/>
          <p:cNvSpPr txBox="1"/>
          <p:nvPr/>
        </p:nvSpPr>
        <p:spPr>
          <a:xfrm>
            <a:off x="9413519" y="5138928"/>
            <a:ext cx="2028368" cy="822960"/>
          </a:xfrm>
          <a:prstGeom prst="rect">
            <a:avLst/>
          </a:prstGeom>
          <a:noFill/>
          <a:ln/>
        </p:spPr>
        <p:txBody>
          <a:bodyPr wrap="square" lIns="0" tIns="0" rIns="0" bIns="0" rtlCol="0" anchor="t"/>
          <a:lstStyle/>
          <a:p>
            <a:pPr indent="0" marL="0">
              <a:buNone/>
            </a:pPr>
            <a:r>
              <a:rPr lang="en-US" sz="1400" dirty="0">
                <a:solidFill>
                  <a:schemeClr val="tx1"/>
                </a:solidFill>
              </a:rPr>
              <a:t>Agenda tiba; ajudan mengonfirmasi</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TEROBOSAN INOVASI  ·  20%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Enam unsur kebaruan, dan terus bertambah</a:t>
            </a:r>
            <a:endParaRPr lang="en-US" sz="2800" dirty="0"/>
          </a:p>
        </p:txBody>
      </p:sp>
      <p:sp>
        <p:nvSpPr>
          <p:cNvPr id="4" name="unsur1"/>
          <p:cNvSpPr/>
          <p:nvPr/>
        </p:nvSpPr>
        <p:spPr>
          <a:xfrm>
            <a:off x="548640" y="1645920"/>
            <a:ext cx="2395728" cy="1920240"/>
          </a:xfrm>
          <a:prstGeom prst="roundRect">
            <a:avLst>
              <a:gd name="adj" fmla="val 5714"/>
            </a:avLst>
          </a:prstGeom>
          <a:solidFill>
            <a:schemeClr val="bg2"/>
          </a:solidFill>
          <a:ln w="9525">
            <a:solidFill>
              <a:schemeClr val="bg2"/>
            </a:solidFill>
            <a:prstDash val="solid"/>
          </a:ln>
        </p:spPr>
      </p:sp>
      <p:sp>
        <p:nvSpPr>
          <p:cNvPr id="5" name="Shape 3"/>
          <p:cNvSpPr/>
          <p:nvPr/>
        </p:nvSpPr>
        <p:spPr>
          <a:xfrm>
            <a:off x="731520" y="1828800"/>
            <a:ext cx="420624" cy="420624"/>
          </a:xfrm>
          <a:prstGeom prst="ellipse">
            <a:avLst/>
          </a:prstGeom>
          <a:solidFill>
            <a:schemeClr val="tx2"/>
          </a:solidFill>
          <a:ln w="12700">
            <a:solidFill>
              <a:schemeClr val="tx2"/>
            </a:solidFill>
            <a:prstDash val="solid"/>
          </a:ln>
        </p:spPr>
      </p:sp>
      <p:sp>
        <p:nvSpPr>
          <p:cNvPr id="6" name="Text 4"/>
          <p:cNvSpPr txBox="1"/>
          <p:nvPr/>
        </p:nvSpPr>
        <p:spPr>
          <a:xfrm>
            <a:off x="731520"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a</a:t>
            </a:r>
            <a:endParaRPr lang="en-US" sz="1400" dirty="0"/>
          </a:p>
        </p:txBody>
      </p:sp>
      <p:sp>
        <p:nvSpPr>
          <p:cNvPr id="7" name="Text 5"/>
          <p:cNvSpPr txBox="1"/>
          <p:nvPr/>
        </p:nvSpPr>
        <p:spPr>
          <a:xfrm>
            <a:off x="731520"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Jejak audit di setiap kegiatan</a:t>
            </a:r>
            <a:endParaRPr lang="en-US" sz="1500" dirty="0"/>
          </a:p>
        </p:txBody>
      </p:sp>
      <p:sp>
        <p:nvSpPr>
          <p:cNvPr id="8" name="Text 6"/>
          <p:cNvSpPr txBox="1"/>
          <p:nvPr/>
        </p:nvSpPr>
        <p:spPr>
          <a:xfrm>
            <a:off x="731520" y="2907792"/>
            <a:ext cx="2029968" cy="566928"/>
          </a:xfrm>
          <a:prstGeom prst="rect">
            <a:avLst/>
          </a:prstGeom>
          <a:noFill/>
          <a:ln/>
        </p:spPr>
        <p:txBody>
          <a:bodyPr wrap="square" lIns="0" tIns="0" rIns="0" bIns="0" rtlCol="0" anchor="t"/>
          <a:lstStyle/>
          <a:p>
            <a:pPr indent="0" marL="0">
              <a:buNone/>
            </a:pPr>
            <a:r>
              <a:rPr lang="en-US" sz="1400" dirty="0">
                <a:solidFill>
                  <a:schemeClr val="accent5"/>
                </a:solidFill>
              </a:rPr>
              <a:t>Siapa, kapan, apa keputusannya</a:t>
            </a:r>
            <a:endParaRPr lang="en-US" sz="1400" dirty="0"/>
          </a:p>
        </p:txBody>
      </p:sp>
      <p:sp>
        <p:nvSpPr>
          <p:cNvPr id="9" name="unsur2"/>
          <p:cNvSpPr/>
          <p:nvPr/>
        </p:nvSpPr>
        <p:spPr>
          <a:xfrm>
            <a:off x="3145536" y="1645920"/>
            <a:ext cx="2395728" cy="1920240"/>
          </a:xfrm>
          <a:prstGeom prst="roundRect">
            <a:avLst>
              <a:gd name="adj" fmla="val 5714"/>
            </a:avLst>
          </a:prstGeom>
          <a:solidFill>
            <a:schemeClr val="bg2"/>
          </a:solidFill>
          <a:ln w="9525">
            <a:solidFill>
              <a:schemeClr val="bg2"/>
            </a:solidFill>
            <a:prstDash val="solid"/>
          </a:ln>
        </p:spPr>
      </p:sp>
      <p:sp>
        <p:nvSpPr>
          <p:cNvPr id="10" name="Shape 8"/>
          <p:cNvSpPr/>
          <p:nvPr/>
        </p:nvSpPr>
        <p:spPr>
          <a:xfrm>
            <a:off x="3328416" y="1828800"/>
            <a:ext cx="420624" cy="420624"/>
          </a:xfrm>
          <a:prstGeom prst="ellipse">
            <a:avLst/>
          </a:prstGeom>
          <a:solidFill>
            <a:schemeClr val="tx2"/>
          </a:solidFill>
          <a:ln w="12700">
            <a:solidFill>
              <a:schemeClr val="tx2"/>
            </a:solidFill>
            <a:prstDash val="solid"/>
          </a:ln>
        </p:spPr>
      </p:sp>
      <p:sp>
        <p:nvSpPr>
          <p:cNvPr id="11" name="Text 9"/>
          <p:cNvSpPr txBox="1"/>
          <p:nvPr/>
        </p:nvSpPr>
        <p:spPr>
          <a:xfrm>
            <a:off x="3328416"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b</a:t>
            </a:r>
            <a:endParaRPr lang="en-US" sz="1400" dirty="0"/>
          </a:p>
        </p:txBody>
      </p:sp>
      <p:sp>
        <p:nvSpPr>
          <p:cNvPr id="12" name="Text 10"/>
          <p:cNvSpPr txBox="1"/>
          <p:nvPr/>
        </p:nvSpPr>
        <p:spPr>
          <a:xfrm>
            <a:off x="3328416"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Daftar periksa wajib</a:t>
            </a:r>
            <a:endParaRPr lang="en-US" sz="1500" dirty="0"/>
          </a:p>
        </p:txBody>
      </p:sp>
      <p:sp>
        <p:nvSpPr>
          <p:cNvPr id="13" name="Text 11"/>
          <p:cNvSpPr txBox="1"/>
          <p:nvPr/>
        </p:nvSpPr>
        <p:spPr>
          <a:xfrm>
            <a:off x="3328416" y="2907792"/>
            <a:ext cx="2029968" cy="566928"/>
          </a:xfrm>
          <a:prstGeom prst="rect">
            <a:avLst/>
          </a:prstGeom>
          <a:noFill/>
          <a:ln/>
        </p:spPr>
        <p:txBody>
          <a:bodyPr wrap="square" lIns="0" tIns="0" rIns="0" bIns="0" rtlCol="0" anchor="t"/>
          <a:lstStyle/>
          <a:p>
            <a:pPr indent="0" marL="0">
              <a:buNone/>
            </a:pPr>
            <a:r>
              <a:rPr lang="en-US" sz="1400" dirty="0">
                <a:solidFill>
                  <a:schemeClr val="accent5"/>
                </a:solidFill>
              </a:rPr>
              <a:t>Setuju baru aktif sesudah dicentang</a:t>
            </a:r>
            <a:endParaRPr lang="en-US" sz="1400" dirty="0"/>
          </a:p>
        </p:txBody>
      </p:sp>
      <p:sp>
        <p:nvSpPr>
          <p:cNvPr id="14" name="unsur3"/>
          <p:cNvSpPr/>
          <p:nvPr/>
        </p:nvSpPr>
        <p:spPr>
          <a:xfrm>
            <a:off x="5742432" y="1645920"/>
            <a:ext cx="2395728" cy="1920240"/>
          </a:xfrm>
          <a:prstGeom prst="roundRect">
            <a:avLst>
              <a:gd name="adj" fmla="val 5714"/>
            </a:avLst>
          </a:prstGeom>
          <a:solidFill>
            <a:schemeClr val="bg2"/>
          </a:solidFill>
          <a:ln w="9525">
            <a:solidFill>
              <a:schemeClr val="bg2"/>
            </a:solidFill>
            <a:prstDash val="solid"/>
          </a:ln>
        </p:spPr>
      </p:sp>
      <p:sp>
        <p:nvSpPr>
          <p:cNvPr id="15" name="Shape 13"/>
          <p:cNvSpPr/>
          <p:nvPr/>
        </p:nvSpPr>
        <p:spPr>
          <a:xfrm>
            <a:off x="5925312" y="1828800"/>
            <a:ext cx="420624" cy="420624"/>
          </a:xfrm>
          <a:prstGeom prst="ellipse">
            <a:avLst/>
          </a:prstGeom>
          <a:solidFill>
            <a:schemeClr val="tx2"/>
          </a:solidFill>
          <a:ln w="12700">
            <a:solidFill>
              <a:schemeClr val="tx2"/>
            </a:solidFill>
            <a:prstDash val="solid"/>
          </a:ln>
        </p:spPr>
      </p:sp>
      <p:sp>
        <p:nvSpPr>
          <p:cNvPr id="16" name="Text 14"/>
          <p:cNvSpPr txBox="1"/>
          <p:nvPr/>
        </p:nvSpPr>
        <p:spPr>
          <a:xfrm>
            <a:off x="5925312" y="1828800"/>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c</a:t>
            </a:r>
            <a:endParaRPr lang="en-US" sz="1400" dirty="0"/>
          </a:p>
        </p:txBody>
      </p:sp>
      <p:sp>
        <p:nvSpPr>
          <p:cNvPr id="17" name="Text 15"/>
          <p:cNvSpPr txBox="1"/>
          <p:nvPr/>
        </p:nvSpPr>
        <p:spPr>
          <a:xfrm>
            <a:off x="5925312" y="2359152"/>
            <a:ext cx="2029968" cy="566928"/>
          </a:xfrm>
          <a:prstGeom prst="rect">
            <a:avLst/>
          </a:prstGeom>
          <a:noFill/>
          <a:ln/>
        </p:spPr>
        <p:txBody>
          <a:bodyPr wrap="square" lIns="0" tIns="0" rIns="0" bIns="0" rtlCol="0" anchor="t"/>
          <a:lstStyle/>
          <a:p>
            <a:pPr indent="0" marL="0">
              <a:buNone/>
            </a:pPr>
            <a:r>
              <a:rPr lang="en-US" sz="1500" b="1" dirty="0">
                <a:solidFill>
                  <a:schemeClr val="tx2"/>
                </a:solidFill>
              </a:rPr>
              <a:t>Pelaksana Harian bermasa berlaku</a:t>
            </a:r>
            <a:endParaRPr lang="en-US" sz="1500" dirty="0"/>
          </a:p>
        </p:txBody>
      </p:sp>
      <p:sp>
        <p:nvSpPr>
          <p:cNvPr id="18" name="Text 16"/>
          <p:cNvSpPr txBox="1"/>
          <p:nvPr/>
        </p:nvSpPr>
        <p:spPr>
          <a:xfrm>
            <a:off x="5925312" y="2907792"/>
            <a:ext cx="2029968" cy="566928"/>
          </a:xfrm>
          <a:prstGeom prst="rect">
            <a:avLst/>
          </a:prstGeom>
          <a:noFill/>
          <a:ln/>
        </p:spPr>
        <p:txBody>
          <a:bodyPr wrap="square" lIns="0" tIns="0" rIns="0" bIns="0" rtlCol="0" anchor="t"/>
          <a:lstStyle/>
          <a:p>
            <a:pPr indent="0" marL="0">
              <a:buNone/>
            </a:pPr>
            <a:r>
              <a:rPr lang="en-US" sz="1400" dirty="0">
                <a:solidFill>
                  <a:schemeClr val="accent5"/>
                </a:solidFill>
              </a:rPr>
              <a:t>Padam sendiri pada tanggal akhirnya</a:t>
            </a:r>
            <a:endParaRPr lang="en-US" sz="1400" dirty="0"/>
          </a:p>
        </p:txBody>
      </p:sp>
      <p:sp>
        <p:nvSpPr>
          <p:cNvPr id="19" name="unsur4"/>
          <p:cNvSpPr/>
          <p:nvPr/>
        </p:nvSpPr>
        <p:spPr>
          <a:xfrm>
            <a:off x="548640" y="3767328"/>
            <a:ext cx="2395728" cy="1920240"/>
          </a:xfrm>
          <a:prstGeom prst="roundRect">
            <a:avLst>
              <a:gd name="adj" fmla="val 5714"/>
            </a:avLst>
          </a:prstGeom>
          <a:solidFill>
            <a:schemeClr val="bg2"/>
          </a:solidFill>
          <a:ln w="9525">
            <a:solidFill>
              <a:schemeClr val="bg2"/>
            </a:solidFill>
            <a:prstDash val="solid"/>
          </a:ln>
        </p:spPr>
      </p:sp>
      <p:sp>
        <p:nvSpPr>
          <p:cNvPr id="20" name="Shape 18"/>
          <p:cNvSpPr/>
          <p:nvPr/>
        </p:nvSpPr>
        <p:spPr>
          <a:xfrm>
            <a:off x="731520" y="3950208"/>
            <a:ext cx="420624" cy="420624"/>
          </a:xfrm>
          <a:prstGeom prst="ellipse">
            <a:avLst/>
          </a:prstGeom>
          <a:solidFill>
            <a:schemeClr val="tx2"/>
          </a:solidFill>
          <a:ln w="12700">
            <a:solidFill>
              <a:schemeClr val="tx2"/>
            </a:solidFill>
            <a:prstDash val="solid"/>
          </a:ln>
        </p:spPr>
      </p:sp>
      <p:sp>
        <p:nvSpPr>
          <p:cNvPr id="21" name="Text 19"/>
          <p:cNvSpPr txBox="1"/>
          <p:nvPr/>
        </p:nvSpPr>
        <p:spPr>
          <a:xfrm>
            <a:off x="731520"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d</a:t>
            </a:r>
            <a:endParaRPr lang="en-US" sz="1400" dirty="0"/>
          </a:p>
        </p:txBody>
      </p:sp>
      <p:sp>
        <p:nvSpPr>
          <p:cNvPr id="22" name="Text 20"/>
          <p:cNvSpPr txBox="1"/>
          <p:nvPr/>
        </p:nvSpPr>
        <p:spPr>
          <a:xfrm>
            <a:off x="731520"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Pengawasan menurut kegentingan</a:t>
            </a:r>
            <a:endParaRPr lang="en-US" sz="1500" dirty="0"/>
          </a:p>
        </p:txBody>
      </p:sp>
      <p:sp>
        <p:nvSpPr>
          <p:cNvPr id="23" name="Text 21"/>
          <p:cNvSpPr txBox="1"/>
          <p:nvPr/>
        </p:nvSpPr>
        <p:spPr>
          <a:xfrm>
            <a:off x="731520" y="5029200"/>
            <a:ext cx="2029968" cy="566928"/>
          </a:xfrm>
          <a:prstGeom prst="rect">
            <a:avLst/>
          </a:prstGeom>
          <a:noFill/>
          <a:ln/>
        </p:spPr>
        <p:txBody>
          <a:bodyPr wrap="square" lIns="0" tIns="0" rIns="0" bIns="0" rtlCol="0" anchor="t"/>
          <a:lstStyle/>
          <a:p>
            <a:pPr indent="0" marL="0">
              <a:buNone/>
            </a:pPr>
            <a:r>
              <a:rPr lang="en-US" sz="1400" dirty="0">
                <a:solidFill>
                  <a:schemeClr val="accent5"/>
                </a:solidFill>
              </a:rPr>
              <a:t>Ditandai menurut umur dan hari H</a:t>
            </a:r>
            <a:endParaRPr lang="en-US" sz="1400" dirty="0"/>
          </a:p>
        </p:txBody>
      </p:sp>
      <p:sp>
        <p:nvSpPr>
          <p:cNvPr id="24" name="unsur5"/>
          <p:cNvSpPr/>
          <p:nvPr/>
        </p:nvSpPr>
        <p:spPr>
          <a:xfrm>
            <a:off x="3145536" y="3767328"/>
            <a:ext cx="2395728" cy="1920240"/>
          </a:xfrm>
          <a:prstGeom prst="roundRect">
            <a:avLst>
              <a:gd name="adj" fmla="val 5714"/>
            </a:avLst>
          </a:prstGeom>
          <a:solidFill>
            <a:schemeClr val="bg2"/>
          </a:solidFill>
          <a:ln w="9525">
            <a:solidFill>
              <a:schemeClr val="bg2"/>
            </a:solidFill>
            <a:prstDash val="solid"/>
          </a:ln>
        </p:spPr>
      </p:sp>
      <p:sp>
        <p:nvSpPr>
          <p:cNvPr id="25" name="Shape 23"/>
          <p:cNvSpPr/>
          <p:nvPr/>
        </p:nvSpPr>
        <p:spPr>
          <a:xfrm>
            <a:off x="3328416" y="3950208"/>
            <a:ext cx="420624" cy="420624"/>
          </a:xfrm>
          <a:prstGeom prst="ellipse">
            <a:avLst/>
          </a:prstGeom>
          <a:solidFill>
            <a:schemeClr val="tx2"/>
          </a:solidFill>
          <a:ln w="12700">
            <a:solidFill>
              <a:schemeClr val="tx2"/>
            </a:solidFill>
            <a:prstDash val="solid"/>
          </a:ln>
        </p:spPr>
      </p:sp>
      <p:sp>
        <p:nvSpPr>
          <p:cNvPr id="26" name="Text 24"/>
          <p:cNvSpPr txBox="1"/>
          <p:nvPr/>
        </p:nvSpPr>
        <p:spPr>
          <a:xfrm>
            <a:off x="3328416"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e</a:t>
            </a:r>
            <a:endParaRPr lang="en-US" sz="1400" dirty="0"/>
          </a:p>
        </p:txBody>
      </p:sp>
      <p:sp>
        <p:nvSpPr>
          <p:cNvPr id="27" name="Text 25"/>
          <p:cNvSpPr txBox="1"/>
          <p:nvPr/>
        </p:nvSpPr>
        <p:spPr>
          <a:xfrm>
            <a:off x="3328416"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Kanal publik terlacak</a:t>
            </a:r>
            <a:endParaRPr lang="en-US" sz="1500" dirty="0"/>
          </a:p>
        </p:txBody>
      </p:sp>
      <p:sp>
        <p:nvSpPr>
          <p:cNvPr id="28" name="Text 26"/>
          <p:cNvSpPr txBox="1"/>
          <p:nvPr/>
        </p:nvSpPr>
        <p:spPr>
          <a:xfrm>
            <a:off x="3328416" y="5029200"/>
            <a:ext cx="2029968" cy="566928"/>
          </a:xfrm>
          <a:prstGeom prst="rect">
            <a:avLst/>
          </a:prstGeom>
          <a:noFill/>
          <a:ln/>
        </p:spPr>
        <p:txBody>
          <a:bodyPr wrap="square" lIns="0" tIns="0" rIns="0" bIns="0" rtlCol="0" anchor="t"/>
          <a:lstStyle/>
          <a:p>
            <a:pPr indent="0" marL="0">
              <a:buNone/>
            </a:pPr>
            <a:r>
              <a:rPr lang="en-US" sz="1400" dirty="0">
                <a:solidFill>
                  <a:schemeClr val="accent5"/>
                </a:solidFill>
              </a:rPr>
              <a:t>Dipantau sendiri dengan kode</a:t>
            </a:r>
            <a:endParaRPr lang="en-US" sz="1400" dirty="0"/>
          </a:p>
        </p:txBody>
      </p:sp>
      <p:sp>
        <p:nvSpPr>
          <p:cNvPr id="29" name="unsur6"/>
          <p:cNvSpPr/>
          <p:nvPr/>
        </p:nvSpPr>
        <p:spPr>
          <a:xfrm>
            <a:off x="5742432" y="3767328"/>
            <a:ext cx="2395728" cy="1920240"/>
          </a:xfrm>
          <a:prstGeom prst="roundRect">
            <a:avLst>
              <a:gd name="adj" fmla="val 5714"/>
            </a:avLst>
          </a:prstGeom>
          <a:solidFill>
            <a:schemeClr val="bg2"/>
          </a:solidFill>
          <a:ln w="9525">
            <a:solidFill>
              <a:schemeClr val="bg2"/>
            </a:solidFill>
            <a:prstDash val="solid"/>
          </a:ln>
        </p:spPr>
      </p:sp>
      <p:sp>
        <p:nvSpPr>
          <p:cNvPr id="30" name="Shape 28"/>
          <p:cNvSpPr/>
          <p:nvPr/>
        </p:nvSpPr>
        <p:spPr>
          <a:xfrm>
            <a:off x="5925312" y="3950208"/>
            <a:ext cx="420624" cy="420624"/>
          </a:xfrm>
          <a:prstGeom prst="ellipse">
            <a:avLst/>
          </a:prstGeom>
          <a:solidFill>
            <a:schemeClr val="tx2"/>
          </a:solidFill>
          <a:ln w="12700">
            <a:solidFill>
              <a:schemeClr val="tx2"/>
            </a:solidFill>
            <a:prstDash val="solid"/>
          </a:ln>
        </p:spPr>
      </p:sp>
      <p:sp>
        <p:nvSpPr>
          <p:cNvPr id="31" name="Text 29"/>
          <p:cNvSpPr txBox="1"/>
          <p:nvPr/>
        </p:nvSpPr>
        <p:spPr>
          <a:xfrm>
            <a:off x="5925312" y="3950208"/>
            <a:ext cx="420624" cy="420624"/>
          </a:xfrm>
          <a:prstGeom prst="rect">
            <a:avLst/>
          </a:prstGeom>
          <a:noFill/>
          <a:ln/>
        </p:spPr>
        <p:txBody>
          <a:bodyPr wrap="square" lIns="0" tIns="0" rIns="0" bIns="0" rtlCol="0" anchor="ctr"/>
          <a:lstStyle/>
          <a:p>
            <a:pPr algn="ctr" indent="0" marL="0">
              <a:buNone/>
            </a:pPr>
            <a:r>
              <a:rPr lang="en-US" sz="1400" b="1" dirty="0">
                <a:solidFill>
                  <a:schemeClr val="accent1"/>
                </a:solidFill>
              </a:rPr>
              <a:t>f</a:t>
            </a:r>
            <a:endParaRPr lang="en-US" sz="1400" dirty="0"/>
          </a:p>
        </p:txBody>
      </p:sp>
      <p:sp>
        <p:nvSpPr>
          <p:cNvPr id="32" name="Text 30"/>
          <p:cNvSpPr txBox="1"/>
          <p:nvPr/>
        </p:nvSpPr>
        <p:spPr>
          <a:xfrm>
            <a:off x="5925312" y="4480560"/>
            <a:ext cx="2029968" cy="566928"/>
          </a:xfrm>
          <a:prstGeom prst="rect">
            <a:avLst/>
          </a:prstGeom>
          <a:noFill/>
          <a:ln/>
        </p:spPr>
        <p:txBody>
          <a:bodyPr wrap="square" lIns="0" tIns="0" rIns="0" bIns="0" rtlCol="0" anchor="t"/>
          <a:lstStyle/>
          <a:p>
            <a:pPr indent="0" marL="0">
              <a:buNone/>
            </a:pPr>
            <a:r>
              <a:rPr lang="en-US" sz="1500" b="1" dirty="0">
                <a:solidFill>
                  <a:schemeClr val="tx2"/>
                </a:solidFill>
              </a:rPr>
              <a:t>Tersambung kalender bersama</a:t>
            </a:r>
            <a:endParaRPr lang="en-US" sz="1500" dirty="0"/>
          </a:p>
        </p:txBody>
      </p:sp>
      <p:sp>
        <p:nvSpPr>
          <p:cNvPr id="33" name="Text 31"/>
          <p:cNvSpPr txBox="1"/>
          <p:nvPr/>
        </p:nvSpPr>
        <p:spPr>
          <a:xfrm>
            <a:off x="5925312" y="5029200"/>
            <a:ext cx="2029968" cy="566928"/>
          </a:xfrm>
          <a:prstGeom prst="rect">
            <a:avLst/>
          </a:prstGeom>
          <a:noFill/>
          <a:ln/>
        </p:spPr>
        <p:txBody>
          <a:bodyPr wrap="square" lIns="0" tIns="0" rIns="0" bIns="0" rtlCol="0" anchor="t"/>
          <a:lstStyle/>
          <a:p>
            <a:pPr indent="0" marL="0">
              <a:buNone/>
            </a:pPr>
            <a:r>
              <a:rPr lang="en-US" sz="1400" dirty="0">
                <a:solidFill>
                  <a:schemeClr val="accent5"/>
                </a:solidFill>
              </a:rPr>
              <a:t>Agenda tersetujui tampil sendiri</a:t>
            </a:r>
            <a:endParaRPr lang="en-US" sz="1400" dirty="0"/>
          </a:p>
        </p:txBody>
      </p:sp>
      <p:sp>
        <p:nvSpPr>
          <p:cNvPr id="34" name="sejakproposal"/>
          <p:cNvSpPr/>
          <p:nvPr/>
        </p:nvSpPr>
        <p:spPr>
          <a:xfrm>
            <a:off x="8476488" y="1645920"/>
            <a:ext cx="3166567" cy="4041648"/>
          </a:xfrm>
          <a:prstGeom prst="roundRect">
            <a:avLst>
              <a:gd name="adj" fmla="val 3465"/>
            </a:avLst>
          </a:prstGeom>
          <a:solidFill>
            <a:schemeClr val="tx2"/>
          </a:solidFill>
          <a:ln w="9525">
            <a:solidFill>
              <a:schemeClr val="tx2"/>
            </a:solidFill>
            <a:prstDash val="solid"/>
          </a:ln>
        </p:spPr>
      </p:sp>
      <p:sp>
        <p:nvSpPr>
          <p:cNvPr id="35" name="Text 33"/>
          <p:cNvSpPr txBox="1"/>
          <p:nvPr/>
        </p:nvSpPr>
        <p:spPr>
          <a:xfrm>
            <a:off x="8750808" y="1847088"/>
            <a:ext cx="2617927" cy="502920"/>
          </a:xfrm>
          <a:prstGeom prst="rect">
            <a:avLst/>
          </a:prstGeom>
          <a:noFill/>
          <a:ln/>
        </p:spPr>
        <p:txBody>
          <a:bodyPr wrap="square" lIns="0" tIns="0" rIns="0" bIns="0" rtlCol="0" anchor="t"/>
          <a:lstStyle/>
          <a:p>
            <a:pPr indent="0" marL="0">
              <a:buNone/>
            </a:pPr>
            <a:r>
              <a:rPr lang="en-US" sz="1200" b="1" spc="100" kern="0" dirty="0">
                <a:solidFill>
                  <a:schemeClr val="accent1"/>
                </a:solidFill>
              </a:rPr>
              <a:t>SEJAK PROPOSAL</a:t>
            </a:r>
            <a:endParaRPr lang="en-US" sz="1200" dirty="0"/>
          </a:p>
          <a:p>
            <a:pPr indent="0" marL="0">
              <a:buNone/>
            </a:pPr>
            <a:r>
              <a:rPr lang="en-US" sz="1200" b="1" spc="100" kern="0" dirty="0">
                <a:solidFill>
                  <a:schemeClr val="accent1"/>
                </a:solidFill>
              </a:rPr>
              <a:t>OKTOBER 2026</a:t>
            </a:r>
            <a:endParaRPr lang="en-US" sz="1200" dirty="0"/>
          </a:p>
        </p:txBody>
      </p:sp>
      <p:sp>
        <p:nvSpPr>
          <p:cNvPr id="36" name="Text 34"/>
          <p:cNvSpPr txBox="1"/>
          <p:nvPr/>
        </p:nvSpPr>
        <p:spPr>
          <a:xfrm>
            <a:off x="8750808" y="2514600"/>
            <a:ext cx="2663647" cy="3017520"/>
          </a:xfrm>
          <a:prstGeom prst="rect">
            <a:avLst/>
          </a:prstGeom>
          <a:noFill/>
          <a:ln/>
        </p:spPr>
        <p:txBody>
          <a:bodyPr wrap="square" lIns="0" tIns="0" rIns="0" bIns="0" rtlCol="0" anchor="t"/>
          <a:lstStyle/>
          <a:p>
            <a:pPr marL="342900" indent="-342900">
              <a:spcAft>
                <a:spcPts val="900"/>
              </a:spcAft>
              <a:buSzPct val="100000"/>
              <a:buChar char="•"/>
            </a:pPr>
            <a:r>
              <a:rPr lang="en-US" sz="1500" dirty="0">
                <a:solidFill>
                  <a:schemeClr val="bg1"/>
                </a:solidFill>
              </a:rPr>
              <a:t>Notifikasi tamu berjenjang tanpa mengganggu Pimpinan</a:t>
            </a:r>
            <a:endParaRPr lang="en-US" sz="1500" dirty="0"/>
          </a:p>
          <a:p>
            <a:pPr marL="342900" indent="-342900">
              <a:spcAft>
                <a:spcPts val="900"/>
              </a:spcAft>
              <a:buSzPct val="100000"/>
              <a:buChar char="•"/>
            </a:pPr>
            <a:r>
              <a:rPr lang="en-US" sz="1500" dirty="0">
                <a:solidFill>
                  <a:schemeClr val="bg1"/>
                </a:solidFill>
              </a:rPr>
              <a:t>Monitor WA: setiap pesan terlacak terkirim/terbaca</a:t>
            </a:r>
            <a:endParaRPr lang="en-US" sz="1500" dirty="0"/>
          </a:p>
          <a:p>
            <a:pPr marL="342900" indent="-342900">
              <a:spcAft>
                <a:spcPts val="900"/>
              </a:spcAft>
              <a:buSzPct val="100000"/>
              <a:buChar char="•"/>
            </a:pPr>
            <a:r>
              <a:rPr lang="en-US" sz="1500" dirty="0">
                <a:solidFill>
                  <a:schemeClr val="bg1"/>
                </a:solidFill>
              </a:rPr>
              <a:t>Masuk dengan sidik jari dan akun Google</a:t>
            </a:r>
            <a:endParaRPr lang="en-US" sz="1500" dirty="0"/>
          </a:p>
          <a:p>
            <a:pPr marL="342900" indent="-342900">
              <a:spcAft>
                <a:spcPts val="900"/>
              </a:spcAft>
              <a:buSzPct val="100000"/>
              <a:buChar char="•"/>
            </a:pPr>
            <a:r>
              <a:rPr lang="en-US" sz="1500" dirty="0">
                <a:solidFill>
                  <a:schemeClr val="bg1"/>
                </a:solidFill>
              </a:rPr>
              <a:t>Zona waktu WIB/WITA/WIT mengikuti lokasi Pimpinan</a:t>
            </a:r>
            <a:endParaRPr lang="en-US" sz="1500" dirty="0"/>
          </a:p>
          <a:p>
            <a:pPr marL="342900" indent="-342900">
              <a:spcAft>
                <a:spcPts val="900"/>
              </a:spcAft>
              <a:buSzPct val="100000"/>
              <a:buChar char="•"/>
            </a:pPr>
            <a:r>
              <a:rPr lang="en-US" sz="1500" dirty="0">
                <a:solidFill>
                  <a:schemeClr val="bg1"/>
                </a:solidFill>
              </a:rPr>
              <a:t>Kebijakan privasi sesuai UU 27/2022</a:t>
            </a: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MANFAAT INOVASI  ·  25%  ·  DEMONSTRASI</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bg1"/>
                </a:solidFill>
              </a:rPr>
              <a:t>Satu kegiatan, dari undangan sampai HP Pimpinan</a:t>
            </a:r>
            <a:endParaRPr lang="en-US" sz="2800" dirty="0"/>
          </a:p>
        </p:txBody>
      </p:sp>
      <p:sp>
        <p:nvSpPr>
          <p:cNvPr id="4" name="demo1"/>
          <p:cNvSpPr/>
          <p:nvPr/>
        </p:nvSpPr>
        <p:spPr>
          <a:xfrm>
            <a:off x="548640" y="1691640"/>
            <a:ext cx="2567864" cy="1828800"/>
          </a:xfrm>
          <a:prstGeom prst="roundRect">
            <a:avLst>
              <a:gd name="adj" fmla="val 6000"/>
            </a:avLst>
          </a:prstGeom>
          <a:solidFill>
            <a:srgbClr val="13233F"/>
          </a:solidFill>
          <a:ln w="9525">
            <a:solidFill>
              <a:srgbClr val="2A3B57"/>
            </a:solidFill>
            <a:prstDash val="solid"/>
          </a:ln>
        </p:spPr>
      </p:sp>
      <p:sp>
        <p:nvSpPr>
          <p:cNvPr id="5" name="Shape 3"/>
          <p:cNvSpPr/>
          <p:nvPr/>
        </p:nvSpPr>
        <p:spPr>
          <a:xfrm>
            <a:off x="749808" y="1892808"/>
            <a:ext cx="457200" cy="457200"/>
          </a:xfrm>
          <a:prstGeom prst="ellipse">
            <a:avLst/>
          </a:prstGeom>
          <a:solidFill>
            <a:schemeClr val="accent1"/>
          </a:solidFill>
          <a:ln w="12700">
            <a:solidFill>
              <a:schemeClr val="accent1"/>
            </a:solidFill>
            <a:prstDash val="solid"/>
          </a:ln>
        </p:spPr>
      </p:sp>
      <p:sp>
        <p:nvSpPr>
          <p:cNvPr id="6" name="Text 4"/>
          <p:cNvSpPr txBox="1"/>
          <p:nvPr/>
        </p:nvSpPr>
        <p:spPr>
          <a:xfrm>
            <a:off x="749808"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7" name="Text 5"/>
          <p:cNvSpPr txBox="1"/>
          <p:nvPr/>
        </p:nvSpPr>
        <p:spPr>
          <a:xfrm>
            <a:off x="1353312"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Admin RK</a:t>
            </a:r>
            <a:endParaRPr lang="en-US" sz="1700" dirty="0"/>
          </a:p>
        </p:txBody>
      </p:sp>
      <p:sp>
        <p:nvSpPr>
          <p:cNvPr id="8" name="Text 6"/>
          <p:cNvSpPr txBox="1"/>
          <p:nvPr/>
        </p:nvSpPr>
        <p:spPr>
          <a:xfrm>
            <a:off x="749808"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Pindai undangan → cek benturan → kirim</a:t>
            </a:r>
            <a:endParaRPr lang="en-US" sz="1400" dirty="0"/>
          </a:p>
        </p:txBody>
      </p:sp>
      <p:sp>
        <p:nvSpPr>
          <p:cNvPr id="9" name="demo2"/>
          <p:cNvSpPr/>
          <p:nvPr/>
        </p:nvSpPr>
        <p:spPr>
          <a:xfrm>
            <a:off x="3390824" y="1691640"/>
            <a:ext cx="2567864" cy="1828800"/>
          </a:xfrm>
          <a:prstGeom prst="roundRect">
            <a:avLst>
              <a:gd name="adj" fmla="val 6000"/>
            </a:avLst>
          </a:prstGeom>
          <a:solidFill>
            <a:srgbClr val="13233F"/>
          </a:solidFill>
          <a:ln w="9525">
            <a:solidFill>
              <a:srgbClr val="2A3B57"/>
            </a:solidFill>
            <a:prstDash val="solid"/>
          </a:ln>
        </p:spPr>
      </p:sp>
      <p:sp>
        <p:nvSpPr>
          <p:cNvPr id="10" name="Shape 8"/>
          <p:cNvSpPr/>
          <p:nvPr/>
        </p:nvSpPr>
        <p:spPr>
          <a:xfrm>
            <a:off x="3591992" y="1892808"/>
            <a:ext cx="457200" cy="457200"/>
          </a:xfrm>
          <a:prstGeom prst="ellipse">
            <a:avLst/>
          </a:prstGeom>
          <a:solidFill>
            <a:schemeClr val="accent1"/>
          </a:solidFill>
          <a:ln w="12700">
            <a:solidFill>
              <a:schemeClr val="accent1"/>
            </a:solidFill>
            <a:prstDash val="solid"/>
          </a:ln>
        </p:spPr>
      </p:sp>
      <p:sp>
        <p:nvSpPr>
          <p:cNvPr id="11" name="Text 9"/>
          <p:cNvSpPr txBox="1"/>
          <p:nvPr/>
        </p:nvSpPr>
        <p:spPr>
          <a:xfrm>
            <a:off x="3591992"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2</a:t>
            </a:r>
            <a:endParaRPr lang="en-US" sz="1400" dirty="0"/>
          </a:p>
        </p:txBody>
      </p:sp>
      <p:sp>
        <p:nvSpPr>
          <p:cNvPr id="12" name="Text 10"/>
          <p:cNvSpPr txBox="1"/>
          <p:nvPr/>
        </p:nvSpPr>
        <p:spPr>
          <a:xfrm>
            <a:off x="4195496"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Kasubbag</a:t>
            </a:r>
            <a:endParaRPr lang="en-US" sz="1700" dirty="0"/>
          </a:p>
        </p:txBody>
      </p:sp>
      <p:sp>
        <p:nvSpPr>
          <p:cNvPr id="13" name="Text 11"/>
          <p:cNvSpPr txBox="1"/>
          <p:nvPr/>
        </p:nvSpPr>
        <p:spPr>
          <a:xfrm>
            <a:off x="3591992"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Notifikasi → daftar periksa → teruskan</a:t>
            </a:r>
            <a:endParaRPr lang="en-US" sz="1400" dirty="0"/>
          </a:p>
        </p:txBody>
      </p:sp>
      <p:sp>
        <p:nvSpPr>
          <p:cNvPr id="14" name="demo3"/>
          <p:cNvSpPr/>
          <p:nvPr/>
        </p:nvSpPr>
        <p:spPr>
          <a:xfrm>
            <a:off x="6233008" y="1691640"/>
            <a:ext cx="2567864" cy="1828800"/>
          </a:xfrm>
          <a:prstGeom prst="roundRect">
            <a:avLst>
              <a:gd name="adj" fmla="val 6000"/>
            </a:avLst>
          </a:prstGeom>
          <a:solidFill>
            <a:srgbClr val="13233F"/>
          </a:solidFill>
          <a:ln w="9525">
            <a:solidFill>
              <a:srgbClr val="2A3B57"/>
            </a:solidFill>
            <a:prstDash val="solid"/>
          </a:ln>
        </p:spPr>
      </p:sp>
      <p:sp>
        <p:nvSpPr>
          <p:cNvPr id="15" name="Shape 13"/>
          <p:cNvSpPr/>
          <p:nvPr/>
        </p:nvSpPr>
        <p:spPr>
          <a:xfrm>
            <a:off x="6434176" y="1892808"/>
            <a:ext cx="457200" cy="457200"/>
          </a:xfrm>
          <a:prstGeom prst="ellipse">
            <a:avLst/>
          </a:prstGeom>
          <a:solidFill>
            <a:schemeClr val="accent1"/>
          </a:solidFill>
          <a:ln w="12700">
            <a:solidFill>
              <a:schemeClr val="accent1"/>
            </a:solidFill>
            <a:prstDash val="solid"/>
          </a:ln>
        </p:spPr>
      </p:sp>
      <p:sp>
        <p:nvSpPr>
          <p:cNvPr id="16" name="Text 14"/>
          <p:cNvSpPr txBox="1"/>
          <p:nvPr/>
        </p:nvSpPr>
        <p:spPr>
          <a:xfrm>
            <a:off x="6434176"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3</a:t>
            </a:r>
            <a:endParaRPr lang="en-US" sz="1400" dirty="0"/>
          </a:p>
        </p:txBody>
      </p:sp>
      <p:sp>
        <p:nvSpPr>
          <p:cNvPr id="17" name="Text 15"/>
          <p:cNvSpPr txBox="1"/>
          <p:nvPr/>
        </p:nvSpPr>
        <p:spPr>
          <a:xfrm>
            <a:off x="7037680"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Kabag</a:t>
            </a:r>
            <a:endParaRPr lang="en-US" sz="1700" dirty="0"/>
          </a:p>
        </p:txBody>
      </p:sp>
      <p:sp>
        <p:nvSpPr>
          <p:cNvPr id="18" name="Text 16"/>
          <p:cNvSpPr txBox="1"/>
          <p:nvPr/>
        </p:nvSpPr>
        <p:spPr>
          <a:xfrm>
            <a:off x="6434176"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Setujui dan tayangkan</a:t>
            </a:r>
            <a:endParaRPr lang="en-US" sz="1400" dirty="0"/>
          </a:p>
        </p:txBody>
      </p:sp>
      <p:sp>
        <p:nvSpPr>
          <p:cNvPr id="19" name="demo4"/>
          <p:cNvSpPr/>
          <p:nvPr/>
        </p:nvSpPr>
        <p:spPr>
          <a:xfrm>
            <a:off x="9075191" y="1691640"/>
            <a:ext cx="2567864" cy="1828800"/>
          </a:xfrm>
          <a:prstGeom prst="roundRect">
            <a:avLst>
              <a:gd name="adj" fmla="val 6000"/>
            </a:avLst>
          </a:prstGeom>
          <a:solidFill>
            <a:srgbClr val="13233F"/>
          </a:solidFill>
          <a:ln w="19050">
            <a:solidFill>
              <a:schemeClr val="accent1"/>
            </a:solidFill>
            <a:prstDash val="solid"/>
          </a:ln>
        </p:spPr>
      </p:sp>
      <p:sp>
        <p:nvSpPr>
          <p:cNvPr id="20" name="Shape 18"/>
          <p:cNvSpPr/>
          <p:nvPr/>
        </p:nvSpPr>
        <p:spPr>
          <a:xfrm>
            <a:off x="9276359" y="1892808"/>
            <a:ext cx="457200" cy="457200"/>
          </a:xfrm>
          <a:prstGeom prst="ellipse">
            <a:avLst/>
          </a:prstGeom>
          <a:solidFill>
            <a:schemeClr val="accent1"/>
          </a:solidFill>
          <a:ln w="12700">
            <a:solidFill>
              <a:schemeClr val="accent1"/>
            </a:solidFill>
            <a:prstDash val="solid"/>
          </a:ln>
        </p:spPr>
      </p:sp>
      <p:sp>
        <p:nvSpPr>
          <p:cNvPr id="21" name="Text 19"/>
          <p:cNvSpPr txBox="1"/>
          <p:nvPr/>
        </p:nvSpPr>
        <p:spPr>
          <a:xfrm>
            <a:off x="9276359" y="1892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4</a:t>
            </a:r>
            <a:endParaRPr lang="en-US" sz="1400" dirty="0"/>
          </a:p>
        </p:txBody>
      </p:sp>
      <p:sp>
        <p:nvSpPr>
          <p:cNvPr id="22" name="Text 20"/>
          <p:cNvSpPr txBox="1"/>
          <p:nvPr/>
        </p:nvSpPr>
        <p:spPr>
          <a:xfrm>
            <a:off x="9879863" y="189280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HP Wali Kota</a:t>
            </a:r>
            <a:endParaRPr lang="en-US" sz="1700" dirty="0"/>
          </a:p>
        </p:txBody>
      </p:sp>
      <p:sp>
        <p:nvSpPr>
          <p:cNvPr id="23" name="Text 21"/>
          <p:cNvSpPr txBox="1"/>
          <p:nvPr/>
        </p:nvSpPr>
        <p:spPr>
          <a:xfrm>
            <a:off x="9276359" y="256032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Agenda tiba → Hadir / disposisi ke Wawali</a:t>
            </a:r>
            <a:endParaRPr lang="en-US" sz="1400" dirty="0"/>
          </a:p>
        </p:txBody>
      </p:sp>
      <p:sp>
        <p:nvSpPr>
          <p:cNvPr id="24" name="demo5"/>
          <p:cNvSpPr/>
          <p:nvPr/>
        </p:nvSpPr>
        <p:spPr>
          <a:xfrm>
            <a:off x="548640" y="3840480"/>
            <a:ext cx="2567864" cy="1828800"/>
          </a:xfrm>
          <a:prstGeom prst="roundRect">
            <a:avLst>
              <a:gd name="adj" fmla="val 6000"/>
            </a:avLst>
          </a:prstGeom>
          <a:solidFill>
            <a:srgbClr val="13233F"/>
          </a:solidFill>
          <a:ln w="9525">
            <a:solidFill>
              <a:srgbClr val="2A3B57"/>
            </a:solidFill>
            <a:prstDash val="solid"/>
          </a:ln>
        </p:spPr>
      </p:sp>
      <p:sp>
        <p:nvSpPr>
          <p:cNvPr id="25" name="Shape 23"/>
          <p:cNvSpPr/>
          <p:nvPr/>
        </p:nvSpPr>
        <p:spPr>
          <a:xfrm>
            <a:off x="749808" y="4041648"/>
            <a:ext cx="457200" cy="457200"/>
          </a:xfrm>
          <a:prstGeom prst="ellipse">
            <a:avLst/>
          </a:prstGeom>
          <a:solidFill>
            <a:schemeClr val="accent1"/>
          </a:solidFill>
          <a:ln w="12700">
            <a:solidFill>
              <a:schemeClr val="accent1"/>
            </a:solidFill>
            <a:prstDash val="solid"/>
          </a:ln>
        </p:spPr>
      </p:sp>
      <p:sp>
        <p:nvSpPr>
          <p:cNvPr id="26" name="Text 24"/>
          <p:cNvSpPr txBox="1"/>
          <p:nvPr/>
        </p:nvSpPr>
        <p:spPr>
          <a:xfrm>
            <a:off x="749808"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5</a:t>
            </a:r>
            <a:endParaRPr lang="en-US" sz="1400" dirty="0"/>
          </a:p>
        </p:txBody>
      </p:sp>
      <p:sp>
        <p:nvSpPr>
          <p:cNvPr id="27" name="Text 25"/>
          <p:cNvSpPr txBox="1"/>
          <p:nvPr/>
        </p:nvSpPr>
        <p:spPr>
          <a:xfrm>
            <a:off x="1353312"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Admin RK</a:t>
            </a:r>
            <a:endParaRPr lang="en-US" sz="1700" dirty="0"/>
          </a:p>
        </p:txBody>
      </p:sp>
      <p:sp>
        <p:nvSpPr>
          <p:cNvPr id="28" name="Text 26"/>
          <p:cNvSpPr txBox="1"/>
          <p:nvPr/>
        </p:nvSpPr>
        <p:spPr>
          <a:xfrm>
            <a:off x="749808"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Tugaskan petugas → Riwayat Alur</a:t>
            </a:r>
            <a:endParaRPr lang="en-US" sz="1400" dirty="0"/>
          </a:p>
        </p:txBody>
      </p:sp>
      <p:sp>
        <p:nvSpPr>
          <p:cNvPr id="29" name="demo6"/>
          <p:cNvSpPr/>
          <p:nvPr/>
        </p:nvSpPr>
        <p:spPr>
          <a:xfrm>
            <a:off x="3390824" y="3840480"/>
            <a:ext cx="2567864" cy="1828800"/>
          </a:xfrm>
          <a:prstGeom prst="roundRect">
            <a:avLst>
              <a:gd name="adj" fmla="val 6000"/>
            </a:avLst>
          </a:prstGeom>
          <a:solidFill>
            <a:srgbClr val="13233F"/>
          </a:solidFill>
          <a:ln w="9525">
            <a:solidFill>
              <a:srgbClr val="2A3B57"/>
            </a:solidFill>
            <a:prstDash val="solid"/>
          </a:ln>
        </p:spPr>
      </p:sp>
      <p:sp>
        <p:nvSpPr>
          <p:cNvPr id="30" name="Shape 28"/>
          <p:cNvSpPr/>
          <p:nvPr/>
        </p:nvSpPr>
        <p:spPr>
          <a:xfrm>
            <a:off x="3591992" y="4041648"/>
            <a:ext cx="457200" cy="457200"/>
          </a:xfrm>
          <a:prstGeom prst="ellipse">
            <a:avLst/>
          </a:prstGeom>
          <a:solidFill>
            <a:schemeClr val="accent1"/>
          </a:solidFill>
          <a:ln w="12700">
            <a:solidFill>
              <a:schemeClr val="accent1"/>
            </a:solidFill>
            <a:prstDash val="solid"/>
          </a:ln>
        </p:spPr>
      </p:sp>
      <p:sp>
        <p:nvSpPr>
          <p:cNvPr id="31" name="Text 29"/>
          <p:cNvSpPr txBox="1"/>
          <p:nvPr/>
        </p:nvSpPr>
        <p:spPr>
          <a:xfrm>
            <a:off x="3591992" y="404164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6</a:t>
            </a:r>
            <a:endParaRPr lang="en-US" sz="1400" dirty="0"/>
          </a:p>
        </p:txBody>
      </p:sp>
      <p:sp>
        <p:nvSpPr>
          <p:cNvPr id="32" name="Text 30"/>
          <p:cNvSpPr txBox="1"/>
          <p:nvPr/>
        </p:nvSpPr>
        <p:spPr>
          <a:xfrm>
            <a:off x="4195496" y="4041648"/>
            <a:ext cx="1607744" cy="457200"/>
          </a:xfrm>
          <a:prstGeom prst="rect">
            <a:avLst/>
          </a:prstGeom>
          <a:noFill/>
          <a:ln/>
        </p:spPr>
        <p:txBody>
          <a:bodyPr wrap="square" lIns="0" tIns="0" rIns="0" bIns="0" rtlCol="0" anchor="ctr"/>
          <a:lstStyle/>
          <a:p>
            <a:pPr indent="0" marL="0">
              <a:buNone/>
            </a:pPr>
            <a:r>
              <a:rPr lang="en-US" sz="1700" b="1" dirty="0">
                <a:solidFill>
                  <a:schemeClr val="bg1"/>
                </a:solidFill>
              </a:rPr>
              <a:t>Kabag</a:t>
            </a:r>
            <a:endParaRPr lang="en-US" sz="1700" dirty="0"/>
          </a:p>
        </p:txBody>
      </p:sp>
      <p:sp>
        <p:nvSpPr>
          <p:cNvPr id="33" name="Text 31"/>
          <p:cNvSpPr txBox="1"/>
          <p:nvPr/>
        </p:nvSpPr>
        <p:spPr>
          <a:xfrm>
            <a:off x="3591992" y="4709160"/>
            <a:ext cx="2165528" cy="822960"/>
          </a:xfrm>
          <a:prstGeom prst="rect">
            <a:avLst/>
          </a:prstGeom>
          <a:noFill/>
          <a:ln/>
        </p:spPr>
        <p:txBody>
          <a:bodyPr wrap="square" lIns="0" tIns="0" rIns="0" bIns="0" rtlCol="0" anchor="t"/>
          <a:lstStyle/>
          <a:p>
            <a:pPr indent="0" marL="0">
              <a:buNone/>
            </a:pPr>
            <a:r>
              <a:rPr lang="en-US" sz="1400" dirty="0">
                <a:solidFill>
                  <a:schemeClr val="accent6"/>
                </a:solidFill>
              </a:rPr>
              <a:t>Monitor WA → pesan penugasan terkirim</a:t>
            </a:r>
            <a:endParaRPr lang="en-US" sz="1400" dirty="0"/>
          </a:p>
        </p:txBody>
      </p:sp>
      <p:sp>
        <p:nvSpPr>
          <p:cNvPr id="34" name="Text 32"/>
          <p:cNvSpPr txBox="1"/>
          <p:nvPr/>
        </p:nvSpPr>
        <p:spPr>
          <a:xfrm>
            <a:off x="6233008" y="3931920"/>
            <a:ext cx="5410048" cy="1463040"/>
          </a:xfrm>
          <a:prstGeom prst="rect">
            <a:avLst/>
          </a:prstGeom>
          <a:noFill/>
          <a:ln/>
        </p:spPr>
        <p:txBody>
          <a:bodyPr wrap="square" lIns="0" tIns="0" rIns="0" bIns="0" rtlCol="0" anchor="t"/>
          <a:lstStyle/>
          <a:p>
            <a:pPr indent="0" marL="0">
              <a:spcAft>
                <a:spcPts val="600"/>
              </a:spcAft>
              <a:buNone/>
            </a:pPr>
            <a:r>
              <a:rPr lang="en-US" sz="1600" i="1" dirty="0">
                <a:solidFill>
                  <a:schemeClr val="accent1"/>
                </a:solidFill>
              </a:rPr>
              <a:t>Langkah 1–4: satu alur sampai ke Pimpinan.</a:t>
            </a:r>
            <a:endParaRPr lang="en-US" sz="1600" dirty="0"/>
          </a:p>
          <a:p>
            <a:pPr indent="0" marL="0">
              <a:spcAft>
                <a:spcPts val="600"/>
              </a:spcAft>
              <a:buNone/>
            </a:pPr>
            <a:r>
              <a:rPr lang="en-US" sz="1600" i="1" dirty="0">
                <a:solidFill>
                  <a:schemeClr val="accent1"/>
                </a:solidFill>
              </a:rPr>
              <a:t>Langkah 5–6: setiap keputusan dan pesan tercatat.</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MANFAAT INOVASI  ·  25%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Dari 18–24 jam menjadi 1,99 jam, dan setiap keputusan tercatat</a:t>
            </a:r>
            <a:endParaRPr lang="en-US" sz="2800" dirty="0"/>
          </a:p>
        </p:txBody>
      </p:sp>
      <p:sp>
        <p:nvSpPr>
          <p:cNvPr id="4" name="sebelum"/>
          <p:cNvSpPr/>
          <p:nvPr/>
        </p:nvSpPr>
        <p:spPr>
          <a:xfrm>
            <a:off x="548640" y="1691640"/>
            <a:ext cx="3246120" cy="2606040"/>
          </a:xfrm>
          <a:prstGeom prst="roundRect">
            <a:avLst>
              <a:gd name="adj" fmla="val 4211"/>
            </a:avLst>
          </a:prstGeom>
          <a:solidFill>
            <a:schemeClr val="bg2"/>
          </a:solidFill>
          <a:ln w="9525">
            <a:solidFill>
              <a:schemeClr val="bg2"/>
            </a:solidFill>
            <a:prstDash val="solid"/>
          </a:ln>
        </p:spPr>
      </p:sp>
      <p:sp>
        <p:nvSpPr>
          <p:cNvPr id="5" name="Text 3"/>
          <p:cNvSpPr txBox="1"/>
          <p:nvPr/>
        </p:nvSpPr>
        <p:spPr>
          <a:xfrm>
            <a:off x="822960" y="1892808"/>
            <a:ext cx="2697480" cy="274320"/>
          </a:xfrm>
          <a:prstGeom prst="rect">
            <a:avLst/>
          </a:prstGeom>
          <a:noFill/>
          <a:ln/>
        </p:spPr>
        <p:txBody>
          <a:bodyPr wrap="square" lIns="0" tIns="0" rIns="0" bIns="0" rtlCol="0" anchor="t"/>
          <a:lstStyle/>
          <a:p>
            <a:pPr indent="0" marL="0">
              <a:buNone/>
            </a:pPr>
            <a:r>
              <a:rPr lang="en-US" sz="1200" b="1" spc="200" kern="0" dirty="0">
                <a:solidFill>
                  <a:schemeClr val="accent5"/>
                </a:solidFill>
              </a:rPr>
              <a:t>SEBELUM</a:t>
            </a:r>
            <a:endParaRPr lang="en-US" sz="1200" dirty="0"/>
          </a:p>
        </p:txBody>
      </p:sp>
      <p:sp>
        <p:nvSpPr>
          <p:cNvPr id="6" name="Text 4"/>
          <p:cNvSpPr txBox="1"/>
          <p:nvPr/>
        </p:nvSpPr>
        <p:spPr>
          <a:xfrm>
            <a:off x="822960" y="2286000"/>
            <a:ext cx="2697480" cy="822960"/>
          </a:xfrm>
          <a:prstGeom prst="rect">
            <a:avLst/>
          </a:prstGeom>
          <a:noFill/>
          <a:ln/>
        </p:spPr>
        <p:txBody>
          <a:bodyPr wrap="square" lIns="0" tIns="0" rIns="0" bIns="0" rtlCol="0" anchor="t"/>
          <a:lstStyle/>
          <a:p>
            <a:pPr indent="0" marL="0">
              <a:buNone/>
            </a:pPr>
            <a:r>
              <a:rPr lang="en-US" sz="3600" b="1" dirty="0">
                <a:solidFill>
                  <a:schemeClr val="accent5"/>
                </a:solidFill>
              </a:rPr>
              <a:t>±18–24 jam</a:t>
            </a:r>
            <a:endParaRPr lang="en-US" sz="3600" dirty="0"/>
          </a:p>
        </p:txBody>
      </p:sp>
      <p:sp>
        <p:nvSpPr>
          <p:cNvPr id="7" name="Text 5"/>
          <p:cNvSpPr txBox="1"/>
          <p:nvPr/>
        </p:nvSpPr>
        <p:spPr>
          <a:xfrm>
            <a:off x="822960" y="3154680"/>
            <a:ext cx="2697480" cy="914400"/>
          </a:xfrm>
          <a:prstGeom prst="rect">
            <a:avLst/>
          </a:prstGeom>
          <a:noFill/>
          <a:ln/>
        </p:spPr>
        <p:txBody>
          <a:bodyPr wrap="square" lIns="0" tIns="0" rIns="0" bIns="0" rtlCol="0" anchor="t"/>
          <a:lstStyle/>
          <a:p>
            <a:pPr indent="0" marL="0">
              <a:buNone/>
            </a:pPr>
            <a:r>
              <a:rPr lang="en-US" sz="1400" dirty="0">
                <a:solidFill>
                  <a:schemeClr val="accent5"/>
                </a:solidFill>
              </a:rPr>
              <a:t>dari pengajuan sampai tayang; perkiraan alur lama yang tidak pernah dicatat</a:t>
            </a:r>
            <a:endParaRPr lang="en-US" sz="1400" dirty="0"/>
          </a:p>
        </p:txBody>
      </p:sp>
      <p:sp>
        <p:nvSpPr>
          <p:cNvPr id="8" name="Shape 6"/>
          <p:cNvSpPr/>
          <p:nvPr/>
        </p:nvSpPr>
        <p:spPr>
          <a:xfrm>
            <a:off x="3886200" y="2994660"/>
            <a:ext cx="411480" cy="0"/>
          </a:xfrm>
          <a:prstGeom prst="line">
            <a:avLst/>
          </a:prstGeom>
          <a:noFill/>
          <a:ln w="22225">
            <a:solidFill>
              <a:schemeClr val="tx2"/>
            </a:solidFill>
            <a:prstDash val="solid"/>
            <a:tailEnd type="triangle"/>
          </a:ln>
        </p:spPr>
      </p:sp>
      <p:sp>
        <p:nvSpPr>
          <p:cNvPr id="9" name="sesudah"/>
          <p:cNvSpPr/>
          <p:nvPr/>
        </p:nvSpPr>
        <p:spPr>
          <a:xfrm>
            <a:off x="4389120" y="1691640"/>
            <a:ext cx="3657600" cy="2606040"/>
          </a:xfrm>
          <a:prstGeom prst="roundRect">
            <a:avLst>
              <a:gd name="adj" fmla="val 4211"/>
            </a:avLst>
          </a:prstGeom>
          <a:solidFill>
            <a:schemeClr val="tx2"/>
          </a:solidFill>
          <a:ln w="9525">
            <a:solidFill>
              <a:schemeClr val="tx2"/>
            </a:solidFill>
            <a:prstDash val="solid"/>
          </a:ln>
        </p:spPr>
      </p:sp>
      <p:sp>
        <p:nvSpPr>
          <p:cNvPr id="10" name="Text 8"/>
          <p:cNvSpPr txBox="1"/>
          <p:nvPr/>
        </p:nvSpPr>
        <p:spPr>
          <a:xfrm>
            <a:off x="4663440" y="1892808"/>
            <a:ext cx="310896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SESUDAH</a:t>
            </a:r>
            <a:endParaRPr lang="en-US" sz="1200" dirty="0"/>
          </a:p>
        </p:txBody>
      </p:sp>
      <p:sp>
        <p:nvSpPr>
          <p:cNvPr id="11" name="Text 9"/>
          <p:cNvSpPr txBox="1"/>
          <p:nvPr/>
        </p:nvSpPr>
        <p:spPr>
          <a:xfrm>
            <a:off x="4663440" y="2240280"/>
            <a:ext cx="3108960" cy="914400"/>
          </a:xfrm>
          <a:prstGeom prst="rect">
            <a:avLst/>
          </a:prstGeom>
          <a:noFill/>
          <a:ln/>
        </p:spPr>
        <p:txBody>
          <a:bodyPr wrap="square" lIns="0" tIns="0" rIns="0" bIns="0" rtlCol="0" anchor="t"/>
          <a:lstStyle/>
          <a:p>
            <a:pPr indent="0" marL="0">
              <a:buNone/>
            </a:pPr>
            <a:r>
              <a:rPr lang="en-US" sz="5000" b="1" dirty="0">
                <a:solidFill>
                  <a:schemeClr val="bg1"/>
                </a:solidFill>
              </a:rPr>
              <a:t>1,99 jam</a:t>
            </a:r>
            <a:endParaRPr lang="en-US" sz="5000" dirty="0"/>
          </a:p>
        </p:txBody>
      </p:sp>
      <p:sp>
        <p:nvSpPr>
          <p:cNvPr id="12" name="Text 10"/>
          <p:cNvSpPr txBox="1"/>
          <p:nvPr/>
        </p:nvSpPr>
        <p:spPr>
          <a:xfrm>
            <a:off x="4663440" y="3291840"/>
            <a:ext cx="3108960" cy="822960"/>
          </a:xfrm>
          <a:prstGeom prst="rect">
            <a:avLst/>
          </a:prstGeom>
          <a:noFill/>
          <a:ln/>
        </p:spPr>
        <p:txBody>
          <a:bodyPr wrap="square" lIns="0" tIns="0" rIns="0" bIns="0" rtlCol="0" anchor="t"/>
          <a:lstStyle/>
          <a:p>
            <a:pPr indent="0" marL="0">
              <a:buNone/>
            </a:pPr>
            <a:r>
              <a:rPr lang="en-US" sz="1400" dirty="0">
                <a:solidFill>
                  <a:schemeClr val="accent6"/>
                </a:solidFill>
              </a:rPr>
              <a:t>median terukur dari basis data; 99,3% tayang kurang dari 24 jam</a:t>
            </a:r>
            <a:endParaRPr lang="en-US" sz="1400" dirty="0"/>
          </a:p>
        </p:txBody>
      </p:sp>
      <p:sp>
        <p:nvSpPr>
          <p:cNvPr id="13" name="Text 11"/>
          <p:cNvSpPr txBox="1"/>
          <p:nvPr/>
        </p:nvSpPr>
        <p:spPr>
          <a:xfrm>
            <a:off x="8412480" y="1691640"/>
            <a:ext cx="3230575" cy="320040"/>
          </a:xfrm>
          <a:prstGeom prst="rect">
            <a:avLst/>
          </a:prstGeom>
          <a:noFill/>
          <a:ln/>
        </p:spPr>
        <p:txBody>
          <a:bodyPr wrap="square" lIns="0" tIns="0" rIns="0" bIns="0" rtlCol="0" anchor="t"/>
          <a:lstStyle/>
          <a:p>
            <a:pPr indent="0" marL="0">
              <a:buNone/>
            </a:pPr>
            <a:r>
              <a:rPr lang="en-US" sz="1500" b="1" dirty="0">
                <a:solidFill>
                  <a:schemeClr val="tx2"/>
                </a:solidFill>
              </a:rPr>
              <a:t>Yang menopang angka itu</a:t>
            </a:r>
            <a:endParaRPr lang="en-US" sz="1500" dirty="0"/>
          </a:p>
        </p:txBody>
      </p:sp>
      <p:sp>
        <p:nvSpPr>
          <p:cNvPr id="14" name="Text 12"/>
          <p:cNvSpPr txBox="1"/>
          <p:nvPr/>
        </p:nvSpPr>
        <p:spPr>
          <a:xfrm>
            <a:off x="8412480" y="214884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589</a:t>
            </a:r>
            <a:endParaRPr lang="en-US" sz="1500" dirty="0"/>
          </a:p>
        </p:txBody>
      </p:sp>
      <p:sp>
        <p:nvSpPr>
          <p:cNvPr id="15" name="Text 13"/>
          <p:cNvSpPr txBox="1"/>
          <p:nvPr/>
        </p:nvSpPr>
        <p:spPr>
          <a:xfrm>
            <a:off x="9418320" y="214884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kegiatan terkelola</a:t>
            </a:r>
            <a:endParaRPr lang="en-US" sz="1400" dirty="0"/>
          </a:p>
        </p:txBody>
      </p:sp>
      <p:sp>
        <p:nvSpPr>
          <p:cNvPr id="16" name="Text 14"/>
          <p:cNvSpPr txBox="1"/>
          <p:nvPr/>
        </p:nvSpPr>
        <p:spPr>
          <a:xfrm>
            <a:off x="8412480" y="251460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47,5%</a:t>
            </a:r>
            <a:endParaRPr lang="en-US" sz="1500" dirty="0"/>
          </a:p>
        </p:txBody>
      </p:sp>
      <p:sp>
        <p:nvSpPr>
          <p:cNvPr id="17" name="Text 15"/>
          <p:cNvSpPr txBox="1"/>
          <p:nvPr/>
        </p:nvSpPr>
        <p:spPr>
          <a:xfrm>
            <a:off x="9418320" y="251460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telaah di luar jam kerja</a:t>
            </a:r>
            <a:endParaRPr lang="en-US" sz="1400" dirty="0"/>
          </a:p>
        </p:txBody>
      </p:sp>
      <p:sp>
        <p:nvSpPr>
          <p:cNvPr id="18" name="Text 16"/>
          <p:cNvSpPr txBox="1"/>
          <p:nvPr/>
        </p:nvSpPr>
        <p:spPr>
          <a:xfrm>
            <a:off x="8412480" y="288036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3.072</a:t>
            </a:r>
            <a:endParaRPr lang="en-US" sz="1500" dirty="0"/>
          </a:p>
        </p:txBody>
      </p:sp>
      <p:sp>
        <p:nvSpPr>
          <p:cNvPr id="19" name="Text 17"/>
          <p:cNvSpPr txBox="1"/>
          <p:nvPr/>
        </p:nvSpPr>
        <p:spPr>
          <a:xfrm>
            <a:off x="9418320" y="288036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peristiwa jejak audit</a:t>
            </a:r>
            <a:endParaRPr lang="en-US" sz="1400" dirty="0"/>
          </a:p>
        </p:txBody>
      </p:sp>
      <p:sp>
        <p:nvSpPr>
          <p:cNvPr id="20" name="Text 18"/>
          <p:cNvSpPr txBox="1"/>
          <p:nvPr/>
        </p:nvSpPr>
        <p:spPr>
          <a:xfrm>
            <a:off x="8412480" y="324612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92,4%</a:t>
            </a:r>
            <a:endParaRPr lang="en-US" sz="1500" dirty="0"/>
          </a:p>
        </p:txBody>
      </p:sp>
      <p:sp>
        <p:nvSpPr>
          <p:cNvPr id="21" name="Text 19"/>
          <p:cNvSpPr txBox="1"/>
          <p:nvPr/>
        </p:nvSpPr>
        <p:spPr>
          <a:xfrm>
            <a:off x="9418320" y="324612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kegiatan ada petugasnya</a:t>
            </a:r>
            <a:endParaRPr lang="en-US" sz="1400" dirty="0"/>
          </a:p>
        </p:txBody>
      </p:sp>
      <p:sp>
        <p:nvSpPr>
          <p:cNvPr id="22" name="Text 20"/>
          <p:cNvSpPr txBox="1"/>
          <p:nvPr/>
        </p:nvSpPr>
        <p:spPr>
          <a:xfrm>
            <a:off x="8412480" y="3611880"/>
            <a:ext cx="960120" cy="347472"/>
          </a:xfrm>
          <a:prstGeom prst="rect">
            <a:avLst/>
          </a:prstGeom>
          <a:noFill/>
          <a:ln/>
        </p:spPr>
        <p:txBody>
          <a:bodyPr wrap="square" lIns="0" tIns="0" rIns="0" bIns="0" rtlCol="0" anchor="ctr"/>
          <a:lstStyle/>
          <a:p>
            <a:pPr indent="0" marL="0">
              <a:buNone/>
            </a:pPr>
            <a:r>
              <a:rPr lang="en-US" sz="1500" b="1" dirty="0">
                <a:solidFill>
                  <a:schemeClr val="tx2"/>
                </a:solidFill>
              </a:rPr>
              <a:t>Rp0</a:t>
            </a:r>
            <a:endParaRPr lang="en-US" sz="1500" dirty="0"/>
          </a:p>
        </p:txBody>
      </p:sp>
      <p:sp>
        <p:nvSpPr>
          <p:cNvPr id="23" name="Text 21"/>
          <p:cNvSpPr txBox="1"/>
          <p:nvPr/>
        </p:nvSpPr>
        <p:spPr>
          <a:xfrm>
            <a:off x="9418320" y="3611880"/>
            <a:ext cx="2224735" cy="347472"/>
          </a:xfrm>
          <a:prstGeom prst="rect">
            <a:avLst/>
          </a:prstGeom>
          <a:noFill/>
          <a:ln/>
        </p:spPr>
        <p:txBody>
          <a:bodyPr wrap="square" lIns="0" tIns="0" rIns="0" bIns="0" rtlCol="0" anchor="ctr"/>
          <a:lstStyle/>
          <a:p>
            <a:pPr indent="0" marL="0">
              <a:buNone/>
            </a:pPr>
            <a:r>
              <a:rPr lang="en-US" sz="1400" dirty="0">
                <a:solidFill>
                  <a:schemeClr val="accent5"/>
                </a:solidFill>
              </a:rPr>
              <a:t>belanja pengadaan</a:t>
            </a:r>
            <a:endParaRPr lang="en-US" sz="1400" dirty="0"/>
          </a:p>
        </p:txBody>
      </p:sp>
      <p:sp>
        <p:nvSpPr>
          <p:cNvPr id="24" name="Text 22"/>
          <p:cNvSpPr txBox="1"/>
          <p:nvPr/>
        </p:nvSpPr>
        <p:spPr>
          <a:xfrm>
            <a:off x="548640" y="4526280"/>
            <a:ext cx="7315200" cy="320040"/>
          </a:xfrm>
          <a:prstGeom prst="rect">
            <a:avLst/>
          </a:prstGeom>
          <a:noFill/>
          <a:ln/>
        </p:spPr>
        <p:txBody>
          <a:bodyPr wrap="square" lIns="0" tIns="0" rIns="0" bIns="0" rtlCol="0" anchor="t"/>
          <a:lstStyle/>
          <a:p>
            <a:pPr indent="0" marL="0">
              <a:buNone/>
            </a:pPr>
            <a:r>
              <a:rPr lang="en-US" sz="1500" b="1" dirty="0">
                <a:solidFill>
                  <a:schemeClr val="tx2"/>
                </a:solidFill>
              </a:rPr>
              <a:t>Mengapa lebih cepat, dan lebih hemat</a:t>
            </a:r>
            <a:endParaRPr lang="en-US" sz="1500" dirty="0"/>
          </a:p>
        </p:txBody>
      </p:sp>
      <p:sp>
        <p:nvSpPr>
          <p:cNvPr id="25" name="sebab1"/>
          <p:cNvSpPr/>
          <p:nvPr/>
        </p:nvSpPr>
        <p:spPr>
          <a:xfrm>
            <a:off x="548640" y="4892040"/>
            <a:ext cx="2636444" cy="1097280"/>
          </a:xfrm>
          <a:prstGeom prst="roundRect">
            <a:avLst>
              <a:gd name="adj" fmla="val 10000"/>
            </a:avLst>
          </a:prstGeom>
          <a:solidFill>
            <a:srgbClr val="FFFFFF"/>
          </a:solidFill>
          <a:ln w="9525">
            <a:solidFill>
              <a:schemeClr val="accent6"/>
            </a:solidFill>
            <a:prstDash val="solid"/>
          </a:ln>
        </p:spPr>
      </p:sp>
      <p:sp>
        <p:nvSpPr>
          <p:cNvPr id="26" name="Text 24"/>
          <p:cNvSpPr txBox="1"/>
          <p:nvPr/>
        </p:nvSpPr>
        <p:spPr>
          <a:xfrm>
            <a:off x="731520" y="4983480"/>
            <a:ext cx="2270684" cy="365760"/>
          </a:xfrm>
          <a:prstGeom prst="rect">
            <a:avLst/>
          </a:prstGeom>
          <a:noFill/>
          <a:ln/>
        </p:spPr>
        <p:txBody>
          <a:bodyPr wrap="square" lIns="0" tIns="0" rIns="0" bIns="0" rtlCol="0" anchor="ctr"/>
          <a:lstStyle/>
          <a:p>
            <a:pPr indent="0" marL="0">
              <a:buNone/>
            </a:pPr>
            <a:r>
              <a:rPr lang="en-US" sz="1400" b="1" dirty="0">
                <a:solidFill>
                  <a:schemeClr val="tx2"/>
                </a:solidFill>
              </a:rPr>
              <a:t>Tanpa jendela 30 menit</a:t>
            </a:r>
            <a:endParaRPr lang="en-US" sz="1400" dirty="0"/>
          </a:p>
        </p:txBody>
      </p:sp>
      <p:sp>
        <p:nvSpPr>
          <p:cNvPr id="27" name="Text 25"/>
          <p:cNvSpPr txBox="1"/>
          <p:nvPr/>
        </p:nvSpPr>
        <p:spPr>
          <a:xfrm>
            <a:off x="731520" y="5349240"/>
            <a:ext cx="2270684" cy="594360"/>
          </a:xfrm>
          <a:prstGeom prst="rect">
            <a:avLst/>
          </a:prstGeom>
          <a:noFill/>
          <a:ln/>
        </p:spPr>
        <p:txBody>
          <a:bodyPr wrap="square" lIns="0" tIns="0" rIns="0" bIns="0" rtlCol="0" anchor="t"/>
          <a:lstStyle/>
          <a:p>
            <a:pPr indent="0" marL="0">
              <a:buNone/>
            </a:pPr>
            <a:r>
              <a:rPr lang="en-US" sz="1400" dirty="0">
                <a:solidFill>
                  <a:schemeClr val="tx1"/>
                </a:solidFill>
              </a:rPr>
              <a:t>telaah dan persetujuan kapan saja, dari mana saja</a:t>
            </a:r>
            <a:endParaRPr lang="en-US" sz="1400" dirty="0"/>
          </a:p>
        </p:txBody>
      </p:sp>
      <p:sp>
        <p:nvSpPr>
          <p:cNvPr id="28" name="sebab2"/>
          <p:cNvSpPr/>
          <p:nvPr/>
        </p:nvSpPr>
        <p:spPr>
          <a:xfrm>
            <a:off x="3367964" y="4892040"/>
            <a:ext cx="2636444" cy="1097280"/>
          </a:xfrm>
          <a:prstGeom prst="roundRect">
            <a:avLst>
              <a:gd name="adj" fmla="val 10000"/>
            </a:avLst>
          </a:prstGeom>
          <a:solidFill>
            <a:srgbClr val="FFFFFF"/>
          </a:solidFill>
          <a:ln w="9525">
            <a:solidFill>
              <a:schemeClr val="accent6"/>
            </a:solidFill>
            <a:prstDash val="solid"/>
          </a:ln>
        </p:spPr>
      </p:sp>
      <p:sp>
        <p:nvSpPr>
          <p:cNvPr id="29" name="Text 27"/>
          <p:cNvSpPr txBox="1"/>
          <p:nvPr/>
        </p:nvSpPr>
        <p:spPr>
          <a:xfrm>
            <a:off x="3550844" y="4983480"/>
            <a:ext cx="2270684" cy="365760"/>
          </a:xfrm>
          <a:prstGeom prst="rect">
            <a:avLst/>
          </a:prstGeom>
          <a:noFill/>
          <a:ln/>
        </p:spPr>
        <p:txBody>
          <a:bodyPr wrap="square" lIns="0" tIns="0" rIns="0" bIns="0" rtlCol="0" anchor="ctr"/>
          <a:lstStyle/>
          <a:p>
            <a:pPr indent="0" marL="0">
              <a:buNone/>
            </a:pPr>
            <a:r>
              <a:rPr lang="en-US" sz="1400" b="1" dirty="0">
                <a:solidFill>
                  <a:schemeClr val="tx2"/>
                </a:solidFill>
              </a:rPr>
              <a:t>Satu sumber data</a:t>
            </a:r>
            <a:endParaRPr lang="en-US" sz="1400" dirty="0"/>
          </a:p>
        </p:txBody>
      </p:sp>
      <p:sp>
        <p:nvSpPr>
          <p:cNvPr id="30" name="Text 28"/>
          <p:cNvSpPr txBox="1"/>
          <p:nvPr/>
        </p:nvSpPr>
        <p:spPr>
          <a:xfrm>
            <a:off x="3550844" y="5349240"/>
            <a:ext cx="2270684" cy="594360"/>
          </a:xfrm>
          <a:prstGeom prst="rect">
            <a:avLst/>
          </a:prstGeom>
          <a:noFill/>
          <a:ln/>
        </p:spPr>
        <p:txBody>
          <a:bodyPr wrap="square" lIns="0" tIns="0" rIns="0" bIns="0" rtlCol="0" anchor="t"/>
          <a:lstStyle/>
          <a:p>
            <a:pPr indent="0" marL="0">
              <a:buNone/>
            </a:pPr>
            <a:r>
              <a:rPr lang="en-US" sz="1400" dirty="0">
                <a:solidFill>
                  <a:schemeClr val="tx1"/>
                </a:solidFill>
              </a:rPr>
              <a:t>tanpa versi ganda, foto disposisi, atau grup</a:t>
            </a:r>
            <a:endParaRPr lang="en-US" sz="1400" dirty="0"/>
          </a:p>
        </p:txBody>
      </p:sp>
      <p:sp>
        <p:nvSpPr>
          <p:cNvPr id="31" name="sebab3"/>
          <p:cNvSpPr/>
          <p:nvPr/>
        </p:nvSpPr>
        <p:spPr>
          <a:xfrm>
            <a:off x="6187288" y="4892040"/>
            <a:ext cx="2636444" cy="1097280"/>
          </a:xfrm>
          <a:prstGeom prst="roundRect">
            <a:avLst>
              <a:gd name="adj" fmla="val 10000"/>
            </a:avLst>
          </a:prstGeom>
          <a:solidFill>
            <a:srgbClr val="FFFFFF"/>
          </a:solidFill>
          <a:ln w="9525">
            <a:solidFill>
              <a:schemeClr val="accent6"/>
            </a:solidFill>
            <a:prstDash val="solid"/>
          </a:ln>
        </p:spPr>
      </p:sp>
      <p:sp>
        <p:nvSpPr>
          <p:cNvPr id="32" name="Text 30"/>
          <p:cNvSpPr txBox="1"/>
          <p:nvPr/>
        </p:nvSpPr>
        <p:spPr>
          <a:xfrm>
            <a:off x="6370168" y="4983480"/>
            <a:ext cx="2270684" cy="365760"/>
          </a:xfrm>
          <a:prstGeom prst="rect">
            <a:avLst/>
          </a:prstGeom>
          <a:noFill/>
          <a:ln/>
        </p:spPr>
        <p:txBody>
          <a:bodyPr wrap="square" lIns="0" tIns="0" rIns="0" bIns="0" rtlCol="0" anchor="ctr"/>
          <a:lstStyle/>
          <a:p>
            <a:pPr indent="0" marL="0">
              <a:buNone/>
            </a:pPr>
            <a:r>
              <a:rPr lang="en-US" sz="1400" b="1" dirty="0">
                <a:solidFill>
                  <a:schemeClr val="tx2"/>
                </a:solidFill>
              </a:rPr>
              <a:t>Daftar periksa wajib</a:t>
            </a:r>
            <a:endParaRPr lang="en-US" sz="1400" dirty="0"/>
          </a:p>
        </p:txBody>
      </p:sp>
      <p:sp>
        <p:nvSpPr>
          <p:cNvPr id="33" name="Text 31"/>
          <p:cNvSpPr txBox="1"/>
          <p:nvPr/>
        </p:nvSpPr>
        <p:spPr>
          <a:xfrm>
            <a:off x="6370168" y="5349240"/>
            <a:ext cx="2270684" cy="594360"/>
          </a:xfrm>
          <a:prstGeom prst="rect">
            <a:avLst/>
          </a:prstGeom>
          <a:noFill/>
          <a:ln/>
        </p:spPr>
        <p:txBody>
          <a:bodyPr wrap="square" lIns="0" tIns="0" rIns="0" bIns="0" rtlCol="0" anchor="t"/>
          <a:lstStyle/>
          <a:p>
            <a:pPr indent="0" marL="0">
              <a:buNone/>
            </a:pPr>
            <a:r>
              <a:rPr lang="en-US" sz="1400" dirty="0">
                <a:solidFill>
                  <a:schemeClr val="tx1"/>
                </a:solidFill>
              </a:rPr>
              <a:t>kekeliruan tertahan sebelum tayang</a:t>
            </a:r>
            <a:endParaRPr lang="en-US" sz="1400" dirty="0"/>
          </a:p>
        </p:txBody>
      </p:sp>
      <p:sp>
        <p:nvSpPr>
          <p:cNvPr id="34" name="sebab4"/>
          <p:cNvSpPr/>
          <p:nvPr/>
        </p:nvSpPr>
        <p:spPr>
          <a:xfrm>
            <a:off x="9006611" y="4892040"/>
            <a:ext cx="2636444" cy="1097280"/>
          </a:xfrm>
          <a:prstGeom prst="roundRect">
            <a:avLst>
              <a:gd name="adj" fmla="val 10000"/>
            </a:avLst>
          </a:prstGeom>
          <a:solidFill>
            <a:srgbClr val="ECFDF5"/>
          </a:solidFill>
          <a:ln w="19050">
            <a:solidFill>
              <a:schemeClr val="accent3"/>
            </a:solidFill>
            <a:prstDash val="solid"/>
          </a:ln>
        </p:spPr>
      </p:sp>
      <p:sp>
        <p:nvSpPr>
          <p:cNvPr id="35" name="Text 33"/>
          <p:cNvSpPr txBox="1"/>
          <p:nvPr/>
        </p:nvSpPr>
        <p:spPr>
          <a:xfrm>
            <a:off x="9189491" y="4983480"/>
            <a:ext cx="2270684" cy="365760"/>
          </a:xfrm>
          <a:prstGeom prst="rect">
            <a:avLst/>
          </a:prstGeom>
          <a:noFill/>
          <a:ln/>
        </p:spPr>
        <p:txBody>
          <a:bodyPr wrap="square" lIns="0" tIns="0" rIns="0" bIns="0" rtlCol="0" anchor="ctr"/>
          <a:lstStyle/>
          <a:p>
            <a:pPr indent="0" marL="0">
              <a:buNone/>
            </a:pPr>
            <a:r>
              <a:rPr lang="en-US" sz="1400" b="1" dirty="0">
                <a:solidFill>
                  <a:schemeClr val="accent3"/>
                </a:solidFill>
              </a:rPr>
              <a:t>Hemat kertas</a:t>
            </a:r>
            <a:endParaRPr lang="en-US" sz="1400" dirty="0"/>
          </a:p>
        </p:txBody>
      </p:sp>
      <p:sp>
        <p:nvSpPr>
          <p:cNvPr id="36" name="Text 34"/>
          <p:cNvSpPr txBox="1"/>
          <p:nvPr/>
        </p:nvSpPr>
        <p:spPr>
          <a:xfrm>
            <a:off x="9189491" y="5349240"/>
            <a:ext cx="2270684" cy="594360"/>
          </a:xfrm>
          <a:prstGeom prst="rect">
            <a:avLst/>
          </a:prstGeom>
          <a:noFill/>
          <a:ln/>
        </p:spPr>
        <p:txBody>
          <a:bodyPr wrap="square" lIns="0" tIns="0" rIns="0" bIns="0" rtlCol="0" anchor="t"/>
          <a:lstStyle/>
          <a:p>
            <a:pPr indent="0" marL="0">
              <a:buNone/>
            </a:pPr>
            <a:r>
              <a:rPr lang="en-US" sz="1400" dirty="0">
                <a:solidFill>
                  <a:schemeClr val="tx1"/>
                </a:solidFill>
              </a:rPr>
              <a:t>Tanpa cetak ulang RK; 452 undangan terarsip digital</a:t>
            </a:r>
            <a:endParaRPr lang="en-US" sz="1400" dirty="0"/>
          </a:p>
        </p:txBody>
      </p:sp>
      <p:sp>
        <p:nvSpPr>
          <p:cNvPr id="37" name="Text 35"/>
          <p:cNvSpPr txBox="1"/>
          <p:nvPr/>
        </p:nvSpPr>
        <p:spPr>
          <a:xfrm>
            <a:off x="548640" y="6080760"/>
            <a:ext cx="11094415" cy="274320"/>
          </a:xfrm>
          <a:prstGeom prst="rect">
            <a:avLst/>
          </a:prstGeom>
          <a:noFill/>
          <a:ln/>
        </p:spPr>
        <p:txBody>
          <a:bodyPr wrap="square" lIns="0" tIns="0" rIns="0" bIns="0" rtlCol="0" anchor="t"/>
          <a:lstStyle/>
          <a:p>
            <a:pPr indent="0" marL="0">
              <a:buNone/>
            </a:pPr>
            <a:r>
              <a:rPr lang="en-US" sz="1100" dirty="0">
                <a:solidFill>
                  <a:schemeClr val="accent5"/>
                </a:solidFill>
              </a:rPr>
              <a:t>Sumber: basis data Prokopim Hibot, 24 September 2026. Angka "sebelum" adalah estimasi dari alur lama.</a:t>
            </a:r>
            <a:endParaRPr lang="en-US" sz="11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MANFAAT INOVASI  ·  25%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Dirasakan langsung oleh Pimpinan dan jajarannya</a:t>
            </a:r>
            <a:endParaRPr lang="en-US" sz="2800" dirty="0"/>
          </a:p>
        </p:txBody>
      </p:sp>
      <p:pic>
        <p:nvPicPr>
          <p:cNvPr id="4" name="Image 0" descr="/home/user/joyful-visuals/docs/lomba/build/paparan/aset/hp_walikota.jpg">    </p:cNvPr>
          <p:cNvPicPr>
            <a:picLocks noChangeAspect="1"/>
          </p:cNvPicPr>
          <p:nvPr/>
        </p:nvPicPr>
        <p:blipFill>
          <a:blip r:embed="rId1"/>
          <a:stretch>
            <a:fillRect/>
          </a:stretch>
        </p:blipFill>
        <p:spPr>
          <a:xfrm>
            <a:off x="548640" y="1600200"/>
            <a:ext cx="2148840" cy="4645152"/>
          </a:xfrm>
          <a:prstGeom prst="rect">
            <a:avLst/>
          </a:prstGeom>
          <a:effectLst>
            <a:outerShdw sx="100000" sy="100000" kx="0" ky="0" algn="bl" rotWithShape="0" blurRad="101600" dist="25400" dir="5400000">
              <a:srgbClr val="0A1628">
                <a:alpha val="12000"/>
              </a:srgbClr>
            </a:outerShdw>
          </a:effectLst>
        </p:spPr>
      </p:pic>
      <p:sp>
        <p:nvSpPr>
          <p:cNvPr id="5" name="kutipanwk"/>
          <p:cNvSpPr/>
          <p:nvPr/>
        </p:nvSpPr>
        <p:spPr>
          <a:xfrm>
            <a:off x="3063240" y="1600200"/>
            <a:ext cx="4846320" cy="2514600"/>
          </a:xfrm>
          <a:prstGeom prst="roundRect">
            <a:avLst>
              <a:gd name="adj" fmla="val 4364"/>
            </a:avLst>
          </a:prstGeom>
          <a:solidFill>
            <a:schemeClr val="tx2"/>
          </a:solidFill>
          <a:ln w="9525">
            <a:solidFill>
              <a:schemeClr val="tx2"/>
            </a:solidFill>
            <a:prstDash val="solid"/>
          </a:ln>
        </p:spPr>
      </p:sp>
      <p:sp>
        <p:nvSpPr>
          <p:cNvPr id="6" name="Text 3"/>
          <p:cNvSpPr txBox="1"/>
          <p:nvPr/>
        </p:nvSpPr>
        <p:spPr>
          <a:xfrm>
            <a:off x="3337560" y="1810512"/>
            <a:ext cx="4297680" cy="1463040"/>
          </a:xfrm>
          <a:prstGeom prst="rect">
            <a:avLst/>
          </a:prstGeom>
          <a:noFill/>
          <a:ln/>
        </p:spPr>
        <p:txBody>
          <a:bodyPr wrap="square" lIns="0" tIns="0" rIns="0" bIns="0" rtlCol="0" anchor="t"/>
          <a:lstStyle/>
          <a:p>
            <a:pPr indent="0" marL="0">
              <a:buNone/>
            </a:pPr>
            <a:r>
              <a:rPr lang="en-US" sz="1800" i="1" dirty="0">
                <a:solidFill>
                  <a:schemeClr val="bg1"/>
                </a:solidFill>
              </a:rPr>
              <a:t>“Yang terpenting bagi saya adalah kepastian: ke mana saya harus hadir, kapan, dan siapa yang menyiapkannya.”</a:t>
            </a:r>
            <a:endParaRPr lang="en-US" sz="1800" dirty="0"/>
          </a:p>
        </p:txBody>
      </p:sp>
      <p:sp>
        <p:nvSpPr>
          <p:cNvPr id="7" name="Text 4"/>
          <p:cNvSpPr txBox="1"/>
          <p:nvPr/>
        </p:nvSpPr>
        <p:spPr>
          <a:xfrm>
            <a:off x="3337560" y="3520440"/>
            <a:ext cx="4297680" cy="365760"/>
          </a:xfrm>
          <a:prstGeom prst="rect">
            <a:avLst/>
          </a:prstGeom>
          <a:noFill/>
          <a:ln/>
        </p:spPr>
        <p:txBody>
          <a:bodyPr wrap="square" lIns="0" tIns="0" rIns="0" bIns="0" rtlCol="0" anchor="t"/>
          <a:lstStyle/>
          <a:p>
            <a:pPr indent="0" marL="0">
              <a:buNone/>
            </a:pPr>
            <a:r>
              <a:rPr lang="en-US" sz="1400" b="1" dirty="0">
                <a:solidFill>
                  <a:schemeClr val="accent1"/>
                </a:solidFill>
              </a:rPr>
              <a:t>dr. H. Khairul, M.Kes. — Wali Kota Tarakan</a:t>
            </a:r>
            <a:endParaRPr lang="en-US" sz="1400" dirty="0"/>
          </a:p>
        </p:txBody>
      </p:sp>
      <p:sp>
        <p:nvSpPr>
          <p:cNvPr id="8" name="kutipanajudan"/>
          <p:cNvSpPr/>
          <p:nvPr/>
        </p:nvSpPr>
        <p:spPr>
          <a:xfrm>
            <a:off x="3063240" y="4315968"/>
            <a:ext cx="4846320" cy="1920240"/>
          </a:xfrm>
          <a:prstGeom prst="roundRect">
            <a:avLst>
              <a:gd name="adj" fmla="val 5714"/>
            </a:avLst>
          </a:prstGeom>
          <a:solidFill>
            <a:schemeClr val="bg2"/>
          </a:solidFill>
          <a:ln w="9525">
            <a:solidFill>
              <a:schemeClr val="bg2"/>
            </a:solidFill>
            <a:prstDash val="solid"/>
          </a:ln>
        </p:spPr>
      </p:sp>
      <p:sp>
        <p:nvSpPr>
          <p:cNvPr id="9" name="Text 6"/>
          <p:cNvSpPr txBox="1"/>
          <p:nvPr/>
        </p:nvSpPr>
        <p:spPr>
          <a:xfrm>
            <a:off x="3337560" y="4526280"/>
            <a:ext cx="4297680" cy="777240"/>
          </a:xfrm>
          <a:prstGeom prst="rect">
            <a:avLst/>
          </a:prstGeom>
          <a:noFill/>
          <a:ln/>
        </p:spPr>
        <p:txBody>
          <a:bodyPr wrap="square" lIns="0" tIns="0" rIns="0" bIns="0" rtlCol="0" anchor="t"/>
          <a:lstStyle/>
          <a:p>
            <a:pPr indent="0" marL="0">
              <a:buNone/>
            </a:pPr>
            <a:r>
              <a:rPr lang="en-US" sz="1600" i="1" dirty="0">
                <a:solidFill>
                  <a:schemeClr val="tx2"/>
                </a:solidFill>
              </a:rPr>
              <a:t>“Perubahan jadwal yang mendadak pun tidak lagi terlewat.”</a:t>
            </a:r>
            <a:endParaRPr lang="en-US" sz="1600" dirty="0"/>
          </a:p>
        </p:txBody>
      </p:sp>
      <p:sp>
        <p:nvSpPr>
          <p:cNvPr id="10" name="Text 7"/>
          <p:cNvSpPr txBox="1"/>
          <p:nvPr/>
        </p:nvSpPr>
        <p:spPr>
          <a:xfrm>
            <a:off x="3337560" y="5394960"/>
            <a:ext cx="4297680" cy="640080"/>
          </a:xfrm>
          <a:prstGeom prst="rect">
            <a:avLst/>
          </a:prstGeom>
          <a:noFill/>
          <a:ln/>
        </p:spPr>
        <p:txBody>
          <a:bodyPr wrap="square" lIns="0" tIns="0" rIns="0" bIns="0" rtlCol="0" anchor="t"/>
          <a:lstStyle/>
          <a:p>
            <a:pPr indent="0" marL="0">
              <a:buNone/>
            </a:pPr>
            <a:r>
              <a:rPr lang="en-US" sz="1400" b="1" dirty="0">
                <a:solidFill>
                  <a:schemeClr val="accent5"/>
                </a:solidFill>
              </a:rPr>
              <a:t>Muhammad Rizky Dinata Putra, S.Tr.IP. — Ajudan Wakil Wali Kota</a:t>
            </a:r>
            <a:endParaRPr lang="en-US" sz="1400" dirty="0"/>
          </a:p>
        </p:txBody>
      </p:sp>
      <p:sp>
        <p:nvSpPr>
          <p:cNvPr id="11" name="Text 8"/>
          <p:cNvSpPr txBox="1"/>
          <p:nvPr/>
        </p:nvSpPr>
        <p:spPr>
          <a:xfrm>
            <a:off x="8183880" y="1600200"/>
            <a:ext cx="3459175" cy="502920"/>
          </a:xfrm>
          <a:prstGeom prst="rect">
            <a:avLst/>
          </a:prstGeom>
          <a:noFill/>
          <a:ln/>
        </p:spPr>
        <p:txBody>
          <a:bodyPr wrap="square" lIns="0" tIns="0" rIns="0" bIns="0" rtlCol="0" anchor="t"/>
          <a:lstStyle/>
          <a:p>
            <a:pPr indent="0" marL="0">
              <a:buNone/>
            </a:pPr>
            <a:r>
              <a:rPr lang="en-US" sz="3000" b="1" dirty="0">
                <a:solidFill>
                  <a:schemeClr val="tx2"/>
                </a:solidFill>
              </a:rPr>
              <a:t>62</a:t>
            </a:r>
            <a:endParaRPr lang="en-US" sz="3000" dirty="0"/>
          </a:p>
        </p:txBody>
      </p:sp>
      <p:sp>
        <p:nvSpPr>
          <p:cNvPr id="12" name="Text 9"/>
          <p:cNvSpPr txBox="1"/>
          <p:nvPr/>
        </p:nvSpPr>
        <p:spPr>
          <a:xfrm>
            <a:off x="8183880" y="2103120"/>
            <a:ext cx="3459175" cy="548640"/>
          </a:xfrm>
          <a:prstGeom prst="rect">
            <a:avLst/>
          </a:prstGeom>
          <a:noFill/>
          <a:ln/>
        </p:spPr>
        <p:txBody>
          <a:bodyPr wrap="square" lIns="0" tIns="0" rIns="0" bIns="0" rtlCol="0" anchor="t"/>
          <a:lstStyle/>
          <a:p>
            <a:pPr indent="0" marL="0">
              <a:buNone/>
            </a:pPr>
            <a:r>
              <a:rPr lang="en-US" sz="1400" dirty="0">
                <a:solidFill>
                  <a:schemeClr val="accent5"/>
                </a:solidFill>
              </a:rPr>
              <a:t>kegiatan didisposisikan Wali Kota kepada Wakil langsung dari aplikasi</a:t>
            </a:r>
            <a:endParaRPr lang="en-US" sz="1400" dirty="0"/>
          </a:p>
        </p:txBody>
      </p:sp>
      <p:sp>
        <p:nvSpPr>
          <p:cNvPr id="13" name="Text 10"/>
          <p:cNvSpPr txBox="1"/>
          <p:nvPr/>
        </p:nvSpPr>
        <p:spPr>
          <a:xfrm>
            <a:off x="8183880" y="2779776"/>
            <a:ext cx="3459175" cy="502920"/>
          </a:xfrm>
          <a:prstGeom prst="rect">
            <a:avLst/>
          </a:prstGeom>
          <a:noFill/>
          <a:ln/>
        </p:spPr>
        <p:txBody>
          <a:bodyPr wrap="square" lIns="0" tIns="0" rIns="0" bIns="0" rtlCol="0" anchor="t"/>
          <a:lstStyle/>
          <a:p>
            <a:pPr indent="0" marL="0">
              <a:buNone/>
            </a:pPr>
            <a:r>
              <a:rPr lang="en-US" sz="3000" b="1" dirty="0">
                <a:solidFill>
                  <a:schemeClr val="tx2"/>
                </a:solidFill>
              </a:rPr>
              <a:t>341</a:t>
            </a:r>
            <a:endParaRPr lang="en-US" sz="3000" dirty="0"/>
          </a:p>
        </p:txBody>
      </p:sp>
      <p:sp>
        <p:nvSpPr>
          <p:cNvPr id="14" name="Text 11"/>
          <p:cNvSpPr txBox="1"/>
          <p:nvPr/>
        </p:nvSpPr>
        <p:spPr>
          <a:xfrm>
            <a:off x="8183880" y="3282696"/>
            <a:ext cx="3459175" cy="548640"/>
          </a:xfrm>
          <a:prstGeom prst="rect">
            <a:avLst/>
          </a:prstGeom>
          <a:noFill/>
          <a:ln/>
        </p:spPr>
        <p:txBody>
          <a:bodyPr wrap="square" lIns="0" tIns="0" rIns="0" bIns="0" rtlCol="0" anchor="t"/>
          <a:lstStyle/>
          <a:p>
            <a:pPr indent="0" marL="0">
              <a:buNone/>
            </a:pPr>
            <a:r>
              <a:rPr lang="en-US" sz="1400" dirty="0">
                <a:solidFill>
                  <a:schemeClr val="accent5"/>
                </a:solidFill>
              </a:rPr>
              <a:t>konfirmasi kehadiran oleh ajudan</a:t>
            </a:r>
            <a:endParaRPr lang="en-US" sz="1400" dirty="0"/>
          </a:p>
        </p:txBody>
      </p:sp>
      <p:sp>
        <p:nvSpPr>
          <p:cNvPr id="15" name="Text 12"/>
          <p:cNvSpPr txBox="1"/>
          <p:nvPr/>
        </p:nvSpPr>
        <p:spPr>
          <a:xfrm>
            <a:off x="8183880" y="3959352"/>
            <a:ext cx="3459175" cy="502920"/>
          </a:xfrm>
          <a:prstGeom prst="rect">
            <a:avLst/>
          </a:prstGeom>
          <a:noFill/>
          <a:ln/>
        </p:spPr>
        <p:txBody>
          <a:bodyPr wrap="square" lIns="0" tIns="0" rIns="0" bIns="0" rtlCol="0" anchor="t"/>
          <a:lstStyle/>
          <a:p>
            <a:pPr indent="0" marL="0">
              <a:buNone/>
            </a:pPr>
            <a:r>
              <a:rPr lang="en-US" sz="3000" b="1" dirty="0">
                <a:solidFill>
                  <a:schemeClr val="tx2"/>
                </a:solidFill>
              </a:rPr>
              <a:t>67</a:t>
            </a:r>
            <a:endParaRPr lang="en-US" sz="3000" dirty="0"/>
          </a:p>
        </p:txBody>
      </p:sp>
      <p:sp>
        <p:nvSpPr>
          <p:cNvPr id="16" name="Text 13"/>
          <p:cNvSpPr txBox="1"/>
          <p:nvPr/>
        </p:nvSpPr>
        <p:spPr>
          <a:xfrm>
            <a:off x="8183880" y="4462272"/>
            <a:ext cx="3459175" cy="548640"/>
          </a:xfrm>
          <a:prstGeom prst="rect">
            <a:avLst/>
          </a:prstGeom>
          <a:noFill/>
          <a:ln/>
        </p:spPr>
        <p:txBody>
          <a:bodyPr wrap="square" lIns="0" tIns="0" rIns="0" bIns="0" rtlCol="0" anchor="t"/>
          <a:lstStyle/>
          <a:p>
            <a:pPr indent="0" marL="0">
              <a:buNone/>
            </a:pPr>
            <a:r>
              <a:rPr lang="en-US" sz="1400" dirty="0">
                <a:solidFill>
                  <a:schemeClr val="accent5"/>
                </a:solidFill>
              </a:rPr>
              <a:t>tindakan Pelaksana Harian tercatat atas nama pelakunya</a:t>
            </a:r>
            <a:endParaRPr lang="en-US" sz="1400" dirty="0"/>
          </a:p>
        </p:txBody>
      </p:sp>
      <p:sp>
        <p:nvSpPr>
          <p:cNvPr id="17" name="Text 14"/>
          <p:cNvSpPr txBox="1"/>
          <p:nvPr/>
        </p:nvSpPr>
        <p:spPr>
          <a:xfrm>
            <a:off x="8183880" y="5138928"/>
            <a:ext cx="3459175" cy="502920"/>
          </a:xfrm>
          <a:prstGeom prst="rect">
            <a:avLst/>
          </a:prstGeom>
          <a:noFill/>
          <a:ln/>
        </p:spPr>
        <p:txBody>
          <a:bodyPr wrap="square" lIns="0" tIns="0" rIns="0" bIns="0" rtlCol="0" anchor="t"/>
          <a:lstStyle/>
          <a:p>
            <a:pPr indent="0" marL="0">
              <a:buNone/>
            </a:pPr>
            <a:r>
              <a:rPr lang="en-US" sz="3000" b="1" dirty="0">
                <a:solidFill>
                  <a:schemeClr val="tx2"/>
                </a:solidFill>
              </a:rPr>
              <a:t>37</a:t>
            </a:r>
            <a:endParaRPr lang="en-US" sz="3000" dirty="0"/>
          </a:p>
        </p:txBody>
      </p:sp>
      <p:sp>
        <p:nvSpPr>
          <p:cNvPr id="18" name="Text 15"/>
          <p:cNvSpPr txBox="1"/>
          <p:nvPr/>
        </p:nvSpPr>
        <p:spPr>
          <a:xfrm>
            <a:off x="8183880" y="5641848"/>
            <a:ext cx="3459175" cy="548640"/>
          </a:xfrm>
          <a:prstGeom prst="rect">
            <a:avLst/>
          </a:prstGeom>
          <a:noFill/>
          <a:ln/>
        </p:spPr>
        <p:txBody>
          <a:bodyPr wrap="square" lIns="0" tIns="0" rIns="0" bIns="0" rtlCol="0" anchor="t"/>
          <a:lstStyle/>
          <a:p>
            <a:pPr indent="0" marL="0">
              <a:buNone/>
            </a:pPr>
            <a:r>
              <a:rPr lang="en-US" sz="1400" dirty="0">
                <a:solidFill>
                  <a:schemeClr val="accent5"/>
                </a:solidFill>
              </a:rPr>
              <a:t>perangkat dengan notifikasi aktif, milik 21 pengguna</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FITUR LAIN  ·  MANFAAT BAGI MASYARAKAT</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Kanal publik: warga dan instansi mengurus sendiri, tanpa akun</a:t>
            </a:r>
            <a:endParaRPr lang="en-US" sz="2800" dirty="0"/>
          </a:p>
        </p:txBody>
      </p:sp>
      <p:sp>
        <p:nvSpPr>
          <p:cNvPr id="4" name="Text 2"/>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400" dirty="0">
                <a:solidFill>
                  <a:schemeClr val="accent5"/>
                </a:solidFill>
              </a:rPr>
              <a:t>Terpisah dari alur agenda Pimpinan, kanal ini melayani masyarakat dan instansi lewat peramban.</a:t>
            </a:r>
            <a:endParaRPr lang="en-US" sz="1400" dirty="0"/>
          </a:p>
        </p:txBody>
      </p:sp>
      <p:sp>
        <p:nvSpPr>
          <p:cNvPr id="5" name="kanal1"/>
          <p:cNvSpPr/>
          <p:nvPr/>
        </p:nvSpPr>
        <p:spPr>
          <a:xfrm>
            <a:off x="548640" y="1920240"/>
            <a:ext cx="5410048" cy="2926080"/>
          </a:xfrm>
          <a:prstGeom prst="roundRect">
            <a:avLst>
              <a:gd name="adj" fmla="val 3750"/>
            </a:avLst>
          </a:prstGeom>
          <a:solidFill>
            <a:schemeClr val="bg2"/>
          </a:solidFill>
          <a:ln w="9525">
            <a:solidFill>
              <a:schemeClr val="bg2"/>
            </a:solidFill>
            <a:prstDash val="solid"/>
          </a:ln>
        </p:spPr>
      </p:sp>
      <p:sp>
        <p:nvSpPr>
          <p:cNvPr id="6" name="Text 4"/>
          <p:cNvSpPr txBox="1"/>
          <p:nvPr/>
        </p:nvSpPr>
        <p:spPr>
          <a:xfrm>
            <a:off x="868680" y="2103120"/>
            <a:ext cx="4769968" cy="365760"/>
          </a:xfrm>
          <a:prstGeom prst="rect">
            <a:avLst/>
          </a:prstGeom>
          <a:noFill/>
          <a:ln/>
        </p:spPr>
        <p:txBody>
          <a:bodyPr wrap="square" lIns="0" tIns="0" rIns="0" bIns="0" rtlCol="0" anchor="t"/>
          <a:lstStyle/>
          <a:p>
            <a:pPr indent="0" marL="0">
              <a:buNone/>
            </a:pPr>
            <a:r>
              <a:rPr lang="en-US" sz="1700" b="1" dirty="0">
                <a:solidFill>
                  <a:schemeClr val="tx2"/>
                </a:solidFill>
              </a:rPr>
              <a:t>Peminjaman ruang rapat</a:t>
            </a:r>
            <a:endParaRPr lang="en-US" sz="1700" dirty="0"/>
          </a:p>
        </p:txBody>
      </p:sp>
      <p:sp>
        <p:nvSpPr>
          <p:cNvPr id="7" name="Text 5"/>
          <p:cNvSpPr txBox="1"/>
          <p:nvPr/>
        </p:nvSpPr>
        <p:spPr>
          <a:xfrm>
            <a:off x="868680" y="2514600"/>
            <a:ext cx="1645920" cy="868680"/>
          </a:xfrm>
          <a:prstGeom prst="rect">
            <a:avLst/>
          </a:prstGeom>
          <a:noFill/>
          <a:ln/>
        </p:spPr>
        <p:txBody>
          <a:bodyPr wrap="square" lIns="0" tIns="0" rIns="0" bIns="0" rtlCol="0" anchor="t"/>
          <a:lstStyle/>
          <a:p>
            <a:pPr indent="0" marL="0">
              <a:buNone/>
            </a:pPr>
            <a:r>
              <a:rPr lang="en-US" sz="5400" b="1" dirty="0">
                <a:solidFill>
                  <a:schemeClr val="tx2"/>
                </a:solidFill>
              </a:rPr>
              <a:t>123</a:t>
            </a:r>
            <a:endParaRPr lang="en-US" sz="5400" dirty="0"/>
          </a:p>
        </p:txBody>
      </p:sp>
      <p:sp>
        <p:nvSpPr>
          <p:cNvPr id="8" name="Text 6"/>
          <p:cNvSpPr txBox="1"/>
          <p:nvPr/>
        </p:nvSpPr>
        <p:spPr>
          <a:xfrm>
            <a:off x="2468880" y="2697480"/>
            <a:ext cx="3215488" cy="640080"/>
          </a:xfrm>
          <a:prstGeom prst="rect">
            <a:avLst/>
          </a:prstGeom>
          <a:noFill/>
          <a:ln/>
        </p:spPr>
        <p:txBody>
          <a:bodyPr wrap="square" lIns="0" tIns="0" rIns="0" bIns="0" rtlCol="0" anchor="ctr"/>
          <a:lstStyle/>
          <a:p>
            <a:pPr indent="0" marL="0">
              <a:buNone/>
            </a:pPr>
            <a:r>
              <a:rPr lang="en-US" sz="1400" dirty="0">
                <a:solidFill>
                  <a:schemeClr val="accent5"/>
                </a:solidFill>
              </a:rPr>
              <a:t>pengajuan dari 66 instansi</a:t>
            </a:r>
            <a:endParaRPr lang="en-US" sz="1400" dirty="0"/>
          </a:p>
        </p:txBody>
      </p:sp>
      <p:sp>
        <p:nvSpPr>
          <p:cNvPr id="9" name="Text 7"/>
          <p:cNvSpPr txBox="1"/>
          <p:nvPr/>
        </p:nvSpPr>
        <p:spPr>
          <a:xfrm>
            <a:off x="868680" y="3520440"/>
            <a:ext cx="4769968" cy="123444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tx1"/>
                </a:solidFill>
              </a:rPr>
              <a:t>98 disetujui, total 3.023 peserta kegiatan</a:t>
            </a:r>
            <a:endParaRPr lang="en-US" sz="1400" dirty="0"/>
          </a:p>
          <a:p>
            <a:pPr marL="342900" indent="-342900">
              <a:spcAft>
                <a:spcPts val="500"/>
              </a:spcAft>
              <a:buSzPct val="100000"/>
              <a:buChar char="•"/>
            </a:pPr>
            <a:r>
              <a:rPr lang="en-US" sz="1400" dirty="0">
                <a:solidFill>
                  <a:schemeClr val="tx1"/>
                </a:solidFill>
              </a:rPr>
              <a:t>Kalender ketersediaan terbuka untuk umum</a:t>
            </a:r>
            <a:endParaRPr lang="en-US" sz="1400" dirty="0"/>
          </a:p>
          <a:p>
            <a:pPr marL="342900" indent="-342900">
              <a:spcAft>
                <a:spcPts val="500"/>
              </a:spcAft>
              <a:buSzPct val="100000"/>
              <a:buChar char="•"/>
            </a:pPr>
            <a:r>
              <a:rPr lang="en-US" sz="1400" dirty="0">
                <a:solidFill>
                  <a:schemeClr val="tx1"/>
                </a:solidFill>
              </a:rPr>
              <a:t>Hanya keterpakaian slot; tanpa identitas atau kontak pemohon</a:t>
            </a:r>
            <a:endParaRPr lang="en-US" sz="1400" dirty="0"/>
          </a:p>
        </p:txBody>
      </p:sp>
      <p:sp>
        <p:nvSpPr>
          <p:cNvPr id="10" name="kanal2"/>
          <p:cNvSpPr/>
          <p:nvPr/>
        </p:nvSpPr>
        <p:spPr>
          <a:xfrm>
            <a:off x="6233008" y="1920240"/>
            <a:ext cx="5410048" cy="2926080"/>
          </a:xfrm>
          <a:prstGeom prst="roundRect">
            <a:avLst>
              <a:gd name="adj" fmla="val 3750"/>
            </a:avLst>
          </a:prstGeom>
          <a:solidFill>
            <a:schemeClr val="tx2"/>
          </a:solidFill>
          <a:ln w="9525">
            <a:solidFill>
              <a:schemeClr val="tx2"/>
            </a:solidFill>
            <a:prstDash val="solid"/>
          </a:ln>
        </p:spPr>
      </p:sp>
      <p:sp>
        <p:nvSpPr>
          <p:cNvPr id="11" name="Text 9"/>
          <p:cNvSpPr txBox="1"/>
          <p:nvPr/>
        </p:nvSpPr>
        <p:spPr>
          <a:xfrm>
            <a:off x="6553048" y="2103120"/>
            <a:ext cx="4769968" cy="365760"/>
          </a:xfrm>
          <a:prstGeom prst="rect">
            <a:avLst/>
          </a:prstGeom>
          <a:noFill/>
          <a:ln/>
        </p:spPr>
        <p:txBody>
          <a:bodyPr wrap="square" lIns="0" tIns="0" rIns="0" bIns="0" rtlCol="0" anchor="t"/>
          <a:lstStyle/>
          <a:p>
            <a:pPr indent="0" marL="0">
              <a:buNone/>
            </a:pPr>
            <a:r>
              <a:rPr lang="en-US" sz="1700" b="1" dirty="0">
                <a:solidFill>
                  <a:schemeClr val="accent1"/>
                </a:solidFill>
              </a:rPr>
              <a:t>Permohonan audiensi</a:t>
            </a:r>
            <a:endParaRPr lang="en-US" sz="1700" dirty="0"/>
          </a:p>
        </p:txBody>
      </p:sp>
      <p:sp>
        <p:nvSpPr>
          <p:cNvPr id="12" name="Text 10"/>
          <p:cNvSpPr txBox="1"/>
          <p:nvPr/>
        </p:nvSpPr>
        <p:spPr>
          <a:xfrm>
            <a:off x="6553048" y="2514600"/>
            <a:ext cx="1645920" cy="868680"/>
          </a:xfrm>
          <a:prstGeom prst="rect">
            <a:avLst/>
          </a:prstGeom>
          <a:noFill/>
          <a:ln/>
        </p:spPr>
        <p:txBody>
          <a:bodyPr wrap="square" lIns="0" tIns="0" rIns="0" bIns="0" rtlCol="0" anchor="t"/>
          <a:lstStyle/>
          <a:p>
            <a:pPr indent="0" marL="0">
              <a:buNone/>
            </a:pPr>
            <a:r>
              <a:rPr lang="en-US" sz="5400" b="1" dirty="0">
                <a:solidFill>
                  <a:schemeClr val="bg1"/>
                </a:solidFill>
              </a:rPr>
              <a:t>55</a:t>
            </a:r>
            <a:endParaRPr lang="en-US" sz="5400" dirty="0"/>
          </a:p>
        </p:txBody>
      </p:sp>
      <p:sp>
        <p:nvSpPr>
          <p:cNvPr id="13" name="Text 11"/>
          <p:cNvSpPr txBox="1"/>
          <p:nvPr/>
        </p:nvSpPr>
        <p:spPr>
          <a:xfrm>
            <a:off x="8153248" y="2697480"/>
            <a:ext cx="3215488" cy="640080"/>
          </a:xfrm>
          <a:prstGeom prst="rect">
            <a:avLst/>
          </a:prstGeom>
          <a:noFill/>
          <a:ln/>
        </p:spPr>
        <p:txBody>
          <a:bodyPr wrap="square" lIns="0" tIns="0" rIns="0" bIns="0" rtlCol="0" anchor="ctr"/>
          <a:lstStyle/>
          <a:p>
            <a:pPr indent="0" marL="0">
              <a:buNone/>
            </a:pPr>
            <a:r>
              <a:rPr lang="en-US" sz="1400" dirty="0">
                <a:solidFill>
                  <a:schemeClr val="accent6"/>
                </a:solidFill>
              </a:rPr>
              <a:t>permohonan dari 53 instansi</a:t>
            </a:r>
            <a:endParaRPr lang="en-US" sz="1400" dirty="0"/>
          </a:p>
        </p:txBody>
      </p:sp>
      <p:sp>
        <p:nvSpPr>
          <p:cNvPr id="14" name="Text 12"/>
          <p:cNvSpPr txBox="1"/>
          <p:nvPr/>
        </p:nvSpPr>
        <p:spPr>
          <a:xfrm>
            <a:off x="6553048" y="3520440"/>
            <a:ext cx="4769968" cy="123444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chemeClr val="bg1"/>
                </a:solidFill>
              </a:rPr>
              <a:t>48 telah selesai diproses</a:t>
            </a:r>
            <a:endParaRPr lang="en-US" sz="1400" dirty="0"/>
          </a:p>
          <a:p>
            <a:pPr marL="342900" indent="-342900">
              <a:spcAft>
                <a:spcPts val="500"/>
              </a:spcAft>
              <a:buSzPct val="100000"/>
              <a:buChar char="•"/>
            </a:pPr>
            <a:r>
              <a:rPr lang="en-US" sz="1400" dirty="0">
                <a:solidFill>
                  <a:schemeClr val="bg1"/>
                </a:solidFill>
              </a:rPr>
              <a:t>31 di antaranya menjadi agenda Pimpinan</a:t>
            </a:r>
            <a:endParaRPr lang="en-US" sz="1400" dirty="0"/>
          </a:p>
          <a:p>
            <a:pPr marL="342900" indent="-342900">
              <a:spcAft>
                <a:spcPts val="500"/>
              </a:spcAft>
              <a:buSzPct val="100000"/>
              <a:buChar char="•"/>
            </a:pPr>
            <a:r>
              <a:rPr lang="en-US" sz="1400" dirty="0">
                <a:solidFill>
                  <a:schemeClr val="bg1"/>
                </a:solidFill>
              </a:rPr>
              <a:t>Pemberitahuan berjenjang; Pimpinan tidak diganggu per permohonan</a:t>
            </a:r>
            <a:endParaRPr lang="en-US" sz="1400" dirty="0"/>
          </a:p>
        </p:txBody>
      </p:sp>
      <p:sp>
        <p:nvSpPr>
          <p:cNvPr id="15" name="kode"/>
          <p:cNvSpPr/>
          <p:nvPr/>
        </p:nvSpPr>
        <p:spPr>
          <a:xfrm>
            <a:off x="548640" y="5074920"/>
            <a:ext cx="11094415" cy="960120"/>
          </a:xfrm>
          <a:prstGeom prst="roundRect">
            <a:avLst>
              <a:gd name="adj" fmla="val 11429"/>
            </a:avLst>
          </a:prstGeom>
          <a:solidFill>
            <a:srgbClr val="FFFFFF"/>
          </a:solidFill>
          <a:ln w="9525">
            <a:solidFill>
              <a:schemeClr val="accent6"/>
            </a:solidFill>
            <a:prstDash val="solid"/>
          </a:ln>
        </p:spPr>
      </p:sp>
      <p:sp>
        <p:nvSpPr>
          <p:cNvPr id="16" name="Shape 14"/>
          <p:cNvSpPr/>
          <p:nvPr/>
        </p:nvSpPr>
        <p:spPr>
          <a:xfrm>
            <a:off x="822960" y="5321808"/>
            <a:ext cx="457200" cy="457200"/>
          </a:xfrm>
          <a:prstGeom prst="ellipse">
            <a:avLst/>
          </a:prstGeom>
          <a:solidFill>
            <a:schemeClr val="accent1"/>
          </a:solidFill>
          <a:ln w="12700">
            <a:solidFill>
              <a:schemeClr val="accent1"/>
            </a:solidFill>
            <a:prstDash val="solid"/>
          </a:ln>
        </p:spPr>
      </p:sp>
      <p:sp>
        <p:nvSpPr>
          <p:cNvPr id="17" name="Text 15"/>
          <p:cNvSpPr txBox="1"/>
          <p:nvPr/>
        </p:nvSpPr>
        <p:spPr>
          <a:xfrm>
            <a:off x="822960" y="5321808"/>
            <a:ext cx="457200" cy="457200"/>
          </a:xfrm>
          <a:prstGeom prst="rect">
            <a:avLst/>
          </a:prstGeom>
          <a:noFill/>
          <a:ln/>
        </p:spPr>
        <p:txBody>
          <a:bodyPr wrap="square" lIns="0" tIns="0" rIns="0" bIns="0" rtlCol="0" anchor="ctr"/>
          <a:lstStyle/>
          <a:p>
            <a:pPr algn="ctr" indent="0" marL="0">
              <a:buNone/>
            </a:pPr>
            <a:r>
              <a:rPr lang="en-US" sz="1400" b="1" dirty="0">
                <a:solidFill>
                  <a:schemeClr val="tx2"/>
                </a:solidFill>
              </a:rPr>
              <a:t>#</a:t>
            </a:r>
            <a:endParaRPr lang="en-US" sz="1400" dirty="0"/>
          </a:p>
        </p:txBody>
      </p:sp>
      <p:sp>
        <p:nvSpPr>
          <p:cNvPr id="18" name="Text 16"/>
          <p:cNvSpPr txBox="1"/>
          <p:nvPr/>
        </p:nvSpPr>
        <p:spPr>
          <a:xfrm>
            <a:off x="1463040" y="5074920"/>
            <a:ext cx="9905695" cy="960120"/>
          </a:xfrm>
          <a:prstGeom prst="rect">
            <a:avLst/>
          </a:prstGeom>
          <a:noFill/>
          <a:ln/>
        </p:spPr>
        <p:txBody>
          <a:bodyPr wrap="square" lIns="0" tIns="0" rIns="0" bIns="0" rtlCol="0" anchor="ctr"/>
          <a:lstStyle/>
          <a:p>
            <a:pPr indent="0" marL="0">
              <a:buNone/>
            </a:pPr>
            <a:r>
              <a:rPr lang="en-US" sz="1400" b="1" dirty="0">
                <a:solidFill>
                  <a:schemeClr val="tx2"/>
                </a:solidFill>
              </a:rPr>
              <a:t>Kode penelusuran  </a:t>
            </a:r>
            <a:pPr indent="0" marL="0">
              <a:buNone/>
            </a:pPr>
            <a:r>
              <a:rPr lang="en-US" sz="1400" dirty="0">
                <a:solidFill>
                  <a:schemeClr val="tx1"/>
                </a:solidFill>
              </a:rPr>
              <a:t>Pemohon memantau statusnya sendiri dengan kode, tanpa datang atau menelepon berulang. Layanan ini selaras dengan UU 25/2009 tentang Pelayanan Publik.</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PEMANFAATAN SUMBER DAYA  ·  15%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Dibangun tim sendiri, tanpa belanja pengadaan</a:t>
            </a:r>
            <a:endParaRPr lang="en-US" sz="28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492240" cy="914400"/>
        </p:xfrm>
        <a:graphic>
          <a:graphicData uri="http://schemas.openxmlformats.org/drawingml/2006/table">
            <a:tbl>
              <a:tblPr/>
              <a:tblGrid>
                <a:gridCol w="1783080"/>
                <a:gridCol w="3520440"/>
                <a:gridCol w="1188720"/>
              </a:tblGrid>
              <a:tr h="530352">
                <a:tc>
                  <a:txBody>
                    <a:bodyPr/>
                    <a:lstStyle/>
                    <a:p>
                      <a:pPr indent="0" marL="0">
                        <a:buNone/>
                      </a:pPr>
                      <a:r>
                        <a:rPr lang="en-US" sz="1400" b="1" dirty="0">
                          <a:solidFill>
                            <a:schemeClr val="bg1"/>
                          </a:solidFill>
                          <a:latin typeface="Arial" pitchFamily="34" charset="0"/>
                          <a:ea typeface="Arial" pitchFamily="34" charset="-122"/>
                          <a:cs typeface="Arial" pitchFamily="34" charset="-120"/>
                        </a:rPr>
                        <a:t>Komponen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c>
                  <a:txBody>
                    <a:bodyPr/>
                    <a:lstStyle/>
                    <a:p>
                      <a:pPr indent="0" marL="0">
                        <a:buNone/>
                      </a:pPr>
                      <a:r>
                        <a:rPr lang="en-US" sz="1400" b="1" dirty="0">
                          <a:solidFill>
                            <a:schemeClr val="bg1"/>
                          </a:solidFill>
                          <a:latin typeface="Arial" pitchFamily="34" charset="0"/>
                          <a:ea typeface="Arial" pitchFamily="34" charset="-122"/>
                          <a:cs typeface="Arial" pitchFamily="34" charset="-120"/>
                        </a:rPr>
                        <a:t>Pemanfaatan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c>
                  <a:txBody>
                    <a:bodyPr/>
                    <a:lstStyle/>
                    <a:p>
                      <a:pPr algn="r" indent="0" marL="0">
                        <a:buNone/>
                      </a:pPr>
                      <a:r>
                        <a:rPr lang="en-US" sz="1400" b="1" dirty="0">
                          <a:solidFill>
                            <a:schemeClr val="bg1"/>
                          </a:solidFill>
                          <a:latin typeface="Arial" pitchFamily="34" charset="0"/>
                          <a:ea typeface="Arial" pitchFamily="34" charset="-122"/>
                          <a:cs typeface="Arial" pitchFamily="34" charset="-120"/>
                        </a:rPr>
                        <a:t>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A162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Pengembangan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Swakelola oleh Ketua Tim</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Peladen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12 fungsi tanpa server, kuota tanpa 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Basis data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Layanan terkelola, paket tanpa biaya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Kalender bersama</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Akun layanan atas nama instansi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Perangkat</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Telepon pintar pengguna, tanpa toko aplikasi</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c>
                  <a:txBody>
                    <a:bodyPr/>
                    <a:lstStyle/>
                    <a:p>
                      <a:pPr algn="r" indent="0" marL="0">
                        <a:buNone/>
                      </a:pPr>
                      <a:r>
                        <a:rPr lang="en-US" sz="1400" b="1" dirty="0">
                          <a:solidFill>
                            <a:schemeClr val="accent3"/>
                          </a:solidFill>
                          <a:latin typeface="Arial" pitchFamily="34" charset="0"/>
                          <a:ea typeface="Arial" pitchFamily="34" charset="-122"/>
                          <a:cs typeface="Arial" pitchFamily="34" charset="-120"/>
                        </a:rPr>
                        <a:t>Rp0</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EEF2F8"/>
                    </a:solidFill>
                  </a:tcPr>
                </a:tc>
              </a:tr>
              <a:tr h="530352">
                <a:tc>
                  <a:txBody>
                    <a:bodyPr/>
                    <a:lstStyle/>
                    <a:p>
                      <a:pPr indent="0" marL="0">
                        <a:buNone/>
                      </a:pPr>
                      <a:r>
                        <a:rPr lang="en-US" sz="1400" b="1" dirty="0">
                          <a:solidFill>
                            <a:schemeClr val="tx2"/>
                          </a:solidFill>
                          <a:latin typeface="Arial" pitchFamily="34" charset="0"/>
                          <a:ea typeface="Arial" pitchFamily="34" charset="-122"/>
                          <a:cs typeface="Arial" pitchFamily="34" charset="-120"/>
                        </a:rPr>
                        <a:t>Pesan WhatsApp</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400" dirty="0">
                          <a:solidFill>
                            <a:schemeClr val="tx1"/>
                          </a:solidFill>
                          <a:latin typeface="Arial" pitchFamily="34" charset="0"/>
                          <a:ea typeface="Arial" pitchFamily="34" charset="-122"/>
                          <a:cs typeface="Arial" pitchFamily="34" charset="-120"/>
                        </a:rPr>
                        <a:t>Gerbang pesan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chemeClr val="accent5"/>
                          </a:solidFill>
                          <a:latin typeface="Arial" pitchFamily="34" charset="0"/>
                          <a:ea typeface="Arial" pitchFamily="34" charset="-122"/>
                          <a:cs typeface="Arial" pitchFamily="34" charset="-120"/>
                        </a:rPr>
                        <a:t>Langganan</a:t>
                      </a:r>
                      <a:endParaRPr lang="en-US" sz="1400" dirty="0">
                        <a:latin typeface="Arial" charset="0"/>
                        <a:ea typeface="Arial" charset="0"/>
                        <a:cs typeface="Arial"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Text 2"/>
          <p:cNvSpPr txBox="1"/>
          <p:nvPr/>
        </p:nvSpPr>
        <p:spPr>
          <a:xfrm>
            <a:off x="548640" y="5486400"/>
            <a:ext cx="6492240" cy="640080"/>
          </a:xfrm>
          <a:prstGeom prst="rect">
            <a:avLst/>
          </a:prstGeom>
          <a:noFill/>
          <a:ln/>
        </p:spPr>
        <p:txBody>
          <a:bodyPr wrap="square" lIns="0" tIns="0" rIns="0" bIns="0" rtlCol="0" anchor="t"/>
          <a:lstStyle/>
          <a:p>
            <a:pPr indent="0" marL="0">
              <a:buNone/>
            </a:pPr>
            <a:r>
              <a:rPr lang="en-US" sz="1400" dirty="0">
                <a:solidFill>
                  <a:schemeClr val="accent5"/>
                </a:solidFill>
              </a:rPr>
              <a:t>Efisiensi: ketika lalu lintas data mencapai 6,4 GB/bulan (kuota 5 GB), pengambilan data diubah hanya untuk data yang berubah — turun ke ±1 GB.</a:t>
            </a:r>
            <a:endParaRPr lang="en-US" sz="1400" dirty="0"/>
          </a:p>
        </p:txBody>
      </p:sp>
      <p:sp>
        <p:nvSpPr>
          <p:cNvPr id="6" name="tim1"/>
          <p:cNvSpPr/>
          <p:nvPr/>
        </p:nvSpPr>
        <p:spPr>
          <a:xfrm>
            <a:off x="7406640" y="1645920"/>
            <a:ext cx="4236415" cy="868680"/>
          </a:xfrm>
          <a:prstGeom prst="roundRect">
            <a:avLst>
              <a:gd name="adj" fmla="val 12632"/>
            </a:avLst>
          </a:prstGeom>
          <a:solidFill>
            <a:schemeClr val="bg2"/>
          </a:solidFill>
          <a:ln w="9525">
            <a:solidFill>
              <a:schemeClr val="bg2"/>
            </a:solidFill>
            <a:prstDash val="solid"/>
          </a:ln>
        </p:spPr>
      </p:sp>
      <p:sp>
        <p:nvSpPr>
          <p:cNvPr id="7" name="Text 4"/>
          <p:cNvSpPr txBox="1"/>
          <p:nvPr/>
        </p:nvSpPr>
        <p:spPr>
          <a:xfrm>
            <a:off x="7635240" y="1645920"/>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5 orang</a:t>
            </a:r>
            <a:endParaRPr lang="en-US" sz="2000" dirty="0"/>
          </a:p>
        </p:txBody>
      </p:sp>
      <p:sp>
        <p:nvSpPr>
          <p:cNvPr id="8" name="Text 5"/>
          <p:cNvSpPr txBox="1"/>
          <p:nvPr/>
        </p:nvSpPr>
        <p:spPr>
          <a:xfrm>
            <a:off x="9098280" y="1645920"/>
            <a:ext cx="2361895" cy="868680"/>
          </a:xfrm>
          <a:prstGeom prst="rect">
            <a:avLst/>
          </a:prstGeom>
          <a:noFill/>
          <a:ln/>
        </p:spPr>
        <p:txBody>
          <a:bodyPr wrap="square" lIns="0" tIns="0" rIns="0" bIns="0" rtlCol="0" anchor="ctr"/>
          <a:lstStyle/>
          <a:p>
            <a:pPr indent="0" marL="0">
              <a:buNone/>
            </a:pPr>
            <a:r>
              <a:rPr lang="en-US" sz="1400" dirty="0">
                <a:solidFill>
                  <a:schemeClr val="tx1"/>
                </a:solidFill>
              </a:rPr>
              <a:t>Tim inovasi: perancang, penyelia, penguji</a:t>
            </a:r>
            <a:endParaRPr lang="en-US" sz="1400" dirty="0"/>
          </a:p>
        </p:txBody>
      </p:sp>
      <p:sp>
        <p:nvSpPr>
          <p:cNvPr id="9" name="tim2"/>
          <p:cNvSpPr/>
          <p:nvPr/>
        </p:nvSpPr>
        <p:spPr>
          <a:xfrm>
            <a:off x="7406640" y="2670048"/>
            <a:ext cx="4236415" cy="868680"/>
          </a:xfrm>
          <a:prstGeom prst="roundRect">
            <a:avLst>
              <a:gd name="adj" fmla="val 12632"/>
            </a:avLst>
          </a:prstGeom>
          <a:solidFill>
            <a:schemeClr val="bg2"/>
          </a:solidFill>
          <a:ln w="9525">
            <a:solidFill>
              <a:schemeClr val="bg2"/>
            </a:solidFill>
            <a:prstDash val="solid"/>
          </a:ln>
        </p:spPr>
      </p:sp>
      <p:sp>
        <p:nvSpPr>
          <p:cNvPr id="10" name="Text 7"/>
          <p:cNvSpPr txBox="1"/>
          <p:nvPr/>
        </p:nvSpPr>
        <p:spPr>
          <a:xfrm>
            <a:off x="7635240" y="2670048"/>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42 orang</a:t>
            </a:r>
            <a:endParaRPr lang="en-US" sz="2000" dirty="0"/>
          </a:p>
        </p:txBody>
      </p:sp>
      <p:sp>
        <p:nvSpPr>
          <p:cNvPr id="11" name="Text 8"/>
          <p:cNvSpPr txBox="1"/>
          <p:nvPr/>
        </p:nvSpPr>
        <p:spPr>
          <a:xfrm>
            <a:off x="9098280" y="2670048"/>
            <a:ext cx="2361895" cy="868680"/>
          </a:xfrm>
          <a:prstGeom prst="rect">
            <a:avLst/>
          </a:prstGeom>
          <a:noFill/>
          <a:ln/>
        </p:spPr>
        <p:txBody>
          <a:bodyPr wrap="square" lIns="0" tIns="0" rIns="0" bIns="0" rtlCol="0" anchor="ctr"/>
          <a:lstStyle/>
          <a:p>
            <a:pPr indent="0" marL="0">
              <a:buNone/>
            </a:pPr>
            <a:r>
              <a:rPr lang="en-US" sz="1400" dirty="0">
                <a:solidFill>
                  <a:schemeClr val="tx1"/>
                </a:solidFill>
              </a:rPr>
              <a:t>Tim Koordinasi lintas unit (Keputusan Sekda)</a:t>
            </a:r>
            <a:endParaRPr lang="en-US" sz="1400" dirty="0"/>
          </a:p>
        </p:txBody>
      </p:sp>
      <p:sp>
        <p:nvSpPr>
          <p:cNvPr id="12" name="tim3"/>
          <p:cNvSpPr/>
          <p:nvPr/>
        </p:nvSpPr>
        <p:spPr>
          <a:xfrm>
            <a:off x="7406640" y="3694176"/>
            <a:ext cx="4236415" cy="868680"/>
          </a:xfrm>
          <a:prstGeom prst="roundRect">
            <a:avLst>
              <a:gd name="adj" fmla="val 12632"/>
            </a:avLst>
          </a:prstGeom>
          <a:solidFill>
            <a:schemeClr val="bg2"/>
          </a:solidFill>
          <a:ln w="9525">
            <a:solidFill>
              <a:schemeClr val="bg2"/>
            </a:solidFill>
            <a:prstDash val="solid"/>
          </a:ln>
        </p:spPr>
      </p:sp>
      <p:sp>
        <p:nvSpPr>
          <p:cNvPr id="13" name="Text 10"/>
          <p:cNvSpPr txBox="1"/>
          <p:nvPr/>
        </p:nvSpPr>
        <p:spPr>
          <a:xfrm>
            <a:off x="7635240" y="3694176"/>
            <a:ext cx="1463040" cy="868680"/>
          </a:xfrm>
          <a:prstGeom prst="rect">
            <a:avLst/>
          </a:prstGeom>
          <a:noFill/>
          <a:ln/>
        </p:spPr>
        <p:txBody>
          <a:bodyPr wrap="square" lIns="0" tIns="0" rIns="0" bIns="0" rtlCol="0" anchor="ctr"/>
          <a:lstStyle/>
          <a:p>
            <a:pPr indent="0" marL="0">
              <a:buNone/>
            </a:pPr>
            <a:r>
              <a:rPr lang="en-US" sz="2000" b="1" dirty="0">
                <a:solidFill>
                  <a:schemeClr val="tx2"/>
                </a:solidFill>
              </a:rPr>
              <a:t>DKISP</a:t>
            </a:r>
            <a:endParaRPr lang="en-US" sz="2000" dirty="0"/>
          </a:p>
        </p:txBody>
      </p:sp>
      <p:sp>
        <p:nvSpPr>
          <p:cNvPr id="14" name="Text 11"/>
          <p:cNvSpPr txBox="1"/>
          <p:nvPr/>
        </p:nvSpPr>
        <p:spPr>
          <a:xfrm>
            <a:off x="9098280" y="3694176"/>
            <a:ext cx="2361895" cy="868680"/>
          </a:xfrm>
          <a:prstGeom prst="rect">
            <a:avLst/>
          </a:prstGeom>
          <a:noFill/>
          <a:ln/>
        </p:spPr>
        <p:txBody>
          <a:bodyPr wrap="square" lIns="0" tIns="0" rIns="0" bIns="0" rtlCol="0" anchor="ctr"/>
          <a:lstStyle/>
          <a:p>
            <a:pPr indent="0" marL="0">
              <a:buNone/>
            </a:pPr>
            <a:r>
              <a:rPr lang="en-US" sz="1400" dirty="0">
                <a:solidFill>
                  <a:schemeClr val="tx1"/>
                </a:solidFill>
              </a:rPr>
              <a:t>Memfasilitasi subdomain resmi prokopim.tarakankota.go.id</a:t>
            </a:r>
            <a:endParaRPr lang="en-US" sz="1400" dirty="0"/>
          </a:p>
        </p:txBody>
      </p:sp>
      <p:sp>
        <p:nvSpPr>
          <p:cNvPr id="15" name="keberlanjutan"/>
          <p:cNvSpPr/>
          <p:nvPr/>
        </p:nvSpPr>
        <p:spPr>
          <a:xfrm>
            <a:off x="7406640" y="4800600"/>
            <a:ext cx="4236415" cy="1325880"/>
          </a:xfrm>
          <a:prstGeom prst="roundRect">
            <a:avLst>
              <a:gd name="adj" fmla="val 8276"/>
            </a:avLst>
          </a:prstGeom>
          <a:solidFill>
            <a:schemeClr val="tx2"/>
          </a:solidFill>
          <a:ln w="9525">
            <a:solidFill>
              <a:schemeClr val="tx2"/>
            </a:solidFill>
            <a:prstDash val="solid"/>
          </a:ln>
        </p:spPr>
      </p:sp>
      <p:sp>
        <p:nvSpPr>
          <p:cNvPr id="16" name="Text 13"/>
          <p:cNvSpPr txBox="1"/>
          <p:nvPr/>
        </p:nvSpPr>
        <p:spPr>
          <a:xfrm>
            <a:off x="7635240" y="4937760"/>
            <a:ext cx="3779215" cy="274320"/>
          </a:xfrm>
          <a:prstGeom prst="rect">
            <a:avLst/>
          </a:prstGeom>
          <a:noFill/>
          <a:ln/>
        </p:spPr>
        <p:txBody>
          <a:bodyPr wrap="square" lIns="0" tIns="0" rIns="0" bIns="0" rtlCol="0" anchor="t"/>
          <a:lstStyle/>
          <a:p>
            <a:pPr indent="0" marL="0">
              <a:buNone/>
            </a:pPr>
            <a:r>
              <a:rPr lang="en-US" sz="1200" b="1" spc="100" kern="0" dirty="0">
                <a:solidFill>
                  <a:schemeClr val="accent1"/>
                </a:solidFill>
              </a:rPr>
              <a:t>KEBERLANJUTAN</a:t>
            </a:r>
            <a:endParaRPr lang="en-US" sz="1200" dirty="0"/>
          </a:p>
        </p:txBody>
      </p:sp>
      <p:sp>
        <p:nvSpPr>
          <p:cNvPr id="17" name="Text 14"/>
          <p:cNvSpPr txBox="1"/>
          <p:nvPr/>
        </p:nvSpPr>
        <p:spPr>
          <a:xfrm>
            <a:off x="7635240" y="5230368"/>
            <a:ext cx="3779215" cy="822960"/>
          </a:xfrm>
          <a:prstGeom prst="rect">
            <a:avLst/>
          </a:prstGeom>
          <a:noFill/>
          <a:ln/>
        </p:spPr>
        <p:txBody>
          <a:bodyPr wrap="square" lIns="0" tIns="0" rIns="0" bIns="0" rtlCol="0" anchor="t"/>
          <a:lstStyle/>
          <a:p>
            <a:pPr indent="0" marL="0">
              <a:buNone/>
            </a:pPr>
            <a:r>
              <a:rPr lang="en-US" sz="1400" dirty="0">
                <a:solidFill>
                  <a:schemeClr val="bg1"/>
                </a:solidFill>
              </a:rPr>
              <a:t>11 SOP  ·  Pelaksana Harian  ·  kode dan riwayat lengkap tersimpan  ·  alih pengetahuan ke pengelola kedua 2027</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DISEMINASI INOVASI  ·  10%</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Dipakai melampaui Bagian Prokopim, siap direplikasi</a:t>
            </a:r>
            <a:endParaRPr lang="en-US" sz="2800" dirty="0"/>
          </a:p>
        </p:txBody>
      </p:sp>
      <p:sp>
        <p:nvSpPr>
          <p:cNvPr id="4" name="jangkauan1"/>
          <p:cNvSpPr/>
          <p:nvPr/>
        </p:nvSpPr>
        <p:spPr>
          <a:xfrm>
            <a:off x="548640" y="1645920"/>
            <a:ext cx="2606040" cy="1691640"/>
          </a:xfrm>
          <a:prstGeom prst="roundRect">
            <a:avLst>
              <a:gd name="adj" fmla="val 6486"/>
            </a:avLst>
          </a:prstGeom>
          <a:solidFill>
            <a:schemeClr val="bg2"/>
          </a:solidFill>
          <a:ln w="9525">
            <a:solidFill>
              <a:schemeClr val="bg2"/>
            </a:solidFill>
            <a:prstDash val="solid"/>
          </a:ln>
        </p:spPr>
      </p:sp>
      <p:sp>
        <p:nvSpPr>
          <p:cNvPr id="5" name="Text 3"/>
          <p:cNvSpPr txBox="1"/>
          <p:nvPr/>
        </p:nvSpPr>
        <p:spPr>
          <a:xfrm>
            <a:off x="777240" y="1828800"/>
            <a:ext cx="2148840" cy="548640"/>
          </a:xfrm>
          <a:prstGeom prst="rect">
            <a:avLst/>
          </a:prstGeom>
          <a:noFill/>
          <a:ln/>
        </p:spPr>
        <p:txBody>
          <a:bodyPr wrap="square" lIns="0" tIns="0" rIns="0" bIns="0" rtlCol="0" anchor="t"/>
          <a:lstStyle/>
          <a:p>
            <a:pPr indent="0" marL="0">
              <a:buNone/>
            </a:pPr>
            <a:r>
              <a:rPr lang="en-US" sz="2800" b="1" dirty="0">
                <a:solidFill>
                  <a:schemeClr val="tx2"/>
                </a:solidFill>
              </a:rPr>
              <a:t>40 akun</a:t>
            </a:r>
            <a:endParaRPr lang="en-US" sz="2800" dirty="0"/>
          </a:p>
        </p:txBody>
      </p:sp>
      <p:sp>
        <p:nvSpPr>
          <p:cNvPr id="6" name="Text 4"/>
          <p:cNvSpPr txBox="1"/>
          <p:nvPr/>
        </p:nvSpPr>
        <p:spPr>
          <a:xfrm>
            <a:off x="777240" y="2423160"/>
            <a:ext cx="2148840" cy="822960"/>
          </a:xfrm>
          <a:prstGeom prst="rect">
            <a:avLst/>
          </a:prstGeom>
          <a:noFill/>
          <a:ln/>
        </p:spPr>
        <p:txBody>
          <a:bodyPr wrap="square" lIns="0" tIns="0" rIns="0" bIns="0" rtlCol="0" anchor="t"/>
          <a:lstStyle/>
          <a:p>
            <a:pPr indent="0" marL="0">
              <a:buNone/>
            </a:pPr>
            <a:r>
              <a:rPr lang="en-US" sz="1400" dirty="0">
                <a:solidFill>
                  <a:schemeClr val="accent5"/>
                </a:solidFill>
              </a:rPr>
              <a:t>14 jenis peran pengguna</a:t>
            </a:r>
            <a:endParaRPr lang="en-US" sz="1400" dirty="0"/>
          </a:p>
        </p:txBody>
      </p:sp>
      <p:sp>
        <p:nvSpPr>
          <p:cNvPr id="7" name="jangkauan2"/>
          <p:cNvSpPr/>
          <p:nvPr/>
        </p:nvSpPr>
        <p:spPr>
          <a:xfrm>
            <a:off x="3383280" y="1645920"/>
            <a:ext cx="2606040" cy="1691640"/>
          </a:xfrm>
          <a:prstGeom prst="roundRect">
            <a:avLst>
              <a:gd name="adj" fmla="val 6486"/>
            </a:avLst>
          </a:prstGeom>
          <a:solidFill>
            <a:schemeClr val="tx2"/>
          </a:solidFill>
          <a:ln w="9525">
            <a:solidFill>
              <a:schemeClr val="tx2"/>
            </a:solidFill>
            <a:prstDash val="solid"/>
          </a:ln>
        </p:spPr>
      </p:sp>
      <p:sp>
        <p:nvSpPr>
          <p:cNvPr id="8" name="Text 6"/>
          <p:cNvSpPr txBox="1"/>
          <p:nvPr/>
        </p:nvSpPr>
        <p:spPr>
          <a:xfrm>
            <a:off x="3611880" y="1828800"/>
            <a:ext cx="2148840" cy="548640"/>
          </a:xfrm>
          <a:prstGeom prst="rect">
            <a:avLst/>
          </a:prstGeom>
          <a:noFill/>
          <a:ln/>
        </p:spPr>
        <p:txBody>
          <a:bodyPr wrap="square" lIns="0" tIns="0" rIns="0" bIns="0" rtlCol="0" anchor="t"/>
          <a:lstStyle/>
          <a:p>
            <a:pPr indent="0" marL="0">
              <a:buNone/>
            </a:pPr>
            <a:r>
              <a:rPr lang="en-US" sz="2800" b="1" dirty="0">
                <a:solidFill>
                  <a:schemeClr val="accent1"/>
                </a:solidFill>
              </a:rPr>
              <a:t>21 akun</a:t>
            </a:r>
            <a:endParaRPr lang="en-US" sz="2800" dirty="0"/>
          </a:p>
        </p:txBody>
      </p:sp>
      <p:sp>
        <p:nvSpPr>
          <p:cNvPr id="9" name="Text 7"/>
          <p:cNvSpPr txBox="1"/>
          <p:nvPr/>
        </p:nvSpPr>
        <p:spPr>
          <a:xfrm>
            <a:off x="3611880" y="2423160"/>
            <a:ext cx="2148840" cy="822960"/>
          </a:xfrm>
          <a:prstGeom prst="rect">
            <a:avLst/>
          </a:prstGeom>
          <a:noFill/>
          <a:ln/>
        </p:spPr>
        <p:txBody>
          <a:bodyPr wrap="square" lIns="0" tIns="0" rIns="0" bIns="0" rtlCol="0" anchor="t"/>
          <a:lstStyle/>
          <a:p>
            <a:pPr indent="0" marL="0">
              <a:buNone/>
            </a:pPr>
            <a:r>
              <a:rPr lang="en-US" sz="1400" dirty="0">
                <a:solidFill>
                  <a:schemeClr val="bg1"/>
                </a:solidFill>
              </a:rPr>
              <a:t>di luar Bagian: Pimpinan, ajudan, pengawal, mitra DKISP</a:t>
            </a:r>
            <a:endParaRPr lang="en-US" sz="1400" dirty="0"/>
          </a:p>
        </p:txBody>
      </p:sp>
      <p:sp>
        <p:nvSpPr>
          <p:cNvPr id="10" name="jangkauan3"/>
          <p:cNvSpPr/>
          <p:nvPr/>
        </p:nvSpPr>
        <p:spPr>
          <a:xfrm>
            <a:off x="548640" y="3566160"/>
            <a:ext cx="2606040" cy="1691640"/>
          </a:xfrm>
          <a:prstGeom prst="roundRect">
            <a:avLst>
              <a:gd name="adj" fmla="val 6486"/>
            </a:avLst>
          </a:prstGeom>
          <a:solidFill>
            <a:schemeClr val="bg2"/>
          </a:solidFill>
          <a:ln w="9525">
            <a:solidFill>
              <a:schemeClr val="bg2"/>
            </a:solidFill>
            <a:prstDash val="solid"/>
          </a:ln>
        </p:spPr>
      </p:sp>
      <p:sp>
        <p:nvSpPr>
          <p:cNvPr id="11" name="Text 9"/>
          <p:cNvSpPr txBox="1"/>
          <p:nvPr/>
        </p:nvSpPr>
        <p:spPr>
          <a:xfrm>
            <a:off x="777240" y="3749040"/>
            <a:ext cx="2148840" cy="548640"/>
          </a:xfrm>
          <a:prstGeom prst="rect">
            <a:avLst/>
          </a:prstGeom>
          <a:noFill/>
          <a:ln/>
        </p:spPr>
        <p:txBody>
          <a:bodyPr wrap="square" lIns="0" tIns="0" rIns="0" bIns="0" rtlCol="0" anchor="t"/>
          <a:lstStyle/>
          <a:p>
            <a:pPr indent="0" marL="0">
              <a:buNone/>
            </a:pPr>
            <a:r>
              <a:rPr lang="en-US" sz="2800" b="1" dirty="0">
                <a:solidFill>
                  <a:schemeClr val="tx2"/>
                </a:solidFill>
              </a:rPr>
              <a:t>66 + 53</a:t>
            </a:r>
            <a:endParaRPr lang="en-US" sz="2800" dirty="0"/>
          </a:p>
        </p:txBody>
      </p:sp>
      <p:sp>
        <p:nvSpPr>
          <p:cNvPr id="12" name="Text 10"/>
          <p:cNvSpPr txBox="1"/>
          <p:nvPr/>
        </p:nvSpPr>
        <p:spPr>
          <a:xfrm>
            <a:off x="777240" y="4343400"/>
            <a:ext cx="2148840" cy="822960"/>
          </a:xfrm>
          <a:prstGeom prst="rect">
            <a:avLst/>
          </a:prstGeom>
          <a:noFill/>
          <a:ln/>
        </p:spPr>
        <p:txBody>
          <a:bodyPr wrap="square" lIns="0" tIns="0" rIns="0" bIns="0" rtlCol="0" anchor="t"/>
          <a:lstStyle/>
          <a:p>
            <a:pPr indent="0" marL="0">
              <a:buNone/>
            </a:pPr>
            <a:r>
              <a:rPr lang="en-US" sz="1400" dirty="0">
                <a:solidFill>
                  <a:schemeClr val="accent5"/>
                </a:solidFill>
              </a:rPr>
              <a:t>instansi memakai kanal publik ruangan dan audiensi</a:t>
            </a:r>
            <a:endParaRPr lang="en-US" sz="1400" dirty="0"/>
          </a:p>
        </p:txBody>
      </p:sp>
      <p:sp>
        <p:nvSpPr>
          <p:cNvPr id="13" name="jangkauan4"/>
          <p:cNvSpPr/>
          <p:nvPr/>
        </p:nvSpPr>
        <p:spPr>
          <a:xfrm>
            <a:off x="3383280" y="3566160"/>
            <a:ext cx="2606040" cy="1691640"/>
          </a:xfrm>
          <a:prstGeom prst="roundRect">
            <a:avLst>
              <a:gd name="adj" fmla="val 6486"/>
            </a:avLst>
          </a:prstGeom>
          <a:solidFill>
            <a:schemeClr val="bg2"/>
          </a:solidFill>
          <a:ln w="9525">
            <a:solidFill>
              <a:schemeClr val="bg2"/>
            </a:solidFill>
            <a:prstDash val="solid"/>
          </a:ln>
        </p:spPr>
      </p:sp>
      <p:sp>
        <p:nvSpPr>
          <p:cNvPr id="14" name="Text 12"/>
          <p:cNvSpPr txBox="1"/>
          <p:nvPr/>
        </p:nvSpPr>
        <p:spPr>
          <a:xfrm>
            <a:off x="3611880" y="3749040"/>
            <a:ext cx="2148840" cy="548640"/>
          </a:xfrm>
          <a:prstGeom prst="rect">
            <a:avLst/>
          </a:prstGeom>
          <a:noFill/>
          <a:ln/>
        </p:spPr>
        <p:txBody>
          <a:bodyPr wrap="square" lIns="0" tIns="0" rIns="0" bIns="0" rtlCol="0" anchor="t"/>
          <a:lstStyle/>
          <a:p>
            <a:pPr indent="0" marL="0">
              <a:buNone/>
            </a:pPr>
            <a:r>
              <a:rPr lang="en-US" sz="2800" b="1" dirty="0">
                <a:solidFill>
                  <a:schemeClr val="tx2"/>
                </a:solidFill>
              </a:rPr>
              <a:t>42 orang</a:t>
            </a:r>
            <a:endParaRPr lang="en-US" sz="2800" dirty="0"/>
          </a:p>
        </p:txBody>
      </p:sp>
      <p:sp>
        <p:nvSpPr>
          <p:cNvPr id="15" name="Text 13"/>
          <p:cNvSpPr txBox="1"/>
          <p:nvPr/>
        </p:nvSpPr>
        <p:spPr>
          <a:xfrm>
            <a:off x="3611880" y="4343400"/>
            <a:ext cx="2148840" cy="822960"/>
          </a:xfrm>
          <a:prstGeom prst="rect">
            <a:avLst/>
          </a:prstGeom>
          <a:noFill/>
          <a:ln/>
        </p:spPr>
        <p:txBody>
          <a:bodyPr wrap="square" lIns="0" tIns="0" rIns="0" bIns="0" rtlCol="0" anchor="t"/>
          <a:lstStyle/>
          <a:p>
            <a:pPr indent="0" marL="0">
              <a:buNone/>
            </a:pPr>
            <a:r>
              <a:rPr lang="en-US" sz="1400" dirty="0">
                <a:solidFill>
                  <a:schemeClr val="accent5"/>
                </a:solidFill>
              </a:rPr>
              <a:t>Tim Koordinasi lintas perangkat daerah</a:t>
            </a:r>
            <a:endParaRPr lang="en-US" sz="1400" dirty="0"/>
          </a:p>
        </p:txBody>
      </p:sp>
      <p:sp>
        <p:nvSpPr>
          <p:cNvPr id="16" name="Text 14"/>
          <p:cNvSpPr txBox="1"/>
          <p:nvPr/>
        </p:nvSpPr>
        <p:spPr>
          <a:xfrm>
            <a:off x="548640" y="5532120"/>
            <a:ext cx="5440680" cy="640080"/>
          </a:xfrm>
          <a:prstGeom prst="rect">
            <a:avLst/>
          </a:prstGeom>
          <a:noFill/>
          <a:ln/>
        </p:spPr>
        <p:txBody>
          <a:bodyPr wrap="square" lIns="0" tIns="0" rIns="0" bIns="0" rtlCol="0" anchor="t"/>
          <a:lstStyle/>
          <a:p>
            <a:pPr indent="0" marL="0">
              <a:buNone/>
            </a:pPr>
            <a:r>
              <a:rPr lang="en-US" sz="1400" b="1" dirty="0">
                <a:solidFill>
                  <a:schemeClr val="tx2"/>
                </a:solidFill>
              </a:rPr>
              <a:t>Siap direplikasi sesuai kebutuhan: </a:t>
            </a:r>
            <a:pPr indent="0" marL="0">
              <a:buNone/>
            </a:pPr>
            <a:r>
              <a:rPr lang="en-US" sz="1400" dirty="0">
                <a:solidFill>
                  <a:schemeClr val="tx2"/>
                </a:solidFill>
              </a:rPr>
              <a:t>cukup peramban, kuota tanpa biaya, dan 11 SOP yang dapat diadaptasi.</a:t>
            </a:r>
            <a:endParaRPr lang="en-US" sz="1400" dirty="0"/>
          </a:p>
        </p:txBody>
      </p:sp>
      <p:sp>
        <p:nvSpPr>
          <p:cNvPr id="17" name="Text 15"/>
          <p:cNvSpPr txBox="1"/>
          <p:nvPr/>
        </p:nvSpPr>
        <p:spPr>
          <a:xfrm>
            <a:off x="6446520" y="1645920"/>
            <a:ext cx="5196535" cy="365760"/>
          </a:xfrm>
          <a:prstGeom prst="rect">
            <a:avLst/>
          </a:prstGeom>
          <a:noFill/>
          <a:ln/>
        </p:spPr>
        <p:txBody>
          <a:bodyPr wrap="square" lIns="0" tIns="0" rIns="0" bIns="0" rtlCol="0" anchor="t"/>
          <a:lstStyle/>
          <a:p>
            <a:pPr indent="0" marL="0">
              <a:buNone/>
            </a:pPr>
            <a:r>
              <a:rPr lang="en-US" sz="1800" b="1" dirty="0">
                <a:solidFill>
                  <a:schemeClr val="tx2"/>
                </a:solidFill>
              </a:rPr>
              <a:t>Pelembagaan dan rencana</a:t>
            </a:r>
            <a:endParaRPr lang="en-US" sz="1800" dirty="0"/>
          </a:p>
        </p:txBody>
      </p:sp>
      <p:sp>
        <p:nvSpPr>
          <p:cNvPr id="18" name="Shape 16"/>
          <p:cNvSpPr/>
          <p:nvPr/>
        </p:nvSpPr>
        <p:spPr>
          <a:xfrm>
            <a:off x="6638544" y="2377440"/>
            <a:ext cx="0" cy="3291840"/>
          </a:xfrm>
          <a:prstGeom prst="line">
            <a:avLst/>
          </a:prstGeom>
          <a:noFill/>
          <a:ln w="25400">
            <a:solidFill>
              <a:schemeClr val="accent6"/>
            </a:solidFill>
            <a:prstDash val="solid"/>
          </a:ln>
        </p:spPr>
      </p:sp>
      <p:sp>
        <p:nvSpPr>
          <p:cNvPr id="19" name="Shape 17"/>
          <p:cNvSpPr/>
          <p:nvPr/>
        </p:nvSpPr>
        <p:spPr>
          <a:xfrm>
            <a:off x="6446520" y="2240280"/>
            <a:ext cx="384048" cy="384048"/>
          </a:xfrm>
          <a:prstGeom prst="ellipse">
            <a:avLst/>
          </a:prstGeom>
          <a:solidFill>
            <a:schemeClr val="accent1"/>
          </a:solidFill>
          <a:ln w="12700">
            <a:solidFill>
              <a:schemeClr val="accent1"/>
            </a:solidFill>
            <a:prstDash val="solid"/>
          </a:ln>
        </p:spPr>
      </p:sp>
      <p:sp>
        <p:nvSpPr>
          <p:cNvPr id="20" name="Text 18"/>
          <p:cNvSpPr txBox="1"/>
          <p:nvPr/>
        </p:nvSpPr>
        <p:spPr>
          <a:xfrm>
            <a:off x="6446520" y="2240280"/>
            <a:ext cx="384048" cy="384048"/>
          </a:xfrm>
          <a:prstGeom prst="rect">
            <a:avLst/>
          </a:prstGeom>
          <a:noFill/>
          <a:ln/>
        </p:spPr>
        <p:txBody>
          <a:bodyPr wrap="square" lIns="0" tIns="0" rIns="0" bIns="0" rtlCol="0" anchor="ctr"/>
          <a:lstStyle/>
          <a:p>
            <a:pPr algn="ctr" indent="0" marL="0">
              <a:buNone/>
            </a:pPr>
            <a:r>
              <a:rPr lang="en-US" sz="1400" b="1" dirty="0">
                <a:solidFill>
                  <a:schemeClr val="tx2"/>
                </a:solidFill>
              </a:rPr>
              <a:t>1</a:t>
            </a:r>
            <a:endParaRPr lang="en-US" sz="1400" dirty="0"/>
          </a:p>
        </p:txBody>
      </p:sp>
      <p:sp>
        <p:nvSpPr>
          <p:cNvPr id="21" name="Text 19"/>
          <p:cNvSpPr txBox="1"/>
          <p:nvPr/>
        </p:nvSpPr>
        <p:spPr>
          <a:xfrm>
            <a:off x="7040880" y="2221992"/>
            <a:ext cx="4602175" cy="365760"/>
          </a:xfrm>
          <a:prstGeom prst="rect">
            <a:avLst/>
          </a:prstGeom>
          <a:noFill/>
          <a:ln/>
        </p:spPr>
        <p:txBody>
          <a:bodyPr wrap="square" lIns="0" tIns="0" rIns="0" bIns="0" rtlCol="0" anchor="t"/>
          <a:lstStyle/>
          <a:p>
            <a:pPr indent="0" marL="0">
              <a:buNone/>
            </a:pPr>
            <a:r>
              <a:rPr lang="en-US" sz="1500" b="1" dirty="0">
                <a:solidFill>
                  <a:schemeClr val="tx2"/>
                </a:solidFill>
              </a:rPr>
              <a:t>Maret 2026</a:t>
            </a:r>
            <a:endParaRPr lang="en-US" sz="1500" dirty="0"/>
          </a:p>
        </p:txBody>
      </p:sp>
      <p:sp>
        <p:nvSpPr>
          <p:cNvPr id="22" name="Text 20"/>
          <p:cNvSpPr txBox="1"/>
          <p:nvPr/>
        </p:nvSpPr>
        <p:spPr>
          <a:xfrm>
            <a:off x="7040880" y="2587752"/>
            <a:ext cx="4602175" cy="777240"/>
          </a:xfrm>
          <a:prstGeom prst="rect">
            <a:avLst/>
          </a:prstGeom>
          <a:noFill/>
          <a:ln/>
        </p:spPr>
        <p:txBody>
          <a:bodyPr wrap="square" lIns="0" tIns="0" rIns="0" bIns="0" rtlCol="0" anchor="t"/>
          <a:lstStyle/>
          <a:p>
            <a:pPr indent="0" marL="0">
              <a:buNone/>
            </a:pPr>
            <a:r>
              <a:rPr lang="en-US" sz="1400" dirty="0">
                <a:solidFill>
                  <a:schemeClr val="tx1"/>
                </a:solidFill>
              </a:rPr>
              <a:t>Mulai digunakan; Surat Sekda 12 Maret 2026 memohon subdomain resmi prokopim.tarakankota.go.id</a:t>
            </a:r>
            <a:endParaRPr lang="en-US" sz="1400" dirty="0"/>
          </a:p>
        </p:txBody>
      </p:sp>
      <p:sp>
        <p:nvSpPr>
          <p:cNvPr id="23" name="Shape 21"/>
          <p:cNvSpPr/>
          <p:nvPr/>
        </p:nvSpPr>
        <p:spPr>
          <a:xfrm>
            <a:off x="6446520" y="3474720"/>
            <a:ext cx="384048" cy="384048"/>
          </a:xfrm>
          <a:prstGeom prst="ellipse">
            <a:avLst/>
          </a:prstGeom>
          <a:solidFill>
            <a:schemeClr val="tx2"/>
          </a:solidFill>
          <a:ln w="12700">
            <a:solidFill>
              <a:schemeClr val="tx2"/>
            </a:solidFill>
            <a:prstDash val="solid"/>
          </a:ln>
        </p:spPr>
      </p:sp>
      <p:sp>
        <p:nvSpPr>
          <p:cNvPr id="24" name="Text 22"/>
          <p:cNvSpPr txBox="1"/>
          <p:nvPr/>
        </p:nvSpPr>
        <p:spPr>
          <a:xfrm>
            <a:off x="6446520" y="347472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25" name="Text 23"/>
          <p:cNvSpPr txBox="1"/>
          <p:nvPr/>
        </p:nvSpPr>
        <p:spPr>
          <a:xfrm>
            <a:off x="7040880" y="3456432"/>
            <a:ext cx="4602175" cy="365760"/>
          </a:xfrm>
          <a:prstGeom prst="rect">
            <a:avLst/>
          </a:prstGeom>
          <a:noFill/>
          <a:ln/>
        </p:spPr>
        <p:txBody>
          <a:bodyPr wrap="square" lIns="0" tIns="0" rIns="0" bIns="0" rtlCol="0" anchor="t"/>
          <a:lstStyle/>
          <a:p>
            <a:pPr indent="0" marL="0">
              <a:buNone/>
            </a:pPr>
            <a:r>
              <a:rPr lang="en-US" sz="1500" b="1" dirty="0">
                <a:solidFill>
                  <a:schemeClr val="tx2"/>
                </a:solidFill>
              </a:rPr>
              <a:t>Okt–Des 2026</a:t>
            </a:r>
            <a:endParaRPr lang="en-US" sz="1500" dirty="0"/>
          </a:p>
        </p:txBody>
      </p:sp>
      <p:sp>
        <p:nvSpPr>
          <p:cNvPr id="26" name="Text 24"/>
          <p:cNvSpPr txBox="1"/>
          <p:nvPr/>
        </p:nvSpPr>
        <p:spPr>
          <a:xfrm>
            <a:off x="7040880" y="3822192"/>
            <a:ext cx="4602175" cy="777240"/>
          </a:xfrm>
          <a:prstGeom prst="rect">
            <a:avLst/>
          </a:prstGeom>
          <a:noFill/>
          <a:ln/>
        </p:spPr>
        <p:txBody>
          <a:bodyPr wrap="square" lIns="0" tIns="0" rIns="0" bIns="0" rtlCol="0" anchor="t"/>
          <a:lstStyle/>
          <a:p>
            <a:pPr indent="0" marL="0">
              <a:buNone/>
            </a:pPr>
            <a:r>
              <a:rPr lang="en-US" sz="1400" dirty="0">
                <a:solidFill>
                  <a:schemeClr val="tx1"/>
                </a:solidFill>
              </a:rPr>
              <a:t>Pengesahan 11 SOP oleh Sekretaris Daerah, disesuaikan dengan nomenklatur baru</a:t>
            </a:r>
            <a:endParaRPr lang="en-US" sz="1400" dirty="0"/>
          </a:p>
        </p:txBody>
      </p:sp>
      <p:sp>
        <p:nvSpPr>
          <p:cNvPr id="27" name="Shape 25"/>
          <p:cNvSpPr/>
          <p:nvPr/>
        </p:nvSpPr>
        <p:spPr>
          <a:xfrm>
            <a:off x="6446520" y="4709160"/>
            <a:ext cx="384048" cy="384048"/>
          </a:xfrm>
          <a:prstGeom prst="ellipse">
            <a:avLst/>
          </a:prstGeom>
          <a:solidFill>
            <a:schemeClr val="tx2"/>
          </a:solidFill>
          <a:ln w="12700">
            <a:solidFill>
              <a:schemeClr val="tx2"/>
            </a:solidFill>
            <a:prstDash val="solid"/>
          </a:ln>
        </p:spPr>
      </p:sp>
      <p:sp>
        <p:nvSpPr>
          <p:cNvPr id="28" name="Text 26"/>
          <p:cNvSpPr txBox="1"/>
          <p:nvPr/>
        </p:nvSpPr>
        <p:spPr>
          <a:xfrm>
            <a:off x="6446520" y="4709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9" name="Text 27"/>
          <p:cNvSpPr txBox="1"/>
          <p:nvPr/>
        </p:nvSpPr>
        <p:spPr>
          <a:xfrm>
            <a:off x="7040880" y="4690872"/>
            <a:ext cx="4602175" cy="365760"/>
          </a:xfrm>
          <a:prstGeom prst="rect">
            <a:avLst/>
          </a:prstGeom>
          <a:noFill/>
          <a:ln/>
        </p:spPr>
        <p:txBody>
          <a:bodyPr wrap="square" lIns="0" tIns="0" rIns="0" bIns="0" rtlCol="0" anchor="t"/>
          <a:lstStyle/>
          <a:p>
            <a:pPr indent="0" marL="0">
              <a:buNone/>
            </a:pPr>
            <a:r>
              <a:rPr lang="en-US" sz="1500" b="1" dirty="0">
                <a:solidFill>
                  <a:schemeClr val="tx2"/>
                </a:solidFill>
              </a:rPr>
              <a:t>Jan–Jun 2027</a:t>
            </a:r>
            <a:endParaRPr lang="en-US" sz="1500" dirty="0"/>
          </a:p>
        </p:txBody>
      </p:sp>
      <p:sp>
        <p:nvSpPr>
          <p:cNvPr id="30" name="Text 28"/>
          <p:cNvSpPr txBox="1"/>
          <p:nvPr/>
        </p:nvSpPr>
        <p:spPr>
          <a:xfrm>
            <a:off x="7040880" y="5056632"/>
            <a:ext cx="4602175" cy="777240"/>
          </a:xfrm>
          <a:prstGeom prst="rect">
            <a:avLst/>
          </a:prstGeom>
          <a:noFill/>
          <a:ln/>
        </p:spPr>
        <p:txBody>
          <a:bodyPr wrap="square" lIns="0" tIns="0" rIns="0" bIns="0" rtlCol="0" anchor="t"/>
          <a:lstStyle/>
          <a:p>
            <a:pPr indent="0" marL="0">
              <a:buNone/>
            </a:pPr>
            <a:r>
              <a:rPr lang="en-US" sz="1400" dirty="0">
                <a:solidFill>
                  <a:schemeClr val="tx1"/>
                </a:solidFill>
              </a:rPr>
              <a:t>Pendampingan pengelola kedua; dokumentasi teknis</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KOMPATIBILITAS  ·  5%</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Selaras regulasi, visi daerah, dan cara kerja Pimpinan</a:t>
            </a:r>
            <a:endParaRPr lang="en-US" sz="2800" dirty="0"/>
          </a:p>
        </p:txBody>
      </p:sp>
      <p:sp>
        <p:nvSpPr>
          <p:cNvPr id="4" name="kompat1"/>
          <p:cNvSpPr/>
          <p:nvPr/>
        </p:nvSpPr>
        <p:spPr>
          <a:xfrm>
            <a:off x="548640" y="1645920"/>
            <a:ext cx="3515258" cy="4023360"/>
          </a:xfrm>
          <a:prstGeom prst="roundRect">
            <a:avLst>
              <a:gd name="adj" fmla="val 3121"/>
            </a:avLst>
          </a:prstGeom>
          <a:solidFill>
            <a:schemeClr val="bg2"/>
          </a:solidFill>
          <a:ln w="9525">
            <a:solidFill>
              <a:schemeClr val="bg2"/>
            </a:solidFill>
            <a:prstDash val="solid"/>
          </a:ln>
        </p:spPr>
      </p:sp>
      <p:sp>
        <p:nvSpPr>
          <p:cNvPr id="5" name="Text 3"/>
          <p:cNvSpPr txBox="1"/>
          <p:nvPr/>
        </p:nvSpPr>
        <p:spPr>
          <a:xfrm>
            <a:off x="822960" y="1828800"/>
            <a:ext cx="2966618" cy="411480"/>
          </a:xfrm>
          <a:prstGeom prst="rect">
            <a:avLst/>
          </a:prstGeom>
          <a:noFill/>
          <a:ln/>
        </p:spPr>
        <p:txBody>
          <a:bodyPr wrap="square" lIns="0" tIns="0" rIns="0" bIns="0" rtlCol="0" anchor="t"/>
          <a:lstStyle/>
          <a:p>
            <a:pPr indent="0" marL="0">
              <a:buNone/>
            </a:pPr>
            <a:r>
              <a:rPr lang="en-US" sz="1800" b="1" dirty="0">
                <a:solidFill>
                  <a:schemeClr val="tx2"/>
                </a:solidFill>
              </a:rPr>
              <a:t>Regulasi</a:t>
            </a:r>
            <a:endParaRPr lang="en-US" sz="1800" dirty="0"/>
          </a:p>
        </p:txBody>
      </p:sp>
      <p:sp>
        <p:nvSpPr>
          <p:cNvPr id="6" name="Text 4"/>
          <p:cNvSpPr txBox="1"/>
          <p:nvPr/>
        </p:nvSpPr>
        <p:spPr>
          <a:xfrm>
            <a:off x="822960"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UU 25/2009 Pelayanan Publik</a:t>
            </a:r>
            <a:endParaRPr lang="en-US" sz="1400" dirty="0"/>
          </a:p>
          <a:p>
            <a:pPr marL="342900" indent="-342900">
              <a:spcAft>
                <a:spcPts val="900"/>
              </a:spcAft>
              <a:buSzPct val="100000"/>
              <a:buChar char="•"/>
            </a:pPr>
            <a:r>
              <a:rPr lang="en-US" sz="1400" dirty="0">
                <a:solidFill>
                  <a:schemeClr val="tx1"/>
                </a:solidFill>
              </a:rPr>
              <a:t>UU 9/2010 Keprotokolan</a:t>
            </a:r>
            <a:endParaRPr lang="en-US" sz="1400" dirty="0"/>
          </a:p>
          <a:p>
            <a:pPr marL="342900" indent="-342900">
              <a:spcAft>
                <a:spcPts val="900"/>
              </a:spcAft>
              <a:buSzPct val="100000"/>
              <a:buChar char="•"/>
            </a:pPr>
            <a:r>
              <a:rPr lang="en-US" sz="1400" dirty="0">
                <a:solidFill>
                  <a:schemeClr val="tx1"/>
                </a:solidFill>
              </a:rPr>
              <a:t>PP 38/2017 Inovasi Daerah</a:t>
            </a:r>
            <a:endParaRPr lang="en-US" sz="1400" dirty="0"/>
          </a:p>
          <a:p>
            <a:pPr marL="342900" indent="-342900">
              <a:spcAft>
                <a:spcPts val="900"/>
              </a:spcAft>
              <a:buSzPct val="100000"/>
              <a:buChar char="•"/>
            </a:pPr>
            <a:r>
              <a:rPr lang="en-US" sz="1400" dirty="0">
                <a:solidFill>
                  <a:schemeClr val="tx1"/>
                </a:solidFill>
              </a:rPr>
              <a:t>Perpres 95/2018 SPBE</a:t>
            </a:r>
            <a:endParaRPr lang="en-US" sz="1400" dirty="0"/>
          </a:p>
          <a:p>
            <a:pPr marL="342900" indent="-342900">
              <a:spcAft>
                <a:spcPts val="900"/>
              </a:spcAft>
              <a:buSzPct val="100000"/>
              <a:buChar char="•"/>
            </a:pPr>
            <a:r>
              <a:rPr lang="en-US" sz="1400" dirty="0">
                <a:solidFill>
                  <a:schemeClr val="tx1"/>
                </a:solidFill>
              </a:rPr>
              <a:t>PermenPAN-RB 35/2012 (dasar 11 SOP)</a:t>
            </a:r>
            <a:endParaRPr lang="en-US" sz="1400" dirty="0"/>
          </a:p>
        </p:txBody>
      </p:sp>
      <p:sp>
        <p:nvSpPr>
          <p:cNvPr id="7" name="kompat2"/>
          <p:cNvSpPr/>
          <p:nvPr/>
        </p:nvSpPr>
        <p:spPr>
          <a:xfrm>
            <a:off x="4338218" y="1645920"/>
            <a:ext cx="3515258" cy="4023360"/>
          </a:xfrm>
          <a:prstGeom prst="roundRect">
            <a:avLst>
              <a:gd name="adj" fmla="val 3121"/>
            </a:avLst>
          </a:prstGeom>
          <a:solidFill>
            <a:schemeClr val="tx2"/>
          </a:solidFill>
          <a:ln w="9525">
            <a:solidFill>
              <a:schemeClr val="tx2"/>
            </a:solidFill>
            <a:prstDash val="solid"/>
          </a:ln>
        </p:spPr>
      </p:sp>
      <p:sp>
        <p:nvSpPr>
          <p:cNvPr id="8" name="Text 6"/>
          <p:cNvSpPr txBox="1"/>
          <p:nvPr/>
        </p:nvSpPr>
        <p:spPr>
          <a:xfrm>
            <a:off x="4612538" y="1828800"/>
            <a:ext cx="2966618" cy="411480"/>
          </a:xfrm>
          <a:prstGeom prst="rect">
            <a:avLst/>
          </a:prstGeom>
          <a:noFill/>
          <a:ln/>
        </p:spPr>
        <p:txBody>
          <a:bodyPr wrap="square" lIns="0" tIns="0" rIns="0" bIns="0" rtlCol="0" anchor="t"/>
          <a:lstStyle/>
          <a:p>
            <a:pPr indent="0" marL="0">
              <a:buNone/>
            </a:pPr>
            <a:r>
              <a:rPr lang="en-US" sz="1800" b="1" dirty="0">
                <a:solidFill>
                  <a:schemeClr val="accent1"/>
                </a:solidFill>
              </a:rPr>
              <a:t>Visi dan misi daerah</a:t>
            </a:r>
            <a:endParaRPr lang="en-US" sz="1800" dirty="0"/>
          </a:p>
        </p:txBody>
      </p:sp>
      <p:sp>
        <p:nvSpPr>
          <p:cNvPr id="9" name="Text 7"/>
          <p:cNvSpPr txBox="1"/>
          <p:nvPr/>
        </p:nvSpPr>
        <p:spPr>
          <a:xfrm>
            <a:off x="4612538"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bg1"/>
                </a:solidFill>
              </a:rPr>
              <a:t>RPJMD Kaltara 2025–2029, Misi 3: transformasi tata kelola yang kolaboratif dan inovatif</a:t>
            </a:r>
            <a:endParaRPr lang="en-US" sz="1400" dirty="0"/>
          </a:p>
          <a:p>
            <a:pPr marL="342900" indent="-342900">
              <a:spcAft>
                <a:spcPts val="900"/>
              </a:spcAft>
              <a:buSzPct val="100000"/>
              <a:buChar char="•"/>
            </a:pPr>
            <a:r>
              <a:rPr lang="en-US" sz="1400" dirty="0">
                <a:solidFill>
                  <a:schemeClr val="bg1"/>
                </a:solidFill>
              </a:rPr>
              <a:t>RPJMD Kota Tarakan, Misi 4: tata kelola pemerintahan</a:t>
            </a:r>
            <a:endParaRPr lang="en-US" sz="1400" dirty="0"/>
          </a:p>
          <a:p>
            <a:pPr marL="342900" indent="-342900">
              <a:spcAft>
                <a:spcPts val="900"/>
              </a:spcAft>
              <a:buSzPct val="100000"/>
              <a:buChar char="•"/>
            </a:pPr>
            <a:r>
              <a:rPr lang="en-US" sz="1400" dirty="0">
                <a:solidFill>
                  <a:schemeClr val="bg1"/>
                </a:solidFill>
              </a:rPr>
              <a:t>Semboyan "Tarakan HIBOT" — hibot berarti hebat dalam bahasa Tidung</a:t>
            </a:r>
            <a:endParaRPr lang="en-US" sz="1400" dirty="0"/>
          </a:p>
        </p:txBody>
      </p:sp>
      <p:sp>
        <p:nvSpPr>
          <p:cNvPr id="10" name="kompat3"/>
          <p:cNvSpPr/>
          <p:nvPr/>
        </p:nvSpPr>
        <p:spPr>
          <a:xfrm>
            <a:off x="8127797" y="1645920"/>
            <a:ext cx="3515258" cy="4023360"/>
          </a:xfrm>
          <a:prstGeom prst="roundRect">
            <a:avLst>
              <a:gd name="adj" fmla="val 3121"/>
            </a:avLst>
          </a:prstGeom>
          <a:solidFill>
            <a:schemeClr val="bg2"/>
          </a:solidFill>
          <a:ln w="9525">
            <a:solidFill>
              <a:schemeClr val="bg2"/>
            </a:solidFill>
            <a:prstDash val="solid"/>
          </a:ln>
        </p:spPr>
      </p:sp>
      <p:sp>
        <p:nvSpPr>
          <p:cNvPr id="11" name="Text 9"/>
          <p:cNvSpPr txBox="1"/>
          <p:nvPr/>
        </p:nvSpPr>
        <p:spPr>
          <a:xfrm>
            <a:off x="8402117" y="1828800"/>
            <a:ext cx="2966618" cy="411480"/>
          </a:xfrm>
          <a:prstGeom prst="rect">
            <a:avLst/>
          </a:prstGeom>
          <a:noFill/>
          <a:ln/>
        </p:spPr>
        <p:txBody>
          <a:bodyPr wrap="square" lIns="0" tIns="0" rIns="0" bIns="0" rtlCol="0" anchor="t"/>
          <a:lstStyle/>
          <a:p>
            <a:pPr indent="0" marL="0">
              <a:buNone/>
            </a:pPr>
            <a:r>
              <a:rPr lang="en-US" sz="1800" b="1" dirty="0">
                <a:solidFill>
                  <a:schemeClr val="tx2"/>
                </a:solidFill>
              </a:rPr>
              <a:t>Kebutuhan pengguna</a:t>
            </a:r>
            <a:endParaRPr lang="en-US" sz="1800" dirty="0"/>
          </a:p>
        </p:txBody>
      </p:sp>
      <p:sp>
        <p:nvSpPr>
          <p:cNvPr id="12" name="Text 10"/>
          <p:cNvSpPr txBox="1"/>
          <p:nvPr/>
        </p:nvSpPr>
        <p:spPr>
          <a:xfrm>
            <a:off x="8402117" y="2377440"/>
            <a:ext cx="3012338" cy="365760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Naskah sambutan tetap tersedia tercetak, sesuai kebiasaan Pimpinan</a:t>
            </a:r>
            <a:endParaRPr lang="en-US" sz="1400" dirty="0"/>
          </a:p>
          <a:p>
            <a:pPr marL="342900" indent="-342900">
              <a:spcAft>
                <a:spcPts val="900"/>
              </a:spcAft>
              <a:buSzPct val="100000"/>
              <a:buChar char="•"/>
            </a:pPr>
            <a:r>
              <a:rPr lang="en-US" sz="1400" dirty="0">
                <a:solidFill>
                  <a:schemeClr val="tx1"/>
                </a:solidFill>
              </a:rPr>
              <a:t>Kewenangan melekat pada jabatan, bukan orang</a:t>
            </a:r>
            <a:endParaRPr lang="en-US" sz="1400" dirty="0"/>
          </a:p>
          <a:p>
            <a:pPr marL="342900" indent="-342900">
              <a:spcAft>
                <a:spcPts val="900"/>
              </a:spcAft>
              <a:buSzPct val="100000"/>
              <a:buChar char="•"/>
            </a:pPr>
            <a:r>
              <a:rPr lang="en-US" sz="1400" dirty="0">
                <a:solidFill>
                  <a:schemeClr val="tx1"/>
                </a:solidFill>
              </a:rPr>
              <a:t>WA hanya untuk yang perlu bertindak</a:t>
            </a:r>
            <a:endParaRPr lang="en-US" sz="1400" dirty="0"/>
          </a:p>
          <a:p>
            <a:pPr marL="342900" indent="-342900">
              <a:spcAft>
                <a:spcPts val="900"/>
              </a:spcAft>
              <a:buSzPct val="100000"/>
              <a:buChar char="•"/>
            </a:pPr>
            <a:r>
              <a:rPr lang="en-US" sz="1400" dirty="0">
                <a:solidFill>
                  <a:schemeClr val="tx1"/>
                </a:solidFill>
              </a:rPr>
              <a:t>Jam acara mengikuti zona tempat Pimpinan berada</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alas logo"/>
          <p:cNvSpPr/>
          <p:nvPr/>
        </p:nvSpPr>
        <p:spPr>
          <a:xfrm>
            <a:off x="548640" y="411480"/>
            <a:ext cx="1783080" cy="868680"/>
          </a:xfrm>
          <a:prstGeom prst="roundRect">
            <a:avLst>
              <a:gd name="adj" fmla="val 14737"/>
            </a:avLst>
          </a:prstGeom>
          <a:solidFill>
            <a:schemeClr val="bg1"/>
          </a:solidFill>
          <a:ln w="12700">
            <a:solidFill>
              <a:schemeClr val="bg1"/>
            </a:solidFill>
            <a:prstDash val="solid"/>
          </a:ln>
        </p:spPr>
      </p:sp>
      <p:pic>
        <p:nvPicPr>
          <p:cNvPr id="3" name="Image 0" descr="/home/user/joyful-visuals/docs/lomba/build/paparan/aset/kaltara.png">    </p:cNvPr>
          <p:cNvPicPr>
            <a:picLocks noChangeAspect="1"/>
          </p:cNvPicPr>
          <p:nvPr/>
        </p:nvPicPr>
        <p:blipFill>
          <a:blip r:embed="rId1"/>
          <a:stretch>
            <a:fillRect/>
          </a:stretch>
        </p:blipFill>
        <p:spPr>
          <a:xfrm>
            <a:off x="731520" y="484632"/>
            <a:ext cx="548640" cy="731520"/>
          </a:xfrm>
          <a:prstGeom prst="rect">
            <a:avLst/>
          </a:prstGeom>
        </p:spPr>
      </p:pic>
      <p:pic>
        <p:nvPicPr>
          <p:cNvPr id="4" name="Image 1" descr="/home/user/joyful-visuals/docs/lomba/build/paparan/aset/tarakan.png">    </p:cNvPr>
          <p:cNvPicPr>
            <a:picLocks noChangeAspect="1"/>
          </p:cNvPicPr>
          <p:nvPr/>
        </p:nvPicPr>
        <p:blipFill>
          <a:blip r:embed="rId2"/>
          <a:stretch>
            <a:fillRect/>
          </a:stretch>
        </p:blipFill>
        <p:spPr>
          <a:xfrm>
            <a:off x="1444752" y="484632"/>
            <a:ext cx="731520" cy="731520"/>
          </a:xfrm>
          <a:prstGeom prst="rect">
            <a:avLst/>
          </a:prstGeom>
        </p:spPr>
      </p:pic>
      <p:sp>
        <p:nvSpPr>
          <p:cNvPr id="5" name="Text 1"/>
          <p:cNvSpPr txBox="1"/>
          <p:nvPr/>
        </p:nvSpPr>
        <p:spPr>
          <a:xfrm>
            <a:off x="548640" y="1691640"/>
            <a:ext cx="7680960" cy="2651760"/>
          </a:xfrm>
          <a:prstGeom prst="rect">
            <a:avLst/>
          </a:prstGeom>
          <a:noFill/>
          <a:ln/>
        </p:spPr>
        <p:txBody>
          <a:bodyPr wrap="square" lIns="0" tIns="0" rIns="0" bIns="0" rtlCol="0" anchor="t"/>
          <a:lstStyle/>
          <a:p>
            <a:pPr indent="0" marL="0">
              <a:spcAft>
                <a:spcPts val="400"/>
              </a:spcAft>
              <a:buNone/>
            </a:pPr>
            <a:r>
              <a:rPr lang="en-US" sz="4200" b="1" dirty="0">
                <a:solidFill>
                  <a:schemeClr val="bg1"/>
                </a:solidFill>
              </a:rPr>
              <a:t>Satu alur.</a:t>
            </a:r>
            <a:endParaRPr lang="en-US" sz="4200" dirty="0"/>
          </a:p>
          <a:p>
            <a:pPr indent="0" marL="0">
              <a:spcAft>
                <a:spcPts val="400"/>
              </a:spcAft>
              <a:buNone/>
            </a:pPr>
            <a:r>
              <a:rPr lang="en-US" sz="4200" b="1" dirty="0">
                <a:solidFill>
                  <a:schemeClr val="bg1"/>
                </a:solidFill>
              </a:rPr>
              <a:t>Satu data.</a:t>
            </a:r>
            <a:endParaRPr lang="en-US" sz="4200" dirty="0"/>
          </a:p>
          <a:p>
            <a:pPr indent="0" marL="0">
              <a:spcAft>
                <a:spcPts val="400"/>
              </a:spcAft>
              <a:buNone/>
            </a:pPr>
            <a:r>
              <a:rPr lang="en-US" sz="4200" b="1" dirty="0">
                <a:solidFill>
                  <a:schemeClr val="bg1"/>
                </a:solidFill>
              </a:rPr>
              <a:t>Setiap keputusan tercatat.</a:t>
            </a:r>
            <a:endParaRPr lang="en-US" sz="4200" dirty="0"/>
          </a:p>
        </p:txBody>
      </p:sp>
      <p:sp>
        <p:nvSpPr>
          <p:cNvPr id="6" name="Text 2"/>
          <p:cNvSpPr txBox="1"/>
          <p:nvPr/>
        </p:nvSpPr>
        <p:spPr>
          <a:xfrm>
            <a:off x="548640" y="4572000"/>
            <a:ext cx="6949440" cy="548640"/>
          </a:xfrm>
          <a:prstGeom prst="rect">
            <a:avLst/>
          </a:prstGeom>
          <a:noFill/>
          <a:ln/>
        </p:spPr>
        <p:txBody>
          <a:bodyPr wrap="square" lIns="0" tIns="0" rIns="0" bIns="0" rtlCol="0" anchor="t"/>
          <a:lstStyle/>
          <a:p>
            <a:pPr indent="0" marL="0">
              <a:buNone/>
            </a:pPr>
            <a:r>
              <a:rPr lang="en-US" sz="2400" dirty="0">
                <a:solidFill>
                  <a:schemeClr val="accent1"/>
                </a:solidFill>
              </a:rPr>
              <a:t>Terima kasih</a:t>
            </a:r>
            <a:endParaRPr lang="en-US" sz="2400" dirty="0"/>
          </a:p>
        </p:txBody>
      </p:sp>
      <p:sp>
        <p:nvSpPr>
          <p:cNvPr id="7" name="Text 3"/>
          <p:cNvSpPr txBox="1"/>
          <p:nvPr/>
        </p:nvSpPr>
        <p:spPr>
          <a:xfrm>
            <a:off x="548640" y="5166360"/>
            <a:ext cx="7132320" cy="365760"/>
          </a:xfrm>
          <a:prstGeom prst="rect">
            <a:avLst/>
          </a:prstGeom>
          <a:noFill/>
          <a:ln/>
        </p:spPr>
        <p:txBody>
          <a:bodyPr wrap="square" lIns="0" tIns="0" rIns="0" bIns="0" rtlCol="0" anchor="t"/>
          <a:lstStyle/>
          <a:p>
            <a:pPr indent="0" marL="0">
              <a:buNone/>
            </a:pPr>
            <a:r>
              <a:rPr lang="en-US" sz="1400" dirty="0">
                <a:solidFill>
                  <a:schemeClr val="accent6"/>
                </a:solidFill>
              </a:rPr>
              <a:t>Tim Inovasi Prokopim Hibot  ·  Bagian Protokol dan Komunikasi Pimpinan, Setda Kota Tarakan</a:t>
            </a:r>
            <a:endParaRPr lang="en-US" sz="1400" dirty="0"/>
          </a:p>
        </p:txBody>
      </p:sp>
      <p:sp>
        <p:nvSpPr>
          <p:cNvPr id="8" name="qr"/>
          <p:cNvSpPr/>
          <p:nvPr/>
        </p:nvSpPr>
        <p:spPr>
          <a:xfrm>
            <a:off x="8503920" y="1463040"/>
            <a:ext cx="3136392" cy="3977640"/>
          </a:xfrm>
          <a:prstGeom prst="roundRect">
            <a:avLst>
              <a:gd name="adj" fmla="val 3499"/>
            </a:avLst>
          </a:prstGeom>
          <a:solidFill>
            <a:srgbClr val="FFFFFF"/>
          </a:solidFill>
          <a:ln w="9525">
            <a:solidFill>
              <a:srgbClr val="FFFFFF"/>
            </a:solidFill>
            <a:prstDash val="solid"/>
          </a:ln>
        </p:spPr>
      </p:sp>
      <p:pic>
        <p:nvPicPr>
          <p:cNvPr id="9" name="Image 2" descr="/home/user/joyful-visuals/docs/lomba/build/paparan/aset/qr.png">    </p:cNvPr>
          <p:cNvPicPr>
            <a:picLocks noChangeAspect="1"/>
          </p:cNvPicPr>
          <p:nvPr/>
        </p:nvPicPr>
        <p:blipFill>
          <a:blip r:embed="rId3"/>
          <a:stretch>
            <a:fillRect/>
          </a:stretch>
        </p:blipFill>
        <p:spPr>
          <a:xfrm>
            <a:off x="8796528" y="1737360"/>
            <a:ext cx="2560320" cy="2560320"/>
          </a:xfrm>
          <a:prstGeom prst="rect">
            <a:avLst/>
          </a:prstGeom>
        </p:spPr>
      </p:pic>
      <p:sp>
        <p:nvSpPr>
          <p:cNvPr id="10" name="Text 5"/>
          <p:cNvSpPr txBox="1"/>
          <p:nvPr/>
        </p:nvSpPr>
        <p:spPr>
          <a:xfrm>
            <a:off x="8641080" y="4480560"/>
            <a:ext cx="2862072" cy="365760"/>
          </a:xfrm>
          <a:prstGeom prst="rect">
            <a:avLst/>
          </a:prstGeom>
          <a:noFill/>
          <a:ln/>
        </p:spPr>
        <p:txBody>
          <a:bodyPr wrap="square" lIns="0" tIns="0" rIns="0" bIns="0" rtlCol="0" anchor="t"/>
          <a:lstStyle/>
          <a:p>
            <a:pPr algn="ctr" indent="0" marL="0">
              <a:buNone/>
            </a:pPr>
            <a:r>
              <a:rPr lang="en-US" sz="1400" b="1" dirty="0">
                <a:solidFill>
                  <a:schemeClr val="tx2"/>
                </a:solidFill>
              </a:rPr>
              <a:t>prokopim.tarakankota.go.id</a:t>
            </a:r>
            <a:endParaRPr lang="en-US" sz="1400" dirty="0"/>
          </a:p>
        </p:txBody>
      </p:sp>
      <p:sp>
        <p:nvSpPr>
          <p:cNvPr id="11" name="Text 6"/>
          <p:cNvSpPr txBox="1"/>
          <p:nvPr/>
        </p:nvSpPr>
        <p:spPr>
          <a:xfrm>
            <a:off x="8641080" y="4846320"/>
            <a:ext cx="2862072" cy="457200"/>
          </a:xfrm>
          <a:prstGeom prst="rect">
            <a:avLst/>
          </a:prstGeom>
          <a:noFill/>
          <a:ln/>
        </p:spPr>
        <p:txBody>
          <a:bodyPr wrap="square" lIns="0" tIns="0" rIns="0" bIns="0" rtlCol="0" anchor="t"/>
          <a:lstStyle/>
          <a:p>
            <a:pPr algn="ctr" indent="0" marL="0">
              <a:buNone/>
            </a:pPr>
            <a:r>
              <a:rPr lang="en-US" sz="1400" dirty="0">
                <a:solidFill>
                  <a:schemeClr val="accent5"/>
                </a:solidFill>
              </a:rPr>
              <a:t>Alamat resmi aplikasi</a:t>
            </a:r>
            <a:endParaRPr lang="en-US" sz="1400" dirty="0"/>
          </a:p>
        </p:txBody>
      </p:sp>
      <p:sp>
        <p:nvSpPr>
          <p:cNvPr id="13"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endParaRPr lang="en-US" sz="1200" dirty="0"/>
          </a:p>
        </p:txBody>
      </p:sp>
      <p:sp>
        <p:nvSpPr>
          <p:cNvPr id="14"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endParaRPr lang="en-US" sz="28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292608"/>
            <a:ext cx="8229600" cy="292608"/>
          </a:xfrm>
          <a:prstGeom prst="rect">
            <a:avLst/>
          </a:prstGeom>
          <a:noFill/>
          <a:ln/>
        </p:spPr>
        <p:txBody>
          <a:bodyPr wrap="square" lIns="0" tIns="0" rIns="0" bIns="0" rtlCol="0" anchor="ctr"/>
          <a:lstStyle/>
          <a:p>
            <a:pPr indent="0" marL="0">
              <a:buNone/>
            </a:pPr>
            <a:r>
              <a:rPr lang="en-US" sz="1200" b="1" spc="200" kern="0" dirty="0">
                <a:solidFill>
                  <a:schemeClr val="accent5"/>
                </a:solidFill>
              </a:rPr>
              <a:t>CADANGAN PENJELASAN  ·  JIKA DITANYA</a:t>
            </a:r>
            <a:endParaRPr lang="en-US" sz="1200" dirty="0"/>
          </a:p>
        </p:txBody>
      </p:sp>
      <p:sp>
        <p:nvSpPr>
          <p:cNvPr id="3" name="Text 0"/>
          <p:cNvSpPr/>
          <p:nvPr>
            <p:ph idx="101" type="title" hasCustomPrompt="1"/>
          </p:nvPr>
        </p:nvSpPr>
        <p:spPr>
          <a:xfrm>
            <a:off x="548640" y="603504"/>
            <a:ext cx="11094415" cy="777240"/>
          </a:xfrm>
          <a:prstGeom prst="rect">
            <a:avLst/>
          </a:prstGeom>
          <a:noFill/>
          <a:ln/>
        </p:spPr>
        <p:txBody>
          <a:bodyPr wrap="square" lIns="0" tIns="0" rIns="0" bIns="0" rtlCol="0" anchor="t"/>
          <a:lstStyle/>
          <a:p>
            <a:pPr algn="l" indent="0" marL="0">
              <a:buNone/>
            </a:pPr>
            <a:r>
              <a:rPr lang="en-US" sz="2800" b="1" dirty="0">
                <a:solidFill>
                  <a:schemeClr val="tx2"/>
                </a:solidFill>
              </a:rPr>
              <a:t>Sejak proposal, inovasi ini terus disempurnakan</a:t>
            </a:r>
            <a:endParaRPr lang="en-US" sz="2800" dirty="0"/>
          </a:p>
        </p:txBody>
      </p:sp>
      <p:sp>
        <p:nvSpPr>
          <p:cNvPr id="4" name="Text 2"/>
          <p:cNvSpPr txBox="1"/>
          <p:nvPr/>
        </p:nvSpPr>
        <p:spPr>
          <a:xfrm>
            <a:off x="548640" y="1371600"/>
            <a:ext cx="11094415" cy="365760"/>
          </a:xfrm>
          <a:prstGeom prst="rect">
            <a:avLst/>
          </a:prstGeom>
          <a:noFill/>
          <a:ln/>
        </p:spPr>
        <p:txBody>
          <a:bodyPr wrap="square" lIns="0" tIns="0" rIns="0" bIns="0" rtlCol="0" anchor="t"/>
          <a:lstStyle/>
          <a:p>
            <a:pPr indent="0" marL="0">
              <a:buNone/>
            </a:pPr>
            <a:r>
              <a:rPr lang="en-US" sz="1400" dirty="0">
                <a:solidFill>
                  <a:schemeClr val="accent5"/>
                </a:solidFill>
              </a:rPr>
              <a:t>Proposal memuat keadaan per 24 September 2026. Pembaruan Oktober 2026 berikut berangkat dari pemakaian dan masukan pengguna.</a:t>
            </a:r>
            <a:endParaRPr lang="en-US" sz="1400" dirty="0"/>
          </a:p>
        </p:txBody>
      </p:sp>
      <p:sp>
        <p:nvSpPr>
          <p:cNvPr id="5" name="baru1"/>
          <p:cNvSpPr/>
          <p:nvPr/>
        </p:nvSpPr>
        <p:spPr>
          <a:xfrm>
            <a:off x="548640" y="1783080"/>
            <a:ext cx="3545738" cy="1572768"/>
          </a:xfrm>
          <a:prstGeom prst="roundRect">
            <a:avLst>
              <a:gd name="adj" fmla="val 6977"/>
            </a:avLst>
          </a:prstGeom>
          <a:solidFill>
            <a:schemeClr val="bg2"/>
          </a:solidFill>
          <a:ln w="9525">
            <a:solidFill>
              <a:schemeClr val="bg2"/>
            </a:solidFill>
            <a:prstDash val="solid"/>
          </a:ln>
        </p:spPr>
      </p:sp>
      <p:sp>
        <p:nvSpPr>
          <p:cNvPr id="6" name="Shape 4"/>
          <p:cNvSpPr/>
          <p:nvPr/>
        </p:nvSpPr>
        <p:spPr>
          <a:xfrm>
            <a:off x="731520" y="1947672"/>
            <a:ext cx="365760" cy="365760"/>
          </a:xfrm>
          <a:prstGeom prst="ellipse">
            <a:avLst/>
          </a:prstGeom>
          <a:solidFill>
            <a:schemeClr val="tx2"/>
          </a:solidFill>
          <a:ln w="12700">
            <a:solidFill>
              <a:schemeClr val="tx2"/>
            </a:solidFill>
            <a:prstDash val="solid"/>
          </a:ln>
        </p:spPr>
      </p:sp>
      <p:sp>
        <p:nvSpPr>
          <p:cNvPr id="7" name="Text 5"/>
          <p:cNvSpPr txBox="1"/>
          <p:nvPr/>
        </p:nvSpPr>
        <p:spPr>
          <a:xfrm>
            <a:off x="731520" y="194767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1</a:t>
            </a:r>
            <a:endParaRPr lang="en-US" sz="1400" dirty="0"/>
          </a:p>
        </p:txBody>
      </p:sp>
      <p:sp>
        <p:nvSpPr>
          <p:cNvPr id="8" name="Text 6"/>
          <p:cNvSpPr txBox="1"/>
          <p:nvPr/>
        </p:nvSpPr>
        <p:spPr>
          <a:xfrm>
            <a:off x="1234440" y="194767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Pengingat dirampingkan</a:t>
            </a:r>
            <a:endParaRPr lang="en-US" sz="1500" dirty="0"/>
          </a:p>
        </p:txBody>
      </p:sp>
      <p:sp>
        <p:nvSpPr>
          <p:cNvPr id="9" name="Text 7"/>
          <p:cNvSpPr txBox="1"/>
          <p:nvPr/>
        </p:nvSpPr>
        <p:spPr>
          <a:xfrm>
            <a:off x="731520" y="2404872"/>
            <a:ext cx="3179978" cy="886968"/>
          </a:xfrm>
          <a:prstGeom prst="rect">
            <a:avLst/>
          </a:prstGeom>
          <a:noFill/>
          <a:ln/>
        </p:spPr>
        <p:txBody>
          <a:bodyPr wrap="square" lIns="0" tIns="0" rIns="0" bIns="0" rtlCol="0" anchor="t"/>
          <a:lstStyle/>
          <a:p>
            <a:pPr indent="0" marL="0">
              <a:buNone/>
            </a:pPr>
            <a:r>
              <a:rPr lang="en-US" sz="1400" dirty="0">
                <a:solidFill>
                  <a:schemeClr val="tx1"/>
                </a:solidFill>
              </a:rPr>
              <a:t>Proposal: lima kali sehari. Kini tiga waktu (06.30, 07.30, 16.00) plus kabar seketika, agar pesan tidak berulang.</a:t>
            </a:r>
            <a:endParaRPr lang="en-US" sz="1400" dirty="0"/>
          </a:p>
        </p:txBody>
      </p:sp>
      <p:sp>
        <p:nvSpPr>
          <p:cNvPr id="10" name="baru2"/>
          <p:cNvSpPr/>
          <p:nvPr/>
        </p:nvSpPr>
        <p:spPr>
          <a:xfrm>
            <a:off x="4322978" y="1783080"/>
            <a:ext cx="3545738" cy="1572768"/>
          </a:xfrm>
          <a:prstGeom prst="roundRect">
            <a:avLst>
              <a:gd name="adj" fmla="val 6977"/>
            </a:avLst>
          </a:prstGeom>
          <a:solidFill>
            <a:schemeClr val="bg2"/>
          </a:solidFill>
          <a:ln w="9525">
            <a:solidFill>
              <a:schemeClr val="bg2"/>
            </a:solidFill>
            <a:prstDash val="solid"/>
          </a:ln>
        </p:spPr>
      </p:sp>
      <p:sp>
        <p:nvSpPr>
          <p:cNvPr id="11" name="Shape 9"/>
          <p:cNvSpPr/>
          <p:nvPr/>
        </p:nvSpPr>
        <p:spPr>
          <a:xfrm>
            <a:off x="4505858" y="1947672"/>
            <a:ext cx="365760" cy="365760"/>
          </a:xfrm>
          <a:prstGeom prst="ellipse">
            <a:avLst/>
          </a:prstGeom>
          <a:solidFill>
            <a:schemeClr val="tx2"/>
          </a:solidFill>
          <a:ln w="12700">
            <a:solidFill>
              <a:schemeClr val="tx2"/>
            </a:solidFill>
            <a:prstDash val="solid"/>
          </a:ln>
        </p:spPr>
      </p:sp>
      <p:sp>
        <p:nvSpPr>
          <p:cNvPr id="12" name="Text 10"/>
          <p:cNvSpPr txBox="1"/>
          <p:nvPr/>
        </p:nvSpPr>
        <p:spPr>
          <a:xfrm>
            <a:off x="4505858" y="194767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2</a:t>
            </a:r>
            <a:endParaRPr lang="en-US" sz="1400" dirty="0"/>
          </a:p>
        </p:txBody>
      </p:sp>
      <p:sp>
        <p:nvSpPr>
          <p:cNvPr id="13" name="Text 11"/>
          <p:cNvSpPr txBox="1"/>
          <p:nvPr/>
        </p:nvSpPr>
        <p:spPr>
          <a:xfrm>
            <a:off x="5008778" y="194767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WhatsApp hanya yang perlu</a:t>
            </a:r>
            <a:endParaRPr lang="en-US" sz="1500" dirty="0"/>
          </a:p>
        </p:txBody>
      </p:sp>
      <p:sp>
        <p:nvSpPr>
          <p:cNvPr id="14" name="Text 12"/>
          <p:cNvSpPr txBox="1"/>
          <p:nvPr/>
        </p:nvSpPr>
        <p:spPr>
          <a:xfrm>
            <a:off x="4505858" y="2404872"/>
            <a:ext cx="3179978" cy="886968"/>
          </a:xfrm>
          <a:prstGeom prst="rect">
            <a:avLst/>
          </a:prstGeom>
          <a:noFill/>
          <a:ln/>
        </p:spPr>
        <p:txBody>
          <a:bodyPr wrap="square" lIns="0" tIns="0" rIns="0" bIns="0" rtlCol="0" anchor="t"/>
          <a:lstStyle/>
          <a:p>
            <a:pPr indent="0" marL="0">
              <a:buNone/>
            </a:pPr>
            <a:r>
              <a:rPr lang="en-US" sz="1400" dirty="0">
                <a:solidFill>
                  <a:schemeClr val="tx1"/>
                </a:solidFill>
              </a:rPr>
              <a:t>WhatsApp hanya untuk acara hari ini atau besok; selebihnya lewat notifikasi aplikasi.</a:t>
            </a:r>
            <a:endParaRPr lang="en-US" sz="1400" dirty="0"/>
          </a:p>
        </p:txBody>
      </p:sp>
      <p:sp>
        <p:nvSpPr>
          <p:cNvPr id="15" name="baru3"/>
          <p:cNvSpPr/>
          <p:nvPr/>
        </p:nvSpPr>
        <p:spPr>
          <a:xfrm>
            <a:off x="8097317" y="1783080"/>
            <a:ext cx="3545738" cy="1572768"/>
          </a:xfrm>
          <a:prstGeom prst="roundRect">
            <a:avLst>
              <a:gd name="adj" fmla="val 6977"/>
            </a:avLst>
          </a:prstGeom>
          <a:solidFill>
            <a:schemeClr val="bg2"/>
          </a:solidFill>
          <a:ln w="9525">
            <a:solidFill>
              <a:schemeClr val="bg2"/>
            </a:solidFill>
            <a:prstDash val="solid"/>
          </a:ln>
        </p:spPr>
      </p:sp>
      <p:sp>
        <p:nvSpPr>
          <p:cNvPr id="16" name="Shape 14"/>
          <p:cNvSpPr/>
          <p:nvPr/>
        </p:nvSpPr>
        <p:spPr>
          <a:xfrm>
            <a:off x="8280197" y="1947672"/>
            <a:ext cx="365760" cy="365760"/>
          </a:xfrm>
          <a:prstGeom prst="ellipse">
            <a:avLst/>
          </a:prstGeom>
          <a:solidFill>
            <a:schemeClr val="tx2"/>
          </a:solidFill>
          <a:ln w="12700">
            <a:solidFill>
              <a:schemeClr val="tx2"/>
            </a:solidFill>
            <a:prstDash val="solid"/>
          </a:ln>
        </p:spPr>
      </p:sp>
      <p:sp>
        <p:nvSpPr>
          <p:cNvPr id="17" name="Text 15"/>
          <p:cNvSpPr txBox="1"/>
          <p:nvPr/>
        </p:nvSpPr>
        <p:spPr>
          <a:xfrm>
            <a:off x="8280197" y="1947672"/>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3</a:t>
            </a:r>
            <a:endParaRPr lang="en-US" sz="1400" dirty="0"/>
          </a:p>
        </p:txBody>
      </p:sp>
      <p:sp>
        <p:nvSpPr>
          <p:cNvPr id="18" name="Text 16"/>
          <p:cNvSpPr txBox="1"/>
          <p:nvPr/>
        </p:nvSpPr>
        <p:spPr>
          <a:xfrm>
            <a:off x="8783117" y="1947672"/>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Tamu berjenjang</a:t>
            </a:r>
            <a:endParaRPr lang="en-US" sz="1500" dirty="0"/>
          </a:p>
        </p:txBody>
      </p:sp>
      <p:sp>
        <p:nvSpPr>
          <p:cNvPr id="19" name="Text 17"/>
          <p:cNvSpPr txBox="1"/>
          <p:nvPr/>
        </p:nvSpPr>
        <p:spPr>
          <a:xfrm>
            <a:off x="8280197" y="2404872"/>
            <a:ext cx="3179978" cy="886968"/>
          </a:xfrm>
          <a:prstGeom prst="rect">
            <a:avLst/>
          </a:prstGeom>
          <a:noFill/>
          <a:ln/>
        </p:spPr>
        <p:txBody>
          <a:bodyPr wrap="square" lIns="0" tIns="0" rIns="0" bIns="0" rtlCol="0" anchor="t"/>
          <a:lstStyle/>
          <a:p>
            <a:pPr indent="0" marL="0">
              <a:buNone/>
            </a:pPr>
            <a:r>
              <a:rPr lang="en-US" sz="1400" dirty="0">
                <a:solidFill>
                  <a:schemeClr val="tx1"/>
                </a:solidFill>
              </a:rPr>
              <a:t>Pimpinan menerima ringkasan pagi, jam tenang 21.00–06.00; admin dapat mengirim ulang pemberitahuan ke tamu.</a:t>
            </a:r>
            <a:endParaRPr lang="en-US" sz="1400" dirty="0"/>
          </a:p>
        </p:txBody>
      </p:sp>
      <p:sp>
        <p:nvSpPr>
          <p:cNvPr id="20" name="baru4"/>
          <p:cNvSpPr/>
          <p:nvPr/>
        </p:nvSpPr>
        <p:spPr>
          <a:xfrm>
            <a:off x="548640" y="3538728"/>
            <a:ext cx="3545738" cy="1572768"/>
          </a:xfrm>
          <a:prstGeom prst="roundRect">
            <a:avLst>
              <a:gd name="adj" fmla="val 6977"/>
            </a:avLst>
          </a:prstGeom>
          <a:solidFill>
            <a:schemeClr val="bg2"/>
          </a:solidFill>
          <a:ln w="9525">
            <a:solidFill>
              <a:schemeClr val="bg2"/>
            </a:solidFill>
            <a:prstDash val="solid"/>
          </a:ln>
        </p:spPr>
      </p:sp>
      <p:sp>
        <p:nvSpPr>
          <p:cNvPr id="21" name="Shape 19"/>
          <p:cNvSpPr/>
          <p:nvPr/>
        </p:nvSpPr>
        <p:spPr>
          <a:xfrm>
            <a:off x="731520" y="3703320"/>
            <a:ext cx="365760" cy="365760"/>
          </a:xfrm>
          <a:prstGeom prst="ellipse">
            <a:avLst/>
          </a:prstGeom>
          <a:solidFill>
            <a:schemeClr val="tx2"/>
          </a:solidFill>
          <a:ln w="12700">
            <a:solidFill>
              <a:schemeClr val="tx2"/>
            </a:solidFill>
            <a:prstDash val="solid"/>
          </a:ln>
        </p:spPr>
      </p:sp>
      <p:sp>
        <p:nvSpPr>
          <p:cNvPr id="22" name="Text 20"/>
          <p:cNvSpPr txBox="1"/>
          <p:nvPr/>
        </p:nvSpPr>
        <p:spPr>
          <a:xfrm>
            <a:off x="731520" y="3703320"/>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4</a:t>
            </a:r>
            <a:endParaRPr lang="en-US" sz="1400" dirty="0"/>
          </a:p>
        </p:txBody>
      </p:sp>
      <p:sp>
        <p:nvSpPr>
          <p:cNvPr id="23" name="Text 21"/>
          <p:cNvSpPr txBox="1"/>
          <p:nvPr/>
        </p:nvSpPr>
        <p:spPr>
          <a:xfrm>
            <a:off x="1234440" y="3703320"/>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Monitor WA</a:t>
            </a:r>
            <a:endParaRPr lang="en-US" sz="1500" dirty="0"/>
          </a:p>
        </p:txBody>
      </p:sp>
      <p:sp>
        <p:nvSpPr>
          <p:cNvPr id="24" name="Text 22"/>
          <p:cNvSpPr txBox="1"/>
          <p:nvPr/>
        </p:nvSpPr>
        <p:spPr>
          <a:xfrm>
            <a:off x="731520" y="4160520"/>
            <a:ext cx="3179978" cy="886968"/>
          </a:xfrm>
          <a:prstGeom prst="rect">
            <a:avLst/>
          </a:prstGeom>
          <a:noFill/>
          <a:ln/>
        </p:spPr>
        <p:txBody>
          <a:bodyPr wrap="square" lIns="0" tIns="0" rIns="0" bIns="0" rtlCol="0" anchor="t"/>
          <a:lstStyle/>
          <a:p>
            <a:pPr indent="0" marL="0">
              <a:buNone/>
            </a:pPr>
            <a:r>
              <a:rPr lang="en-US" sz="1400" dirty="0">
                <a:solidFill>
                  <a:schemeClr val="tx1"/>
                </a:solidFill>
              </a:rPr>
              <a:t>Arsip pesan keluar dengan status terkirim atau dibaca dan peringatan dini; isi dihapus setelah 90 hari.</a:t>
            </a:r>
            <a:endParaRPr lang="en-US" sz="1400" dirty="0"/>
          </a:p>
        </p:txBody>
      </p:sp>
      <p:sp>
        <p:nvSpPr>
          <p:cNvPr id="25" name="baru5"/>
          <p:cNvSpPr/>
          <p:nvPr/>
        </p:nvSpPr>
        <p:spPr>
          <a:xfrm>
            <a:off x="4322978" y="3538728"/>
            <a:ext cx="3545738" cy="1572768"/>
          </a:xfrm>
          <a:prstGeom prst="roundRect">
            <a:avLst>
              <a:gd name="adj" fmla="val 6977"/>
            </a:avLst>
          </a:prstGeom>
          <a:solidFill>
            <a:schemeClr val="bg2"/>
          </a:solidFill>
          <a:ln w="9525">
            <a:solidFill>
              <a:schemeClr val="bg2"/>
            </a:solidFill>
            <a:prstDash val="solid"/>
          </a:ln>
        </p:spPr>
      </p:sp>
      <p:sp>
        <p:nvSpPr>
          <p:cNvPr id="26" name="Shape 24"/>
          <p:cNvSpPr/>
          <p:nvPr/>
        </p:nvSpPr>
        <p:spPr>
          <a:xfrm>
            <a:off x="4505858" y="3703320"/>
            <a:ext cx="365760" cy="365760"/>
          </a:xfrm>
          <a:prstGeom prst="ellipse">
            <a:avLst/>
          </a:prstGeom>
          <a:solidFill>
            <a:schemeClr val="tx2"/>
          </a:solidFill>
          <a:ln w="12700">
            <a:solidFill>
              <a:schemeClr val="tx2"/>
            </a:solidFill>
            <a:prstDash val="solid"/>
          </a:ln>
        </p:spPr>
      </p:sp>
      <p:sp>
        <p:nvSpPr>
          <p:cNvPr id="27" name="Text 25"/>
          <p:cNvSpPr txBox="1"/>
          <p:nvPr/>
        </p:nvSpPr>
        <p:spPr>
          <a:xfrm>
            <a:off x="4505858" y="3703320"/>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5</a:t>
            </a:r>
            <a:endParaRPr lang="en-US" sz="1400" dirty="0"/>
          </a:p>
        </p:txBody>
      </p:sp>
      <p:sp>
        <p:nvSpPr>
          <p:cNvPr id="28" name="Text 26"/>
          <p:cNvSpPr txBox="1"/>
          <p:nvPr/>
        </p:nvSpPr>
        <p:spPr>
          <a:xfrm>
            <a:off x="5008778" y="3703320"/>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Masuk lebih aman</a:t>
            </a:r>
            <a:endParaRPr lang="en-US" sz="1500" dirty="0"/>
          </a:p>
        </p:txBody>
      </p:sp>
      <p:sp>
        <p:nvSpPr>
          <p:cNvPr id="29" name="Text 27"/>
          <p:cNvSpPr txBox="1"/>
          <p:nvPr/>
        </p:nvSpPr>
        <p:spPr>
          <a:xfrm>
            <a:off x="4505858" y="4160520"/>
            <a:ext cx="3179978" cy="886968"/>
          </a:xfrm>
          <a:prstGeom prst="rect">
            <a:avLst/>
          </a:prstGeom>
          <a:noFill/>
          <a:ln/>
        </p:spPr>
        <p:txBody>
          <a:bodyPr wrap="square" lIns="0" tIns="0" rIns="0" bIns="0" rtlCol="0" anchor="t"/>
          <a:lstStyle/>
          <a:p>
            <a:pPr indent="0" marL="0">
              <a:buNone/>
            </a:pPr>
            <a:r>
              <a:rPr lang="en-US" sz="1400" dirty="0">
                <a:solidFill>
                  <a:schemeClr val="tx1"/>
                </a:solidFill>
              </a:rPr>
              <a:t>Sidik jari atau wajah dan akun Google, hanya untuk akun terdaftar; kebijakan privasi sesuai UU 27/2022.</a:t>
            </a:r>
            <a:endParaRPr lang="en-US" sz="1400" dirty="0"/>
          </a:p>
        </p:txBody>
      </p:sp>
      <p:sp>
        <p:nvSpPr>
          <p:cNvPr id="30" name="baru6"/>
          <p:cNvSpPr/>
          <p:nvPr/>
        </p:nvSpPr>
        <p:spPr>
          <a:xfrm>
            <a:off x="8097317" y="3538728"/>
            <a:ext cx="3545738" cy="1572768"/>
          </a:xfrm>
          <a:prstGeom prst="roundRect">
            <a:avLst>
              <a:gd name="adj" fmla="val 6977"/>
            </a:avLst>
          </a:prstGeom>
          <a:solidFill>
            <a:schemeClr val="bg2"/>
          </a:solidFill>
          <a:ln w="9525">
            <a:solidFill>
              <a:schemeClr val="bg2"/>
            </a:solidFill>
            <a:prstDash val="solid"/>
          </a:ln>
        </p:spPr>
      </p:sp>
      <p:sp>
        <p:nvSpPr>
          <p:cNvPr id="31" name="Shape 29"/>
          <p:cNvSpPr/>
          <p:nvPr/>
        </p:nvSpPr>
        <p:spPr>
          <a:xfrm>
            <a:off x="8280197" y="3703320"/>
            <a:ext cx="365760" cy="365760"/>
          </a:xfrm>
          <a:prstGeom prst="ellipse">
            <a:avLst/>
          </a:prstGeom>
          <a:solidFill>
            <a:schemeClr val="tx2"/>
          </a:solidFill>
          <a:ln w="12700">
            <a:solidFill>
              <a:schemeClr val="tx2"/>
            </a:solidFill>
            <a:prstDash val="solid"/>
          </a:ln>
        </p:spPr>
      </p:sp>
      <p:sp>
        <p:nvSpPr>
          <p:cNvPr id="32" name="Text 30"/>
          <p:cNvSpPr txBox="1"/>
          <p:nvPr/>
        </p:nvSpPr>
        <p:spPr>
          <a:xfrm>
            <a:off x="8280197" y="3703320"/>
            <a:ext cx="365760" cy="365760"/>
          </a:xfrm>
          <a:prstGeom prst="rect">
            <a:avLst/>
          </a:prstGeom>
          <a:noFill/>
          <a:ln/>
        </p:spPr>
        <p:txBody>
          <a:bodyPr wrap="square" lIns="0" tIns="0" rIns="0" bIns="0" rtlCol="0" anchor="ctr"/>
          <a:lstStyle/>
          <a:p>
            <a:pPr algn="ctr" indent="0" marL="0">
              <a:buNone/>
            </a:pPr>
            <a:r>
              <a:rPr lang="en-US" sz="1400" b="1" dirty="0">
                <a:solidFill>
                  <a:schemeClr val="accent1"/>
                </a:solidFill>
              </a:rPr>
              <a:t>6</a:t>
            </a:r>
            <a:endParaRPr lang="en-US" sz="1400" dirty="0"/>
          </a:p>
        </p:txBody>
      </p:sp>
      <p:sp>
        <p:nvSpPr>
          <p:cNvPr id="33" name="Text 31"/>
          <p:cNvSpPr txBox="1"/>
          <p:nvPr/>
        </p:nvSpPr>
        <p:spPr>
          <a:xfrm>
            <a:off x="8783117" y="3703320"/>
            <a:ext cx="2677058" cy="365760"/>
          </a:xfrm>
          <a:prstGeom prst="rect">
            <a:avLst/>
          </a:prstGeom>
          <a:noFill/>
          <a:ln/>
        </p:spPr>
        <p:txBody>
          <a:bodyPr wrap="square" lIns="0" tIns="0" rIns="0" bIns="0" rtlCol="0" anchor="ctr"/>
          <a:lstStyle/>
          <a:p>
            <a:pPr indent="0" marL="0">
              <a:buNone/>
            </a:pPr>
            <a:r>
              <a:rPr lang="en-US" sz="1500" b="1" dirty="0">
                <a:solidFill>
                  <a:schemeClr val="tx2"/>
                </a:solidFill>
              </a:rPr>
              <a:t>Jam acara mengikuti zona</a:t>
            </a:r>
            <a:endParaRPr lang="en-US" sz="1500" dirty="0"/>
          </a:p>
        </p:txBody>
      </p:sp>
      <p:sp>
        <p:nvSpPr>
          <p:cNvPr id="34" name="Text 32"/>
          <p:cNvSpPr txBox="1"/>
          <p:nvPr/>
        </p:nvSpPr>
        <p:spPr>
          <a:xfrm>
            <a:off x="8280197" y="4160520"/>
            <a:ext cx="3179978" cy="886968"/>
          </a:xfrm>
          <a:prstGeom prst="rect">
            <a:avLst/>
          </a:prstGeom>
          <a:noFill/>
          <a:ln/>
        </p:spPr>
        <p:txBody>
          <a:bodyPr wrap="square" lIns="0" tIns="0" rIns="0" bIns="0" rtlCol="0" anchor="t"/>
          <a:lstStyle/>
          <a:p>
            <a:pPr indent="0" marL="0">
              <a:buNone/>
            </a:pPr>
            <a:r>
              <a:rPr lang="en-US" sz="1400" dirty="0">
                <a:solidFill>
                  <a:schemeClr val="tx1"/>
                </a:solidFill>
              </a:rPr>
              <a:t>Acara WIB, WITA, atau WIT ditulis menurut undangan dan tampil menurut tempat pengguna.</a:t>
            </a:r>
            <a:endParaRPr lang="en-US" sz="1400" dirty="0"/>
          </a:p>
        </p:txBody>
      </p:sp>
      <p:sp>
        <p:nvSpPr>
          <p:cNvPr id="35" name="Text 33"/>
          <p:cNvSpPr txBox="1"/>
          <p:nvPr/>
        </p:nvSpPr>
        <p:spPr>
          <a:xfrm>
            <a:off x="548640" y="5193792"/>
            <a:ext cx="11094415" cy="384048"/>
          </a:xfrm>
          <a:prstGeom prst="rect">
            <a:avLst/>
          </a:prstGeom>
          <a:noFill/>
          <a:ln/>
        </p:spPr>
        <p:txBody>
          <a:bodyPr wrap="square" lIns="0" tIns="0" rIns="0" bIns="0" rtlCol="0" anchor="ctr"/>
          <a:lstStyle/>
          <a:p>
            <a:pPr indent="0" marL="0">
              <a:buNone/>
            </a:pPr>
            <a:r>
              <a:rPr lang="en-US" sz="1400" b="1" dirty="0">
                <a:solidFill>
                  <a:schemeClr val="accent4"/>
                </a:solidFill>
              </a:rPr>
              <a:t>Koreksi data  </a:t>
            </a:r>
            <a:pPr indent="0" marL="0">
              <a:buNone/>
            </a:pPr>
            <a:r>
              <a:rPr lang="en-US" sz="1400" dirty="0">
                <a:solidFill>
                  <a:schemeClr val="tx1"/>
                </a:solidFill>
              </a:rPr>
              <a:t>Proposal menulis tiga lembar (peristiwa Januari 2026); lembar aslinya dua, satu tidak sampai. Peristiwanya sama.</a:t>
            </a:r>
            <a:endParaRPr lang="en-US" sz="1400" dirty="0"/>
          </a:p>
        </p:txBody>
      </p:sp>
      <p:sp>
        <p:nvSpPr>
          <p:cNvPr id="36" name="nilaitambah"/>
          <p:cNvSpPr/>
          <p:nvPr/>
        </p:nvSpPr>
        <p:spPr>
          <a:xfrm>
            <a:off x="548640" y="5669280"/>
            <a:ext cx="11094415" cy="640080"/>
          </a:xfrm>
          <a:prstGeom prst="roundRect">
            <a:avLst>
              <a:gd name="adj" fmla="val 17143"/>
            </a:avLst>
          </a:prstGeom>
          <a:solidFill>
            <a:schemeClr val="tx2"/>
          </a:solidFill>
          <a:ln w="9525">
            <a:solidFill>
              <a:schemeClr val="tx2"/>
            </a:solidFill>
            <a:prstDash val="solid"/>
          </a:ln>
        </p:spPr>
      </p:sp>
      <p:sp>
        <p:nvSpPr>
          <p:cNvPr id="37" name="Text 35"/>
          <p:cNvSpPr txBox="1"/>
          <p:nvPr/>
        </p:nvSpPr>
        <p:spPr>
          <a:xfrm>
            <a:off x="822960" y="5669280"/>
            <a:ext cx="10545775" cy="640080"/>
          </a:xfrm>
          <a:prstGeom prst="rect">
            <a:avLst/>
          </a:prstGeom>
          <a:noFill/>
          <a:ln/>
        </p:spPr>
        <p:txBody>
          <a:bodyPr wrap="square" lIns="0" tIns="0" rIns="0" bIns="0" rtlCol="0" anchor="ctr"/>
          <a:lstStyle/>
          <a:p>
            <a:pPr indent="0" marL="0">
              <a:buNone/>
            </a:pPr>
            <a:r>
              <a:rPr lang="en-US" sz="1400" b="1" dirty="0">
                <a:solidFill>
                  <a:schemeClr val="accent1"/>
                </a:solidFill>
              </a:rPr>
              <a:t>Nilai tambah  </a:t>
            </a:r>
            <a:pPr indent="0" marL="0">
              <a:buNone/>
            </a:pPr>
            <a:r>
              <a:rPr lang="en-US" sz="1400" dirty="0">
                <a:solidFill>
                  <a:schemeClr val="bg1"/>
                </a:solidFill>
              </a:rPr>
              <a:t>Setiap pembaruan berangkat dari kendala pengguna, dikerjakan tim sendiri tanpa belanja pengadaan, dan dicatat dalam riwayat perubahan aplikasi.</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Prokopim Hibot">
  <a:themeElements>
    <a:clrScheme name="Prokopim Hibot">
      <a:dk1>
        <a:srgbClr val="0F172A"/>
      </a:dk1>
      <a:lt1>
        <a:srgbClr val="FFFFFF"/>
      </a:lt1>
      <a:dk2>
        <a:srgbClr val="0A1628"/>
      </a:dk2>
      <a:lt2>
        <a:srgbClr val="EEF2F8"/>
      </a:lt2>
      <a:accent1>
        <a:srgbClr val="C9A84C"/>
      </a:accent1>
      <a:accent2>
        <a:srgbClr val="1E3A6E"/>
      </a:accent2>
      <a:accent3>
        <a:srgbClr val="059669"/>
      </a:accent3>
      <a:accent4>
        <a:srgbClr val="B91C1C"/>
      </a:accent4>
      <a:accent5>
        <a:srgbClr val="64748B"/>
      </a:accent5>
      <a:accent6>
        <a:srgbClr val="CBD5E1"/>
      </a:accent6>
      <a:hlink>
        <a:srgbClr val="1E3A6E"/>
      </a:hlink>
      <a:folHlink>
        <a:srgbClr val="1E3A6E"/>
      </a:folHlink>
    </a:clrScheme>
    <a:fontScheme name="Prokopim Hibo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Pemerintah Kota Tarakan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Prokopim Hibot — Paparan Tahap II Kaltara Innovation Awards 2026</dc:title>
  <dc:subject>PptxGenJS Presentation</dc:subject>
  <dc:creator>Tim Inovasi Prokopim Hibot, Setda Kota Tarakan</dc:creator>
  <cp:lastModifiedBy>Tim Inovasi Prokopim Hibot, Setda Kota Tarakan</cp:lastModifiedBy>
  <cp:revision>1</cp:revision>
  <dcterms:created xsi:type="dcterms:W3CDTF">2026-10-19T08:16:04Z</dcterms:created>
  <dcterms:modified xsi:type="dcterms:W3CDTF">2026-10-19T08:16:04Z</dcterms:modified>
</cp:coreProperties>
</file>