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4a1f4674-0f06-5155-fe52-de5983b02e9d}">
          <p14:sldIdLst>
            <p14:sldId id="256"/>
          </p14:sldIdLst>
        </p14:section>
        <p14:section name="Latar belakang" id="{8a18d7b6-e033-97fe-6215-dd09803ccd1c}">
          <p14:sldIdLst>
            <p14:sldId id="257"/>
            <p14:sldId id="258"/>
          </p14:sldIdLst>
        </p14:section>
        <p14:section name="Terobosan inovasi" id="{9465ad2b-e496-3cc7-302e-8c61622f7f03}">
          <p14:sldIdLst>
            <p14:sldId id="259"/>
            <p14:sldId id="260"/>
          </p14:sldIdLst>
        </p14:section>
        <p14:section name="Manfaat inovasi" id="{2bba3e50-c573-7e3a-68f1-6df7dcd5fae2}">
          <p14:sldIdLst>
            <p14:sldId id="261"/>
            <p14:sldId id="262"/>
            <p14:sldId id="263"/>
          </p14:sldIdLst>
        </p14:section>
        <p14:section name="Pemanfaatan sumber daya" id="{29940c43-31ab-dc4e-3ec0-6e3e84a0e53b}">
          <p14:sldIdLst>
            <p14:sldId id="264"/>
          </p14:sldIdLst>
        </p14:section>
        <p14:section name="Diseminasi inovasi" id="{35503bf9-7a1f-2e08-e7d5-eaecb04ee407}">
          <p14:sldIdLst>
            <p14:sldId id="265"/>
          </p14:sldIdLst>
        </p14:section>
        <p14:section name="Kompatibilitas" id="{79118008-65ed-8dce-181d-1cb3db135b11}">
          <p14:sldIdLst>
            <p14:sldId id="266"/>
          </p14:sldIdLst>
        </p14:section>
        <p14:section name="Penutup" id="{69fdfff4-a073-f354-12fb-5cee1e15d8d4}">
          <p14:sldIdLst>
            <p14:sldId id="267"/>
          </p14:sldIdLst>
        </p14:section>
        <p14:section name="Cadangan penjelasan" id="{bad290bf-dc3b-ba97-c20d-ababf701f44f}">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Izin kami sampaikan Prokopim Hibot, satu alur digital terverifikasi untuk agenda Pimpinan Daerah. (±20 detik)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Januari 2026. Tiga lembar disposisi agenda diturunkan; yang sampai ke kami hanya dua. Tidak ada yang lalai, tetapi tidak ada pula yang bisa mengetahuinya. Sebelum Maret 2026: rencana kegiatan di spreadsheet lalu dicetak, penelaahan hanya sempat sekitar 30 menit menjelang jam pulang, disposisi beredar sebagai foto, penugasan bergantung pada ingatan. (±40 detik)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Telaah bersama seluruh Bagian sesudah peristiwa Januari menemukan pola yang sama di banyak tempat: penugasan tersimpan dalam ingatan, ruangan hanya tercatat di papan tulis, arsip tersebar. Akarnya satu: tidak ada satu sumber data yang sahih. Data pembanding: dari undangan sampai tayang diperkirakan 18–24 jam. (±40 detik)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 empat pilihan. Menambah pengawasan tidak menyentuh akar masalah. Merapikan spreadsheet tetap menyisakan banyak versi. Membeli aplikasi jadi butuh anggaran, padahal alur keprotokolan sangat khas. Kami memilih membangun sendiri. Hasilnya satu alur: Admin RK → Kasubbag → Kabag → tayang di HP Pimpinan. Sebut daftar periksa wajib, Pelaksana Harian, dan kanal publik. (±40 detik)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Kebaruan ada pada cara aplikasi menjaga mutu keputusan: jejak audit, daftar periksa wajib, Pelaksana Harian bermasa berlaku, pengawasan menurut kegentingan, kanal publik terlacak, dan kalender bersama. Sejak proposal, aplikasi terus dikembangkan dari kendala pengguna (sebut bulannya: Oktober 2026). Lalu: 'Izin kami tunjukkan langsung di aplikasi.' → masuk demo. (±30 detik)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3 menit 30 detik (menit 2:50–6:20 paparan). Admin RK memegang laptop, Kasubbag dan Kabag memegang HP; Kabag memandu. Semua memakai instans demo berdata contoh. Cadangan: video demo luring 3:30 di laptop dan diska lepas. Admin RK memberi isyarat pada 6:20.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Bacakan tiga angka saja: 1,99 jam (dari perkiraan 18–24 jam), 99,3 persen tayang kurang dari sehari, dan 47,5 persen penelaahan terjadi di luar jam kerja — artinya pekerjaan tidak lagi menunggu jendela 30 menit. (±50 detik)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Bacakan satu kutipan Wali Kota. Lalu: 62 kegiatan didisposisikan langsung dari aplikasi, 341 konfirmasi ajudan, 66 instansi meminjam ruangan dan 53 instansi mengajukan audiensi tanpa datang berulang. (±25 detik)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Jawab lebih dulu pertanyaan 'bila Kabag dimutasi': kewenangan melekat pada jabatan, 11 SOP, kode dan riwayat tersimpan lengkap, akun layanan atas nama instansi, pengelola kedua didampingi mulai 2027. Biaya berjalan mendekati nol. (±40 detik)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Penyebarluasan: 21 akun di luar Bagian, kanal publik dipakai 66 dan 53 instansi, Tim Koordinasi lintas perangkat daerah. Inovasi ini siap direplikasi sesuai kebutuhan: yang disesuaikan hanya nama jabatan, pengguna, dan tata naskah. Sebelas SOP disahkan Sekretaris Daerah pada Oktober–Desember 2026, disesuaikan dengan nomenklatur baru. (±30 detik)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Kompatibilitas: dasar regulasi pelayanan publik, keprotokolan, inovasi daerah, SPBE; selaras Misi 3 RPJMD Kaltara dan Misi 4 Kota Tarakan. Aplikasi menyesuaikan cara kerja Pimpinan — contohnya naskah sambutan tetap tercetak. (±30 detik)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Penutup: 'Satu alur. Satu data. Setiap keputusan tercatat.' Terima kasih. Tawarkan akun juri baca-saja bila juri ingin mencoba.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Gunakan hanya bila juri menanyakan perbedaan dengan proposal. Jujur dan ringkas: pengingat lima kali sehari dirampingkan menjadi tiga waktu berdasarkan data pemakaian; WhatsApp hanya untuk acara hari ini atau besok; notifikasi tamu berjenjang; Monitor WA; masuk dengan sidik jari dan Google; jam acara berzona. Semua pembaruan berangkat dari kendala pengguna dan tanpa belanja pengadaan.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SI">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rtlCol="0"/>
          <a:lstStyle>
            <a:lvl1pPr indent="0" marL="0">
              <a:buNone/>
              <a:defRPr lang="en-US" sz="1200" b="1" spc="200" kern="0" dirty="0">
                <a:solidFill>
                  <a:schemeClr val="accent5"/>
                </a:solidFill>
              </a:defRPr>
            </a:lvl1pPr>
          </a:lstStyle>
          <a:p>
            <a:pPr indent="0" marL="0">
              <a:buNone/>
            </a:pPr>
            <a:endParaRPr lang="en-US" sz="1200" dirty="0"/>
          </a:p>
        </p:txBody>
      </p:sp>
      <p:sp>
        <p:nvSpPr>
          <p:cNvPr id="3" name="Text 0"/>
          <p:cNvSpPr/>
          <p:nvPr>
            <p:ph idx="101" type="title" hasCustomPrompt="1"/>
          </p:nvPr>
        </p:nvSpPr>
        <p:spPr>
          <a:xfrm>
            <a:off x="548640" y="603504"/>
            <a:ext cx="11094415" cy="77724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4"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Prokopim Hibot  ·  Kaltara Innovation Awards 2026  ·  Kategori ASN Pemerintah Kabupaten/Kota</a:t>
            </a:r>
            <a:endParaRPr lang="en-US" sz="1000" dirty="0"/>
          </a:p>
        </p:txBody>
      </p:sp>
      <p:pic>
        <p:nvPicPr>
          <p:cNvPr id="5" name="Image 0" descr="/home/user/joyful-visuals/docs/lomba/build/paparan/aset/kaltara.png">    </p:cNvPr>
          <p:cNvPicPr>
            <a:picLocks noChangeAspect="1"/>
          </p:cNvPicPr>
          <p:nvPr/>
        </p:nvPicPr>
        <p:blipFill>
          <a:blip r:embed="rId1"/>
          <a:stretch>
            <a:fillRect/>
          </a:stretch>
        </p:blipFill>
        <p:spPr>
          <a:xfrm>
            <a:off x="10225735" y="6355080"/>
            <a:ext cx="274320" cy="365760"/>
          </a:xfrm>
          <a:prstGeom prst="rect">
            <a:avLst/>
          </a:prstGeom>
        </p:spPr>
      </p:pic>
      <p:pic>
        <p:nvPicPr>
          <p:cNvPr id="6" name="Image 1" descr="/home/user/joyful-visuals/docs/lomba/build/paparan/aset/tarakan.png">    </p:cNvPr>
          <p:cNvPicPr>
            <a:picLocks noChangeAspect="1"/>
          </p:cNvPicPr>
          <p:nvPr/>
        </p:nvPicPr>
        <p:blipFill>
          <a:blip r:embed="rId2"/>
          <a:stretch>
            <a:fillRect/>
          </a:stretch>
        </p:blipFill>
        <p:spPr>
          <a:xfrm>
            <a:off x="10591495" y="6355080"/>
            <a:ext cx="365760" cy="365760"/>
          </a:xfrm>
          <a:prstGeom prst="rect">
            <a:avLst/>
          </a:prstGeom>
        </p:spPr>
      </p:pic>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LAP">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03504"/>
            <a:ext cx="11094415" cy="77724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
        <p:nvSpPr>
          <p:cNvPr id="4"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chemeClr val="accent6"/>
                </a:solidFill>
              </a:rPr>
              <a:t>Prokopim Hibot  ·  Kaltara Innovation Awards 2026  ·  Kategori ASN Pemerintah Kabupaten/Kota</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jpg"/><Relationship Id="rId4" Type="http://schemas.openxmlformats.org/officeDocument/2006/relationships/slideLayout" Target="../slideLayouts/slideLayout3.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alas logo"/>
          <p:cNvSpPr/>
          <p:nvPr/>
        </p:nvSpPr>
        <p:spPr>
          <a:xfrm>
            <a:off x="548640" y="411480"/>
            <a:ext cx="1783080" cy="868680"/>
          </a:xfrm>
          <a:prstGeom prst="roundRect">
            <a:avLst>
              <a:gd name="adj" fmla="val 14737"/>
            </a:avLst>
          </a:prstGeom>
          <a:solidFill>
            <a:schemeClr val="bg1"/>
          </a:solidFill>
          <a:ln w="12700">
            <a:solidFill>
              <a:schemeClr val="bg1"/>
            </a:solidFill>
            <a:prstDash val="solid"/>
          </a:ln>
        </p:spPr>
      </p:sp>
      <p:pic>
        <p:nvPicPr>
          <p:cNvPr id="3" name="Image 0" descr="/home/user/joyful-visuals/docs/lomba/build/paparan/aset/kaltara.png">    </p:cNvPr>
          <p:cNvPicPr>
            <a:picLocks noChangeAspect="1"/>
          </p:cNvPicPr>
          <p:nvPr/>
        </p:nvPicPr>
        <p:blipFill>
          <a:blip r:embed="rId1"/>
          <a:stretch>
            <a:fillRect/>
          </a:stretch>
        </p:blipFill>
        <p:spPr>
          <a:xfrm>
            <a:off x="731520" y="484632"/>
            <a:ext cx="548640" cy="731520"/>
          </a:xfrm>
          <a:prstGeom prst="rect">
            <a:avLst/>
          </a:prstGeom>
        </p:spPr>
      </p:pic>
      <p:pic>
        <p:nvPicPr>
          <p:cNvPr id="4" name="Image 1" descr="/home/user/joyful-visuals/docs/lomba/build/paparan/aset/tarakan.png">    </p:cNvPr>
          <p:cNvPicPr>
            <a:picLocks noChangeAspect="1"/>
          </p:cNvPicPr>
          <p:nvPr/>
        </p:nvPicPr>
        <p:blipFill>
          <a:blip r:embed="rId2"/>
          <a:stretch>
            <a:fillRect/>
          </a:stretch>
        </p:blipFill>
        <p:spPr>
          <a:xfrm>
            <a:off x="1444752" y="484632"/>
            <a:ext cx="731520" cy="731520"/>
          </a:xfrm>
          <a:prstGeom prst="rect">
            <a:avLst/>
          </a:prstGeom>
        </p:spPr>
      </p:pic>
      <p:sp>
        <p:nvSpPr>
          <p:cNvPr id="5" name="Text 1"/>
          <p:cNvSpPr txBox="1"/>
          <p:nvPr/>
        </p:nvSpPr>
        <p:spPr>
          <a:xfrm>
            <a:off x="548640" y="1417320"/>
            <a:ext cx="768096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KALTARA INNOVATION AWARDS 2026  ·  PENILAIAN TAHAP II</a:t>
            </a:r>
            <a:endParaRPr lang="en-US" sz="1200" dirty="0"/>
          </a:p>
        </p:txBody>
      </p:sp>
      <p:sp>
        <p:nvSpPr>
          <p:cNvPr id="6" name="Text 2"/>
          <p:cNvSpPr txBox="1"/>
          <p:nvPr/>
        </p:nvSpPr>
        <p:spPr>
          <a:xfrm>
            <a:off x="548640" y="1828800"/>
            <a:ext cx="7498080" cy="1005840"/>
          </a:xfrm>
          <a:prstGeom prst="rect">
            <a:avLst/>
          </a:prstGeom>
          <a:noFill/>
          <a:ln/>
        </p:spPr>
        <p:txBody>
          <a:bodyPr wrap="square" lIns="0" tIns="0" rIns="0" bIns="0" rtlCol="0" anchor="t"/>
          <a:lstStyle/>
          <a:p>
            <a:pPr indent="0" marL="0">
              <a:buNone/>
            </a:pPr>
            <a:r>
              <a:rPr lang="en-US" sz="5400" b="1" dirty="0">
                <a:solidFill>
                  <a:schemeClr val="bg1"/>
                </a:solidFill>
                <a:latin typeface="Arial" pitchFamily="34" charset="0"/>
                <a:ea typeface="Arial" pitchFamily="34" charset="-122"/>
                <a:cs typeface="Arial" pitchFamily="34" charset="-120"/>
              </a:rPr>
              <a:t>Prokopim Hibot</a:t>
            </a:r>
            <a:endParaRPr lang="en-US" sz="5400" dirty="0"/>
          </a:p>
        </p:txBody>
      </p:sp>
      <p:sp>
        <p:nvSpPr>
          <p:cNvPr id="7" name="Text 3"/>
          <p:cNvSpPr txBox="1"/>
          <p:nvPr/>
        </p:nvSpPr>
        <p:spPr>
          <a:xfrm>
            <a:off x="548640" y="2880360"/>
            <a:ext cx="7132320" cy="914400"/>
          </a:xfrm>
          <a:prstGeom prst="rect">
            <a:avLst/>
          </a:prstGeom>
          <a:noFill/>
          <a:ln/>
        </p:spPr>
        <p:txBody>
          <a:bodyPr wrap="square" lIns="0" tIns="0" rIns="0" bIns="0" rtlCol="0" anchor="t"/>
          <a:lstStyle/>
          <a:p>
            <a:pPr indent="0" marL="0">
              <a:buNone/>
            </a:pPr>
            <a:r>
              <a:rPr lang="en-US" sz="2200" dirty="0">
                <a:solidFill>
                  <a:schemeClr val="accent1"/>
                </a:solidFill>
              </a:rPr>
              <a:t>Satu Alur Digital Terverifikasi untuk Tata Kelola Agenda dan Keprotokolan Pimpinan Daerah</a:t>
            </a:r>
            <a:endParaRPr lang="en-US" sz="2200" dirty="0"/>
          </a:p>
        </p:txBody>
      </p:sp>
      <p:sp>
        <p:nvSpPr>
          <p:cNvPr id="8" name="Text 4"/>
          <p:cNvSpPr txBox="1"/>
          <p:nvPr/>
        </p:nvSpPr>
        <p:spPr>
          <a:xfrm>
            <a:off x="548640" y="4023360"/>
            <a:ext cx="7132320" cy="685800"/>
          </a:xfrm>
          <a:prstGeom prst="rect">
            <a:avLst/>
          </a:prstGeom>
          <a:noFill/>
          <a:ln/>
        </p:spPr>
        <p:txBody>
          <a:bodyPr wrap="square" lIns="0" tIns="0" rIns="0" bIns="0" rtlCol="0" anchor="t"/>
          <a:lstStyle/>
          <a:p>
            <a:pPr indent="0" marL="0">
              <a:spcAft>
                <a:spcPts val="200"/>
              </a:spcAft>
              <a:buNone/>
            </a:pPr>
            <a:r>
              <a:rPr lang="en-US" sz="1500" dirty="0">
                <a:solidFill>
                  <a:schemeClr val="accent6"/>
                </a:solidFill>
              </a:rPr>
              <a:t>Inovasi Terapan – ASN Pemerintah Kabupaten/Kota</a:t>
            </a:r>
            <a:endParaRPr lang="en-US" sz="1500" dirty="0"/>
          </a:p>
          <a:p>
            <a:pPr indent="0" marL="0">
              <a:spcAft>
                <a:spcPts val="200"/>
              </a:spcAft>
              <a:buNone/>
            </a:pPr>
            <a:r>
              <a:rPr lang="en-US" sz="1500" dirty="0">
                <a:solidFill>
                  <a:schemeClr val="accent6"/>
                </a:solidFill>
              </a:rPr>
              <a:t>Bagian Protokol dan Komunikasi Pimpinan, Sekretariat Daerah Kota Tarakan</a:t>
            </a:r>
            <a:endParaRPr lang="en-US" sz="1500" dirty="0"/>
          </a:p>
        </p:txBody>
      </p:sp>
      <p:sp>
        <p:nvSpPr>
          <p:cNvPr id="9" name="Text 5"/>
          <p:cNvSpPr txBox="1"/>
          <p:nvPr/>
        </p:nvSpPr>
        <p:spPr>
          <a:xfrm>
            <a:off x="548640" y="5074920"/>
            <a:ext cx="7132320" cy="685800"/>
          </a:xfrm>
          <a:prstGeom prst="rect">
            <a:avLst/>
          </a:prstGeom>
          <a:noFill/>
          <a:ln/>
        </p:spPr>
        <p:txBody>
          <a:bodyPr wrap="square" lIns="0" tIns="0" rIns="0" bIns="0" rtlCol="0" anchor="t"/>
          <a:lstStyle/>
          <a:p>
            <a:pPr indent="0" marL="0">
              <a:buNone/>
            </a:pPr>
            <a:r>
              <a:rPr lang="en-US" sz="1300" b="1" dirty="0">
                <a:solidFill>
                  <a:schemeClr val="accent1"/>
                </a:solidFill>
              </a:rPr>
              <a:t>Tim Inovasi  </a:t>
            </a:r>
            <a:pPr indent="0" marL="0">
              <a:buNone/>
            </a:pPr>
            <a:r>
              <a:rPr lang="en-US" sz="1300" dirty="0">
                <a:solidFill>
                  <a:schemeClr val="bg1"/>
                </a:solidFill>
              </a:rPr>
              <a:t>Anugrah Yega Pranatha, M.Si. (Ketua)  ·  Saifullah, S.H.  ·  Juliyanti, S.AP.  ·  Mastura, S.Sos.  ·  Ni Kade Sari Handayani, S.AP.</a:t>
            </a:r>
            <a:endParaRPr lang="en-US" sz="1300" dirty="0"/>
          </a:p>
        </p:txBody>
      </p:sp>
      <p:pic>
        <p:nvPicPr>
          <p:cNvPr id="10" name="Image 2" descr="/home/user/joyful-visuals/docs/lomba/build/paparan/aset/hp_walikota.jpg">    </p:cNvPr>
          <p:cNvPicPr>
            <a:picLocks noChangeAspect="1"/>
          </p:cNvPicPr>
          <p:nvPr/>
        </p:nvPicPr>
        <p:blipFill>
          <a:blip r:embed="rId3"/>
          <a:stretch>
            <a:fillRect/>
          </a:stretch>
        </p:blipFill>
        <p:spPr>
          <a:xfrm>
            <a:off x="8549640" y="502920"/>
            <a:ext cx="2697480" cy="5833872"/>
          </a:xfrm>
          <a:prstGeom prst="rect">
            <a:avLst/>
          </a:prstGeom>
          <a:effectLst>
            <a:outerShdw sx="100000" sy="100000" kx="0" ky="0" algn="bl" rotWithShape="0" blurRad="152400" dist="50800" dir="5400000">
              <a:srgbClr val="000000">
                <a:alpha val="35000"/>
              </a:srgbClr>
            </a:outerShdw>
          </a:effectLst>
        </p:spPr>
      </p:pic>
      <p:sp>
        <p:nvSpPr>
          <p:cNvPr id="12" name="Text 0"/>
          <p:cNvSpPr/>
          <p:nvPr>
            <p:ph idx="100" type="body" hasCustomPrompt="1"/>
          </p:nvPr>
        </p:nvSpPr>
        <p:spPr>
          <a:xfrm>
            <a:off x="548640" y="292608"/>
            <a:ext cx="8229600" cy="292608"/>
          </a:xfrm>
          <a:prstGeom prst="rect">
            <a:avLst/>
          </a:prstGeom>
          <a:noFill/>
          <a:ln/>
        </p:spPr>
        <p:txBody>
          <a:bodyPr wrap="square" lIns="0" tIns="0" rIns="0" bIns="0" rtlCol="0" anchor="ctr"/>
          <a:lstStyle/>
          <a:p>
            <a:pPr indent="0" marL="0">
              <a:buNone/>
            </a:pPr>
            <a:endParaRPr lang="en-US" sz="1200" dirty="0"/>
          </a:p>
        </p:txBody>
      </p:sp>
      <p:sp>
        <p:nvSpPr>
          <p:cNvPr id="13" name="Text 0"/>
          <p:cNvSpPr/>
          <p:nvPr>
            <p:ph idx="101" type="title" hasCustomPrompt="1"/>
          </p:nvPr>
        </p:nvSpPr>
        <p:spPr>
          <a:xfrm>
            <a:off x="548640" y="603504"/>
            <a:ext cx="11094415" cy="777240"/>
          </a:xfrm>
          <a:prstGeom prst="rect">
            <a:avLst/>
          </a:prstGeom>
          <a:noFill/>
          <a:ln/>
        </p:spPr>
        <p:txBody>
          <a:bodyPr wrap="square" lIns="0" tIns="0" rIns="0" bIns="0" rtlCol="0" anchor="t"/>
          <a:lstStyle/>
          <a:p>
            <a:pPr algn="l" indent="0" marL="0">
              <a:buNone/>
            </a:pPr>
            <a:endParaRPr lang="en-US" sz="2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lIns="0" tIns="0" rIns="0" bIns="0" rtlCol="0" anchor="ctr"/>
          <a:lstStyle/>
          <a:p>
            <a:pPr indent="0" marL="0">
              <a:buNone/>
            </a:pPr>
            <a:r>
              <a:rPr lang="en-US" sz="1200" b="1" spc="200" kern="0" dirty="0">
                <a:solidFill>
                  <a:schemeClr val="accent5"/>
                </a:solidFill>
              </a:rPr>
              <a:t>LATAR BELAKANG  ·  20%</a:t>
            </a:r>
            <a:endParaRPr lang="en-US" sz="1200" dirty="0"/>
          </a:p>
        </p:txBody>
      </p:sp>
      <p:sp>
        <p:nvSpPr>
          <p:cNvPr id="3" name="Text 0"/>
          <p:cNvSpPr/>
          <p:nvPr>
            <p:ph idx="101" type="title" hasCustomPrompt="1"/>
          </p:nvPr>
        </p:nvSpPr>
        <p:spPr>
          <a:xfrm>
            <a:off x="548640" y="603504"/>
            <a:ext cx="11094415" cy="777240"/>
          </a:xfrm>
          <a:prstGeom prst="rect">
            <a:avLst/>
          </a:prstGeom>
          <a:noFill/>
          <a:ln/>
        </p:spPr>
        <p:txBody>
          <a:bodyPr wrap="square" lIns="0" tIns="0" rIns="0" bIns="0" rtlCol="0" anchor="t"/>
          <a:lstStyle/>
          <a:p>
            <a:pPr algn="l" indent="0" marL="0">
              <a:buNone/>
            </a:pPr>
            <a:r>
              <a:rPr lang="en-US" sz="2800" b="1" dirty="0">
                <a:solidFill>
                  <a:schemeClr val="tx2"/>
                </a:solidFill>
              </a:rPr>
              <a:t>Satu lembar disposisi hilang, dan tak ada yang tahu</a:t>
            </a:r>
            <a:endParaRPr lang="en-US" sz="2800" dirty="0"/>
          </a:p>
        </p:txBody>
      </p:sp>
      <p:sp>
        <p:nvSpPr>
          <p:cNvPr id="4" name="lembar1"/>
          <p:cNvSpPr/>
          <p:nvPr/>
        </p:nvSpPr>
        <p:spPr>
          <a:xfrm>
            <a:off x="548640" y="1691640"/>
            <a:ext cx="4480560" cy="1005840"/>
          </a:xfrm>
          <a:prstGeom prst="roundRect">
            <a:avLst>
              <a:gd name="adj" fmla="val 10909"/>
            </a:avLst>
          </a:prstGeom>
          <a:solidFill>
            <a:schemeClr val="bg2"/>
          </a:solidFill>
          <a:ln w="9525">
            <a:solidFill>
              <a:schemeClr val="bg2"/>
            </a:solidFill>
            <a:prstDash val="solid"/>
          </a:ln>
        </p:spPr>
      </p:sp>
      <p:sp>
        <p:nvSpPr>
          <p:cNvPr id="5" name="Shape 3"/>
          <p:cNvSpPr/>
          <p:nvPr/>
        </p:nvSpPr>
        <p:spPr>
          <a:xfrm>
            <a:off x="777240" y="1938528"/>
            <a:ext cx="512064" cy="512064"/>
          </a:xfrm>
          <a:prstGeom prst="ellipse">
            <a:avLst/>
          </a:prstGeom>
          <a:solidFill>
            <a:schemeClr val="accent3"/>
          </a:solidFill>
          <a:ln w="12700">
            <a:solidFill>
              <a:schemeClr val="accent3"/>
            </a:solidFill>
            <a:prstDash val="solid"/>
          </a:ln>
        </p:spPr>
      </p:sp>
      <p:sp>
        <p:nvSpPr>
          <p:cNvPr id="6" name="Text 4"/>
          <p:cNvSpPr txBox="1"/>
          <p:nvPr/>
        </p:nvSpPr>
        <p:spPr>
          <a:xfrm>
            <a:off x="777240" y="1938528"/>
            <a:ext cx="512064" cy="512064"/>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7" name="Text 5"/>
          <p:cNvSpPr txBox="1"/>
          <p:nvPr/>
        </p:nvSpPr>
        <p:spPr>
          <a:xfrm>
            <a:off x="1508760" y="1874520"/>
            <a:ext cx="3383280" cy="329184"/>
          </a:xfrm>
          <a:prstGeom prst="rect">
            <a:avLst/>
          </a:prstGeom>
          <a:noFill/>
          <a:ln/>
        </p:spPr>
        <p:txBody>
          <a:bodyPr wrap="square" lIns="0" tIns="0" rIns="0" bIns="0" rtlCol="0" anchor="t"/>
          <a:lstStyle/>
          <a:p>
            <a:pPr indent="0" marL="0">
              <a:buNone/>
            </a:pPr>
            <a:r>
              <a:rPr lang="en-US" sz="1600" b="1" dirty="0">
                <a:solidFill>
                  <a:schemeClr val="tx2"/>
                </a:solidFill>
              </a:rPr>
              <a:t>Disposisi 1</a:t>
            </a:r>
            <a:endParaRPr lang="en-US" sz="1600" dirty="0"/>
          </a:p>
        </p:txBody>
      </p:sp>
      <p:sp>
        <p:nvSpPr>
          <p:cNvPr id="8" name="Text 6"/>
          <p:cNvSpPr txBox="1"/>
          <p:nvPr/>
        </p:nvSpPr>
        <p:spPr>
          <a:xfrm>
            <a:off x="1508760" y="2221992"/>
            <a:ext cx="3383280" cy="310896"/>
          </a:xfrm>
          <a:prstGeom prst="rect">
            <a:avLst/>
          </a:prstGeom>
          <a:noFill/>
          <a:ln/>
        </p:spPr>
        <p:txBody>
          <a:bodyPr wrap="square" lIns="0" tIns="0" rIns="0" bIns="0" rtlCol="0" anchor="t"/>
          <a:lstStyle/>
          <a:p>
            <a:pPr indent="0" marL="0">
              <a:buNone/>
            </a:pPr>
            <a:r>
              <a:rPr lang="en-US" sz="1400" dirty="0">
                <a:solidFill>
                  <a:schemeClr val="accent5"/>
                </a:solidFill>
              </a:rPr>
              <a:t>Difoto, terkirim ke grup WA</a:t>
            </a:r>
            <a:endParaRPr lang="en-US" sz="1400" dirty="0"/>
          </a:p>
        </p:txBody>
      </p:sp>
      <p:sp>
        <p:nvSpPr>
          <p:cNvPr id="9" name="lembar2"/>
          <p:cNvSpPr/>
          <p:nvPr/>
        </p:nvSpPr>
        <p:spPr>
          <a:xfrm>
            <a:off x="548640" y="2898648"/>
            <a:ext cx="4480560" cy="1005840"/>
          </a:xfrm>
          <a:prstGeom prst="roundRect">
            <a:avLst>
              <a:gd name="adj" fmla="val 10909"/>
            </a:avLst>
          </a:prstGeom>
          <a:solidFill>
            <a:schemeClr val="bg2"/>
          </a:solidFill>
          <a:ln w="9525">
            <a:solidFill>
              <a:schemeClr val="bg2"/>
            </a:solidFill>
            <a:prstDash val="solid"/>
          </a:ln>
        </p:spPr>
      </p:sp>
      <p:sp>
        <p:nvSpPr>
          <p:cNvPr id="10" name="Shape 8"/>
          <p:cNvSpPr/>
          <p:nvPr/>
        </p:nvSpPr>
        <p:spPr>
          <a:xfrm>
            <a:off x="777240" y="3145536"/>
            <a:ext cx="512064" cy="512064"/>
          </a:xfrm>
          <a:prstGeom prst="ellipse">
            <a:avLst/>
          </a:prstGeom>
          <a:solidFill>
            <a:schemeClr val="accent3"/>
          </a:solidFill>
          <a:ln w="12700">
            <a:solidFill>
              <a:schemeClr val="accent3"/>
            </a:solidFill>
            <a:prstDash val="solid"/>
          </a:ln>
        </p:spPr>
      </p:sp>
      <p:sp>
        <p:nvSpPr>
          <p:cNvPr id="11" name="Text 9"/>
          <p:cNvSpPr txBox="1"/>
          <p:nvPr/>
        </p:nvSpPr>
        <p:spPr>
          <a:xfrm>
            <a:off x="777240" y="3145536"/>
            <a:ext cx="512064" cy="512064"/>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2" name="Text 10"/>
          <p:cNvSpPr txBox="1"/>
          <p:nvPr/>
        </p:nvSpPr>
        <p:spPr>
          <a:xfrm>
            <a:off x="1508760" y="3081528"/>
            <a:ext cx="3383280" cy="329184"/>
          </a:xfrm>
          <a:prstGeom prst="rect">
            <a:avLst/>
          </a:prstGeom>
          <a:noFill/>
          <a:ln/>
        </p:spPr>
        <p:txBody>
          <a:bodyPr wrap="square" lIns="0" tIns="0" rIns="0" bIns="0" rtlCol="0" anchor="t"/>
          <a:lstStyle/>
          <a:p>
            <a:pPr indent="0" marL="0">
              <a:buNone/>
            </a:pPr>
            <a:r>
              <a:rPr lang="en-US" sz="1600" b="1" dirty="0">
                <a:solidFill>
                  <a:schemeClr val="tx2"/>
                </a:solidFill>
              </a:rPr>
              <a:t>Disposisi 2</a:t>
            </a:r>
            <a:endParaRPr lang="en-US" sz="1600" dirty="0"/>
          </a:p>
        </p:txBody>
      </p:sp>
      <p:sp>
        <p:nvSpPr>
          <p:cNvPr id="13" name="Text 11"/>
          <p:cNvSpPr txBox="1"/>
          <p:nvPr/>
        </p:nvSpPr>
        <p:spPr>
          <a:xfrm>
            <a:off x="1508760" y="3429000"/>
            <a:ext cx="3383280" cy="310896"/>
          </a:xfrm>
          <a:prstGeom prst="rect">
            <a:avLst/>
          </a:prstGeom>
          <a:noFill/>
          <a:ln/>
        </p:spPr>
        <p:txBody>
          <a:bodyPr wrap="square" lIns="0" tIns="0" rIns="0" bIns="0" rtlCol="0" anchor="t"/>
          <a:lstStyle/>
          <a:p>
            <a:pPr indent="0" marL="0">
              <a:buNone/>
            </a:pPr>
            <a:r>
              <a:rPr lang="en-US" sz="1400" dirty="0">
                <a:solidFill>
                  <a:schemeClr val="accent5"/>
                </a:solidFill>
              </a:rPr>
              <a:t>Difoto, terkirim ke grup WA</a:t>
            </a:r>
            <a:endParaRPr lang="en-US" sz="1400" dirty="0"/>
          </a:p>
        </p:txBody>
      </p:sp>
      <p:sp>
        <p:nvSpPr>
          <p:cNvPr id="14" name="lembar3"/>
          <p:cNvSpPr/>
          <p:nvPr/>
        </p:nvSpPr>
        <p:spPr>
          <a:xfrm>
            <a:off x="548640" y="4105656"/>
            <a:ext cx="4480560" cy="1005840"/>
          </a:xfrm>
          <a:prstGeom prst="roundRect">
            <a:avLst>
              <a:gd name="adj" fmla="val 10909"/>
            </a:avLst>
          </a:prstGeom>
          <a:solidFill>
            <a:srgbClr val="FDECEC"/>
          </a:solidFill>
          <a:ln w="19050">
            <a:solidFill>
              <a:schemeClr val="accent4"/>
            </a:solidFill>
            <a:prstDash val="solid"/>
          </a:ln>
        </p:spPr>
      </p:sp>
      <p:sp>
        <p:nvSpPr>
          <p:cNvPr id="15" name="Shape 13"/>
          <p:cNvSpPr/>
          <p:nvPr/>
        </p:nvSpPr>
        <p:spPr>
          <a:xfrm>
            <a:off x="777240" y="4352544"/>
            <a:ext cx="512064" cy="512064"/>
          </a:xfrm>
          <a:prstGeom prst="ellipse">
            <a:avLst/>
          </a:prstGeom>
          <a:solidFill>
            <a:schemeClr val="accent4"/>
          </a:solidFill>
          <a:ln w="12700">
            <a:solidFill>
              <a:schemeClr val="accent4"/>
            </a:solidFill>
            <a:prstDash val="solid"/>
          </a:ln>
        </p:spPr>
      </p:sp>
      <p:sp>
        <p:nvSpPr>
          <p:cNvPr id="16" name="Text 14"/>
          <p:cNvSpPr txBox="1"/>
          <p:nvPr/>
        </p:nvSpPr>
        <p:spPr>
          <a:xfrm>
            <a:off x="777240" y="4352544"/>
            <a:ext cx="512064" cy="512064"/>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7" name="Text 15"/>
          <p:cNvSpPr txBox="1"/>
          <p:nvPr/>
        </p:nvSpPr>
        <p:spPr>
          <a:xfrm>
            <a:off x="1508760" y="4288536"/>
            <a:ext cx="3383280" cy="329184"/>
          </a:xfrm>
          <a:prstGeom prst="rect">
            <a:avLst/>
          </a:prstGeom>
          <a:noFill/>
          <a:ln/>
        </p:spPr>
        <p:txBody>
          <a:bodyPr wrap="square" lIns="0" tIns="0" rIns="0" bIns="0" rtlCol="0" anchor="t"/>
          <a:lstStyle/>
          <a:p>
            <a:pPr indent="0" marL="0">
              <a:buNone/>
            </a:pPr>
            <a:r>
              <a:rPr lang="en-US" sz="1600" b="1" dirty="0">
                <a:solidFill>
                  <a:schemeClr val="tx2"/>
                </a:solidFill>
              </a:rPr>
              <a:t>Disposisi 3</a:t>
            </a:r>
            <a:endParaRPr lang="en-US" sz="1600" dirty="0"/>
          </a:p>
        </p:txBody>
      </p:sp>
      <p:sp>
        <p:nvSpPr>
          <p:cNvPr id="18" name="Text 16"/>
          <p:cNvSpPr txBox="1"/>
          <p:nvPr/>
        </p:nvSpPr>
        <p:spPr>
          <a:xfrm>
            <a:off x="1508760" y="4636008"/>
            <a:ext cx="3383280" cy="310896"/>
          </a:xfrm>
          <a:prstGeom prst="rect">
            <a:avLst/>
          </a:prstGeom>
          <a:noFill/>
          <a:ln/>
        </p:spPr>
        <p:txBody>
          <a:bodyPr wrap="square" lIns="0" tIns="0" rIns="0" bIns="0" rtlCol="0" anchor="t"/>
          <a:lstStyle/>
          <a:p>
            <a:pPr indent="0" marL="0">
              <a:buNone/>
            </a:pPr>
            <a:r>
              <a:rPr lang="en-US" sz="1400" b="1" dirty="0">
                <a:solidFill>
                  <a:schemeClr val="accent4"/>
                </a:solidFill>
              </a:rPr>
              <a:t>Tertinggal — tidak ada yang tahu</a:t>
            </a:r>
            <a:endParaRPr lang="en-US" sz="1400" dirty="0"/>
          </a:p>
        </p:txBody>
      </p:sp>
      <p:sp>
        <p:nvSpPr>
          <p:cNvPr id="19" name="Text 17"/>
          <p:cNvSpPr txBox="1"/>
          <p:nvPr/>
        </p:nvSpPr>
        <p:spPr>
          <a:xfrm>
            <a:off x="548640" y="5440680"/>
            <a:ext cx="4480560" cy="640080"/>
          </a:xfrm>
          <a:prstGeom prst="rect">
            <a:avLst/>
          </a:prstGeom>
          <a:noFill/>
          <a:ln/>
        </p:spPr>
        <p:txBody>
          <a:bodyPr wrap="square" lIns="0" tIns="0" rIns="0" bIns="0" rtlCol="0" anchor="t"/>
          <a:lstStyle/>
          <a:p>
            <a:pPr indent="0" marL="0">
              <a:buNone/>
            </a:pPr>
            <a:r>
              <a:rPr lang="en-US" sz="1500" i="1" dirty="0">
                <a:solidFill>
                  <a:schemeClr val="tx2"/>
                </a:solidFill>
              </a:rPr>
              <a:t>Januari 2026 — semua pihak bekerja dengan benar. Rantainya yang rapuh.</a:t>
            </a:r>
            <a:endParaRPr lang="en-US" sz="1500" dirty="0"/>
          </a:p>
        </p:txBody>
      </p:sp>
      <p:sp>
        <p:nvSpPr>
          <p:cNvPr id="20" name="Text 18"/>
          <p:cNvSpPr txBox="1"/>
          <p:nvPr/>
        </p:nvSpPr>
        <p:spPr>
          <a:xfrm>
            <a:off x="5669280" y="1691640"/>
            <a:ext cx="5973775" cy="365760"/>
          </a:xfrm>
          <a:prstGeom prst="rect">
            <a:avLst/>
          </a:prstGeom>
          <a:noFill/>
          <a:ln/>
        </p:spPr>
        <p:txBody>
          <a:bodyPr wrap="square" lIns="0" tIns="0" rIns="0" bIns="0" rtlCol="0" anchor="t"/>
          <a:lstStyle/>
          <a:p>
            <a:pPr indent="0" marL="0">
              <a:buNone/>
            </a:pPr>
            <a:r>
              <a:rPr lang="en-US" sz="1800" b="1" dirty="0">
                <a:solidFill>
                  <a:schemeClr val="tx2"/>
                </a:solidFill>
              </a:rPr>
              <a:t>Cara kerja sebelum Maret 2026</a:t>
            </a:r>
            <a:endParaRPr lang="en-US" sz="1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669280" y="2148840"/>
          <a:ext cx="5973775" cy="914400"/>
        </p:xfrm>
        <a:graphic>
          <a:graphicData uri="http://schemas.openxmlformats.org/drawingml/2006/table">
            <a:tbl>
              <a:tblPr/>
              <a:tblGrid>
                <a:gridCol w="2331720"/>
                <a:gridCol w="3642055"/>
              </a:tblGrid>
              <a:tr h="566928">
                <a:tc>
                  <a:txBody>
                    <a:bodyPr/>
                    <a:lstStyle/>
                    <a:p>
                      <a:pPr indent="0" marL="0">
                        <a:buNone/>
                      </a:pPr>
                      <a:r>
                        <a:rPr lang="en-US" sz="1400" b="1" dirty="0">
                          <a:solidFill>
                            <a:schemeClr val="tx2"/>
                          </a:solidFill>
                          <a:latin typeface="Arial" pitchFamily="34" charset="0"/>
                          <a:ea typeface="Arial" pitchFamily="34" charset="-122"/>
                          <a:cs typeface="Arial" pitchFamily="34" charset="-120"/>
                        </a:rPr>
                        <a:t>Rencana kegiatan</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EEF2F8"/>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Disusun di spreadsheet, lalu dicetak</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EEF2F8"/>
                    </a:solidFill>
                  </a:tcPr>
                </a:tc>
              </a:tr>
              <a:tr h="566928">
                <a:tc>
                  <a:txBody>
                    <a:bodyPr/>
                    <a:lstStyle/>
                    <a:p>
                      <a:pPr indent="0" marL="0">
                        <a:buNone/>
                      </a:pPr>
                      <a:r>
                        <a:rPr lang="en-US" sz="1400" b="1" dirty="0">
                          <a:solidFill>
                            <a:schemeClr val="tx2"/>
                          </a:solidFill>
                          <a:latin typeface="Arial" pitchFamily="34" charset="0"/>
                          <a:ea typeface="Arial" pitchFamily="34" charset="-122"/>
                          <a:cs typeface="Arial" pitchFamily="34" charset="-120"/>
                        </a:rPr>
                        <a:t>Penelaahan</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±30 menit menjelang jam pulang (16.00)</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566928">
                <a:tc>
                  <a:txBody>
                    <a:bodyPr/>
                    <a:lstStyle/>
                    <a:p>
                      <a:pPr indent="0" marL="0">
                        <a:buNone/>
                      </a:pPr>
                      <a:r>
                        <a:rPr lang="en-US" sz="1400" b="1" dirty="0">
                          <a:solidFill>
                            <a:schemeClr val="tx2"/>
                          </a:solidFill>
                          <a:latin typeface="Arial" pitchFamily="34" charset="0"/>
                          <a:ea typeface="Arial" pitchFamily="34" charset="-122"/>
                          <a:cs typeface="Arial" pitchFamily="34" charset="-120"/>
                        </a:rPr>
                        <a:t>Disposisi</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EEF2F8"/>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Beredar sebagai foto di grup percakapan</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EEF2F8"/>
                    </a:solidFill>
                  </a:tcPr>
                </a:tc>
              </a:tr>
              <a:tr h="566928">
                <a:tc>
                  <a:txBody>
                    <a:bodyPr/>
                    <a:lstStyle/>
                    <a:p>
                      <a:pPr indent="0" marL="0">
                        <a:buNone/>
                      </a:pPr>
                      <a:r>
                        <a:rPr lang="en-US" sz="1400" b="1" dirty="0">
                          <a:solidFill>
                            <a:schemeClr val="tx2"/>
                          </a:solidFill>
                          <a:latin typeface="Arial" pitchFamily="34" charset="0"/>
                          <a:ea typeface="Arial" pitchFamily="34" charset="-122"/>
                          <a:cs typeface="Arial" pitchFamily="34" charset="-120"/>
                        </a:rPr>
                        <a:t>Penugasan petugas</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Bergantung pada ingatan</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566928">
                <a:tc>
                  <a:txBody>
                    <a:bodyPr/>
                    <a:lstStyle/>
                    <a:p>
                      <a:pPr indent="0" marL="0">
                        <a:buNone/>
                      </a:pPr>
                      <a:r>
                        <a:rPr lang="en-US" sz="1400" b="1" dirty="0">
                          <a:solidFill>
                            <a:schemeClr val="tx2"/>
                          </a:solidFill>
                          <a:latin typeface="Arial" pitchFamily="34" charset="0"/>
                          <a:ea typeface="Arial" pitchFamily="34" charset="-122"/>
                          <a:cs typeface="Arial" pitchFamily="34" charset="-120"/>
                        </a:rPr>
                        <a:t>Ketersediaan ruangan</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EEF2F8"/>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Hanya tercatat di papan tulis</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EEF2F8"/>
                    </a:solidFill>
                  </a:tcPr>
                </a:tc>
              </a:tr>
              <a:tr h="566928">
                <a:tc>
                  <a:txBody>
                    <a:bodyPr/>
                    <a:lstStyle/>
                    <a:p>
                      <a:pPr indent="0" marL="0">
                        <a:buNone/>
                      </a:pPr>
                      <a:r>
                        <a:rPr lang="en-US" sz="1400" b="1" dirty="0">
                          <a:solidFill>
                            <a:schemeClr val="tx2"/>
                          </a:solidFill>
                          <a:latin typeface="Arial" pitchFamily="34" charset="0"/>
                          <a:ea typeface="Arial" pitchFamily="34" charset="-122"/>
                          <a:cs typeface="Arial" pitchFamily="34" charset="-120"/>
                        </a:rPr>
                        <a:t>Dari undangan sampai tayang</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b="1" dirty="0">
                          <a:solidFill>
                            <a:schemeClr val="accent4"/>
                          </a:solidFill>
                          <a:latin typeface="Arial" pitchFamily="34" charset="0"/>
                          <a:ea typeface="Arial" pitchFamily="34" charset="-122"/>
                          <a:cs typeface="Arial" pitchFamily="34" charset="-120"/>
                        </a:rPr>
                        <a:t>Diperkirakan 18–24 jam</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lIns="0" tIns="0" rIns="0" bIns="0" rtlCol="0" anchor="ctr"/>
          <a:lstStyle/>
          <a:p>
            <a:pPr indent="0" marL="0">
              <a:buNone/>
            </a:pPr>
            <a:r>
              <a:rPr lang="en-US" sz="1200" b="1" spc="200" kern="0" dirty="0">
                <a:solidFill>
                  <a:schemeClr val="accent5"/>
                </a:solidFill>
              </a:rPr>
              <a:t>LATAR BELAKANG  ·  20%</a:t>
            </a:r>
            <a:endParaRPr lang="en-US" sz="1200" dirty="0"/>
          </a:p>
        </p:txBody>
      </p:sp>
      <p:sp>
        <p:nvSpPr>
          <p:cNvPr id="3" name="Text 0"/>
          <p:cNvSpPr/>
          <p:nvPr>
            <p:ph idx="101" type="title" hasCustomPrompt="1"/>
          </p:nvPr>
        </p:nvSpPr>
        <p:spPr>
          <a:xfrm>
            <a:off x="548640" y="603504"/>
            <a:ext cx="11094415" cy="777240"/>
          </a:xfrm>
          <a:prstGeom prst="rect">
            <a:avLst/>
          </a:prstGeom>
          <a:noFill/>
          <a:ln/>
        </p:spPr>
        <p:txBody>
          <a:bodyPr wrap="square" lIns="0" tIns="0" rIns="0" bIns="0" rtlCol="0" anchor="t"/>
          <a:lstStyle/>
          <a:p>
            <a:pPr algn="l" indent="0" marL="0">
              <a:buNone/>
            </a:pPr>
            <a:r>
              <a:rPr lang="en-US" sz="2800" b="1" dirty="0">
                <a:solidFill>
                  <a:schemeClr val="tx2"/>
                </a:solidFill>
              </a:rPr>
              <a:t>Akar masalahnya satu: tidak ada sumber data yang sahih</a:t>
            </a:r>
            <a:endParaRPr lang="en-US" sz="2800" dirty="0"/>
          </a:p>
        </p:txBody>
      </p:sp>
      <p:sp>
        <p:nvSpPr>
          <p:cNvPr id="4" name="akar"/>
          <p:cNvSpPr/>
          <p:nvPr/>
        </p:nvSpPr>
        <p:spPr>
          <a:xfrm>
            <a:off x="548640" y="2651760"/>
            <a:ext cx="3291840" cy="1737360"/>
          </a:xfrm>
          <a:prstGeom prst="roundRect">
            <a:avLst>
              <a:gd name="adj" fmla="val 6316"/>
            </a:avLst>
          </a:prstGeom>
          <a:solidFill>
            <a:schemeClr val="tx2"/>
          </a:solidFill>
          <a:ln w="9525">
            <a:solidFill>
              <a:schemeClr val="tx2"/>
            </a:solidFill>
            <a:prstDash val="solid"/>
          </a:ln>
        </p:spPr>
      </p:sp>
      <p:sp>
        <p:nvSpPr>
          <p:cNvPr id="5" name="Text 3"/>
          <p:cNvSpPr txBox="1"/>
          <p:nvPr/>
        </p:nvSpPr>
        <p:spPr>
          <a:xfrm>
            <a:off x="822960" y="2880360"/>
            <a:ext cx="27432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AKAR MASALAH</a:t>
            </a:r>
            <a:endParaRPr lang="en-US" sz="1200" dirty="0"/>
          </a:p>
        </p:txBody>
      </p:sp>
      <p:sp>
        <p:nvSpPr>
          <p:cNvPr id="6" name="Text 4"/>
          <p:cNvSpPr txBox="1"/>
          <p:nvPr/>
        </p:nvSpPr>
        <p:spPr>
          <a:xfrm>
            <a:off x="822960" y="3200400"/>
            <a:ext cx="2788920" cy="1097280"/>
          </a:xfrm>
          <a:prstGeom prst="rect">
            <a:avLst/>
          </a:prstGeom>
          <a:noFill/>
          <a:ln/>
        </p:spPr>
        <p:txBody>
          <a:bodyPr wrap="square" lIns="0" tIns="0" rIns="0" bIns="0" rtlCol="0" anchor="t"/>
          <a:lstStyle/>
          <a:p>
            <a:pPr indent="0" marL="0">
              <a:buNone/>
            </a:pPr>
            <a:r>
              <a:rPr lang="en-US" sz="1800" b="1" dirty="0">
                <a:solidFill>
                  <a:schemeClr val="bg1"/>
                </a:solidFill>
              </a:rPr>
              <a:t>Tidak ada satu sumber data yang dapat dirujuk semua pihak</a:t>
            </a:r>
            <a:endParaRPr lang="en-US" sz="1800" dirty="0"/>
          </a:p>
        </p:txBody>
      </p:sp>
      <p:sp>
        <p:nvSpPr>
          <p:cNvPr id="7" name="Shape 5"/>
          <p:cNvSpPr/>
          <p:nvPr/>
        </p:nvSpPr>
        <p:spPr>
          <a:xfrm>
            <a:off x="3840480" y="3520440"/>
            <a:ext cx="1005840" cy="-1591056"/>
          </a:xfrm>
          <a:prstGeom prst="line">
            <a:avLst/>
          </a:prstGeom>
          <a:noFill/>
          <a:ln w="22225">
            <a:solidFill>
              <a:schemeClr val="accent5"/>
            </a:solidFill>
            <a:prstDash val="solid"/>
            <a:tailEnd type="triangle"/>
          </a:ln>
        </p:spPr>
      </p:sp>
      <p:sp>
        <p:nvSpPr>
          <p:cNvPr id="8" name="cabang1"/>
          <p:cNvSpPr/>
          <p:nvPr/>
        </p:nvSpPr>
        <p:spPr>
          <a:xfrm>
            <a:off x="4892040" y="1627632"/>
            <a:ext cx="3931920" cy="603504"/>
          </a:xfrm>
          <a:prstGeom prst="roundRect">
            <a:avLst>
              <a:gd name="adj" fmla="val 18182"/>
            </a:avLst>
          </a:prstGeom>
          <a:solidFill>
            <a:schemeClr val="bg2"/>
          </a:solidFill>
          <a:ln w="9525">
            <a:solidFill>
              <a:schemeClr val="bg2"/>
            </a:solidFill>
            <a:prstDash val="solid"/>
          </a:ln>
        </p:spPr>
      </p:sp>
      <p:sp>
        <p:nvSpPr>
          <p:cNvPr id="9" name="Text 7"/>
          <p:cNvSpPr txBox="1"/>
          <p:nvPr/>
        </p:nvSpPr>
        <p:spPr>
          <a:xfrm>
            <a:off x="5093208" y="1627632"/>
            <a:ext cx="3611880" cy="603504"/>
          </a:xfrm>
          <a:prstGeom prst="rect">
            <a:avLst/>
          </a:prstGeom>
          <a:noFill/>
          <a:ln/>
        </p:spPr>
        <p:txBody>
          <a:bodyPr wrap="square" lIns="0" tIns="0" rIns="0" bIns="0" rtlCol="0" anchor="ctr"/>
          <a:lstStyle/>
          <a:p>
            <a:pPr indent="0" marL="0">
              <a:buNone/>
            </a:pPr>
            <a:r>
              <a:rPr lang="en-US" sz="1500" dirty="0">
                <a:solidFill>
                  <a:schemeClr val="tx1"/>
                </a:solidFill>
              </a:rPr>
              <a:t>Penelaahan terikat jendela ±30 menit</a:t>
            </a:r>
            <a:endParaRPr lang="en-US" sz="1500" dirty="0"/>
          </a:p>
        </p:txBody>
      </p:sp>
      <p:sp>
        <p:nvSpPr>
          <p:cNvPr id="10" name="Shape 8"/>
          <p:cNvSpPr/>
          <p:nvPr/>
        </p:nvSpPr>
        <p:spPr>
          <a:xfrm>
            <a:off x="3840480" y="3520440"/>
            <a:ext cx="1005840" cy="-804672"/>
          </a:xfrm>
          <a:prstGeom prst="line">
            <a:avLst/>
          </a:prstGeom>
          <a:noFill/>
          <a:ln w="22225">
            <a:solidFill>
              <a:schemeClr val="accent5"/>
            </a:solidFill>
            <a:prstDash val="solid"/>
            <a:tailEnd type="triangle"/>
          </a:ln>
        </p:spPr>
      </p:sp>
      <p:sp>
        <p:nvSpPr>
          <p:cNvPr id="11" name="cabang2"/>
          <p:cNvSpPr/>
          <p:nvPr/>
        </p:nvSpPr>
        <p:spPr>
          <a:xfrm>
            <a:off x="4892040" y="2414016"/>
            <a:ext cx="3931920" cy="603504"/>
          </a:xfrm>
          <a:prstGeom prst="roundRect">
            <a:avLst>
              <a:gd name="adj" fmla="val 18182"/>
            </a:avLst>
          </a:prstGeom>
          <a:solidFill>
            <a:schemeClr val="bg2"/>
          </a:solidFill>
          <a:ln w="9525">
            <a:solidFill>
              <a:schemeClr val="bg2"/>
            </a:solidFill>
            <a:prstDash val="solid"/>
          </a:ln>
        </p:spPr>
      </p:sp>
      <p:sp>
        <p:nvSpPr>
          <p:cNvPr id="12" name="Text 10"/>
          <p:cNvSpPr txBox="1"/>
          <p:nvPr/>
        </p:nvSpPr>
        <p:spPr>
          <a:xfrm>
            <a:off x="5093208" y="2414016"/>
            <a:ext cx="3611880" cy="603504"/>
          </a:xfrm>
          <a:prstGeom prst="rect">
            <a:avLst/>
          </a:prstGeom>
          <a:noFill/>
          <a:ln/>
        </p:spPr>
        <p:txBody>
          <a:bodyPr wrap="square" lIns="0" tIns="0" rIns="0" bIns="0" rtlCol="0" anchor="ctr"/>
          <a:lstStyle/>
          <a:p>
            <a:pPr indent="0" marL="0">
              <a:buNone/>
            </a:pPr>
            <a:r>
              <a:rPr lang="en-US" sz="1500" dirty="0">
                <a:solidFill>
                  <a:schemeClr val="tx1"/>
                </a:solidFill>
              </a:rPr>
              <a:t>Keputusan tidak meninggalkan jejak</a:t>
            </a:r>
            <a:endParaRPr lang="en-US" sz="1500" dirty="0"/>
          </a:p>
        </p:txBody>
      </p:sp>
      <p:sp>
        <p:nvSpPr>
          <p:cNvPr id="13" name="Shape 11"/>
          <p:cNvSpPr/>
          <p:nvPr/>
        </p:nvSpPr>
        <p:spPr>
          <a:xfrm>
            <a:off x="3840480" y="3520440"/>
            <a:ext cx="1005840" cy="-18288"/>
          </a:xfrm>
          <a:prstGeom prst="line">
            <a:avLst/>
          </a:prstGeom>
          <a:noFill/>
          <a:ln w="22225">
            <a:solidFill>
              <a:schemeClr val="accent5"/>
            </a:solidFill>
            <a:prstDash val="solid"/>
            <a:tailEnd type="triangle"/>
          </a:ln>
        </p:spPr>
      </p:sp>
      <p:sp>
        <p:nvSpPr>
          <p:cNvPr id="14" name="cabang3"/>
          <p:cNvSpPr/>
          <p:nvPr/>
        </p:nvSpPr>
        <p:spPr>
          <a:xfrm>
            <a:off x="4892040" y="3200400"/>
            <a:ext cx="3931920" cy="603504"/>
          </a:xfrm>
          <a:prstGeom prst="roundRect">
            <a:avLst>
              <a:gd name="adj" fmla="val 18182"/>
            </a:avLst>
          </a:prstGeom>
          <a:solidFill>
            <a:schemeClr val="bg2"/>
          </a:solidFill>
          <a:ln w="9525">
            <a:solidFill>
              <a:schemeClr val="bg2"/>
            </a:solidFill>
            <a:prstDash val="solid"/>
          </a:ln>
        </p:spPr>
      </p:sp>
      <p:sp>
        <p:nvSpPr>
          <p:cNvPr id="15" name="Text 13"/>
          <p:cNvSpPr txBox="1"/>
          <p:nvPr/>
        </p:nvSpPr>
        <p:spPr>
          <a:xfrm>
            <a:off x="5093208" y="3200400"/>
            <a:ext cx="3611880" cy="603504"/>
          </a:xfrm>
          <a:prstGeom prst="rect">
            <a:avLst/>
          </a:prstGeom>
          <a:noFill/>
          <a:ln/>
        </p:spPr>
        <p:txBody>
          <a:bodyPr wrap="square" lIns="0" tIns="0" rIns="0" bIns="0" rtlCol="0" anchor="ctr"/>
          <a:lstStyle/>
          <a:p>
            <a:pPr indent="0" marL="0">
              <a:buNone/>
            </a:pPr>
            <a:r>
              <a:rPr lang="en-US" sz="1500" dirty="0">
                <a:solidFill>
                  <a:schemeClr val="tx1"/>
                </a:solidFill>
              </a:rPr>
              <a:t>Beberapa versi cetakan beredar bersamaan</a:t>
            </a:r>
            <a:endParaRPr lang="en-US" sz="1500" dirty="0"/>
          </a:p>
        </p:txBody>
      </p:sp>
      <p:sp>
        <p:nvSpPr>
          <p:cNvPr id="16" name="Shape 14"/>
          <p:cNvSpPr/>
          <p:nvPr/>
        </p:nvSpPr>
        <p:spPr>
          <a:xfrm>
            <a:off x="3840480" y="3520440"/>
            <a:ext cx="1005840" cy="768096"/>
          </a:xfrm>
          <a:prstGeom prst="line">
            <a:avLst/>
          </a:prstGeom>
          <a:noFill/>
          <a:ln w="22225">
            <a:solidFill>
              <a:schemeClr val="accent5"/>
            </a:solidFill>
            <a:prstDash val="solid"/>
            <a:tailEnd type="triangle"/>
          </a:ln>
        </p:spPr>
      </p:sp>
      <p:sp>
        <p:nvSpPr>
          <p:cNvPr id="17" name="cabang4"/>
          <p:cNvSpPr/>
          <p:nvPr/>
        </p:nvSpPr>
        <p:spPr>
          <a:xfrm>
            <a:off x="4892040" y="3986784"/>
            <a:ext cx="3931920" cy="603504"/>
          </a:xfrm>
          <a:prstGeom prst="roundRect">
            <a:avLst>
              <a:gd name="adj" fmla="val 18182"/>
            </a:avLst>
          </a:prstGeom>
          <a:solidFill>
            <a:schemeClr val="bg2"/>
          </a:solidFill>
          <a:ln w="9525">
            <a:solidFill>
              <a:schemeClr val="bg2"/>
            </a:solidFill>
            <a:prstDash val="solid"/>
          </a:ln>
        </p:spPr>
      </p:sp>
      <p:sp>
        <p:nvSpPr>
          <p:cNvPr id="18" name="Text 16"/>
          <p:cNvSpPr txBox="1"/>
          <p:nvPr/>
        </p:nvSpPr>
        <p:spPr>
          <a:xfrm>
            <a:off x="5093208" y="3986784"/>
            <a:ext cx="3611880" cy="603504"/>
          </a:xfrm>
          <a:prstGeom prst="rect">
            <a:avLst/>
          </a:prstGeom>
          <a:noFill/>
          <a:ln/>
        </p:spPr>
        <p:txBody>
          <a:bodyPr wrap="square" lIns="0" tIns="0" rIns="0" bIns="0" rtlCol="0" anchor="ctr"/>
          <a:lstStyle/>
          <a:p>
            <a:pPr indent="0" marL="0">
              <a:buNone/>
            </a:pPr>
            <a:r>
              <a:rPr lang="en-US" sz="1500" dirty="0">
                <a:solidFill>
                  <a:schemeClr val="tx1"/>
                </a:solidFill>
              </a:rPr>
              <a:t>Pengetahuan kerja melekat pada orang</a:t>
            </a:r>
            <a:endParaRPr lang="en-US" sz="1500" dirty="0"/>
          </a:p>
        </p:txBody>
      </p:sp>
      <p:sp>
        <p:nvSpPr>
          <p:cNvPr id="19" name="Shape 17"/>
          <p:cNvSpPr/>
          <p:nvPr/>
        </p:nvSpPr>
        <p:spPr>
          <a:xfrm>
            <a:off x="3840480" y="3520440"/>
            <a:ext cx="1005840" cy="1554480"/>
          </a:xfrm>
          <a:prstGeom prst="line">
            <a:avLst/>
          </a:prstGeom>
          <a:noFill/>
          <a:ln w="22225">
            <a:solidFill>
              <a:schemeClr val="accent5"/>
            </a:solidFill>
            <a:prstDash val="solid"/>
            <a:tailEnd type="triangle"/>
          </a:ln>
        </p:spPr>
      </p:sp>
      <p:sp>
        <p:nvSpPr>
          <p:cNvPr id="20" name="cabang5"/>
          <p:cNvSpPr/>
          <p:nvPr/>
        </p:nvSpPr>
        <p:spPr>
          <a:xfrm>
            <a:off x="4892040" y="4773168"/>
            <a:ext cx="3931920" cy="603504"/>
          </a:xfrm>
          <a:prstGeom prst="roundRect">
            <a:avLst>
              <a:gd name="adj" fmla="val 18182"/>
            </a:avLst>
          </a:prstGeom>
          <a:solidFill>
            <a:schemeClr val="bg2"/>
          </a:solidFill>
          <a:ln w="9525">
            <a:solidFill>
              <a:schemeClr val="bg2"/>
            </a:solidFill>
            <a:prstDash val="solid"/>
          </a:ln>
        </p:spPr>
      </p:sp>
      <p:sp>
        <p:nvSpPr>
          <p:cNvPr id="21" name="Text 19"/>
          <p:cNvSpPr txBox="1"/>
          <p:nvPr/>
        </p:nvSpPr>
        <p:spPr>
          <a:xfrm>
            <a:off x="5093208" y="4773168"/>
            <a:ext cx="3611880" cy="603504"/>
          </a:xfrm>
          <a:prstGeom prst="rect">
            <a:avLst/>
          </a:prstGeom>
          <a:noFill/>
          <a:ln/>
        </p:spPr>
        <p:txBody>
          <a:bodyPr wrap="square" lIns="0" tIns="0" rIns="0" bIns="0" rtlCol="0" anchor="ctr"/>
          <a:lstStyle/>
          <a:p>
            <a:pPr indent="0" marL="0">
              <a:buNone/>
            </a:pPr>
            <a:r>
              <a:rPr lang="en-US" sz="1500" dirty="0">
                <a:solidFill>
                  <a:schemeClr val="tx1"/>
                </a:solidFill>
              </a:rPr>
              <a:t>Kanal publik tidak dapat ditelusuri</a:t>
            </a:r>
            <a:endParaRPr lang="en-US" sz="1500" dirty="0"/>
          </a:p>
        </p:txBody>
      </p:sp>
      <p:sp>
        <p:nvSpPr>
          <p:cNvPr id="22" name="penjaringan"/>
          <p:cNvSpPr/>
          <p:nvPr/>
        </p:nvSpPr>
        <p:spPr>
          <a:xfrm>
            <a:off x="9098280" y="1627632"/>
            <a:ext cx="2544775" cy="2926080"/>
          </a:xfrm>
          <a:prstGeom prst="roundRect">
            <a:avLst>
              <a:gd name="adj" fmla="val 4312"/>
            </a:avLst>
          </a:prstGeom>
          <a:solidFill>
            <a:srgbClr val="FFFFFF"/>
          </a:solidFill>
          <a:ln w="9525">
            <a:solidFill>
              <a:schemeClr val="accent6"/>
            </a:solidFill>
            <a:prstDash val="solid"/>
          </a:ln>
        </p:spPr>
      </p:sp>
      <p:sp>
        <p:nvSpPr>
          <p:cNvPr id="23" name="Text 21"/>
          <p:cNvSpPr txBox="1"/>
          <p:nvPr/>
        </p:nvSpPr>
        <p:spPr>
          <a:xfrm>
            <a:off x="9299448" y="1810512"/>
            <a:ext cx="2142439" cy="640080"/>
          </a:xfrm>
          <a:prstGeom prst="rect">
            <a:avLst/>
          </a:prstGeom>
          <a:noFill/>
          <a:ln/>
        </p:spPr>
        <p:txBody>
          <a:bodyPr wrap="square" lIns="0" tIns="0" rIns="0" bIns="0" rtlCol="0" anchor="t"/>
          <a:lstStyle/>
          <a:p>
            <a:pPr indent="0" marL="0">
              <a:buNone/>
            </a:pPr>
            <a:r>
              <a:rPr lang="en-US" sz="1500" b="1" dirty="0">
                <a:solidFill>
                  <a:schemeClr val="tx2"/>
                </a:solidFill>
              </a:rPr>
              <a:t>Ide dijaring dari pekerjaan sehari-hari</a:t>
            </a:r>
            <a:endParaRPr lang="en-US" sz="1500" dirty="0"/>
          </a:p>
        </p:txBody>
      </p:sp>
      <p:sp>
        <p:nvSpPr>
          <p:cNvPr id="24" name="Text 22"/>
          <p:cNvSpPr txBox="1"/>
          <p:nvPr/>
        </p:nvSpPr>
        <p:spPr>
          <a:xfrm>
            <a:off x="9299448" y="2560320"/>
            <a:ext cx="2142439" cy="25603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Banyak pintu masuk informasi agenda</a:t>
            </a:r>
            <a:endParaRPr lang="en-US" sz="1400" dirty="0"/>
          </a:p>
          <a:p>
            <a:pPr marL="342900" indent="-342900">
              <a:spcAft>
                <a:spcPts val="800"/>
              </a:spcAft>
              <a:buSzPct val="100000"/>
              <a:buChar char="•"/>
            </a:pPr>
            <a:r>
              <a:rPr lang="en-US" sz="1400" dirty="0">
                <a:solidFill>
                  <a:schemeClr val="tx1"/>
                </a:solidFill>
              </a:rPr>
              <a:t>Peristiwa Januari 2026</a:t>
            </a:r>
            <a:endParaRPr lang="en-US" sz="1400" dirty="0"/>
          </a:p>
          <a:p>
            <a:pPr marL="342900" indent="-342900">
              <a:spcAft>
                <a:spcPts val="800"/>
              </a:spcAft>
              <a:buSzPct val="100000"/>
              <a:buChar char="•"/>
            </a:pPr>
            <a:r>
              <a:rPr lang="en-US" sz="1400" dirty="0">
                <a:solidFill>
                  <a:schemeClr val="tx1"/>
                </a:solidFill>
              </a:rPr>
              <a:t>Telaah bersama seluruh Bagian Prokopim</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lIns="0" tIns="0" rIns="0" bIns="0" rtlCol="0" anchor="ctr"/>
          <a:lstStyle/>
          <a:p>
            <a:pPr indent="0" marL="0">
              <a:buNone/>
            </a:pPr>
            <a:r>
              <a:rPr lang="en-US" sz="1200" b="1" spc="200" kern="0" dirty="0">
                <a:solidFill>
                  <a:schemeClr val="accent5"/>
                </a:solidFill>
              </a:rPr>
              <a:t>TEROBOSAN INOVASI  ·  20%</a:t>
            </a:r>
            <a:endParaRPr lang="en-US" sz="1200" dirty="0"/>
          </a:p>
        </p:txBody>
      </p:sp>
      <p:sp>
        <p:nvSpPr>
          <p:cNvPr id="3" name="Text 0"/>
          <p:cNvSpPr/>
          <p:nvPr>
            <p:ph idx="101" type="title" hasCustomPrompt="1"/>
          </p:nvPr>
        </p:nvSpPr>
        <p:spPr>
          <a:xfrm>
            <a:off x="548640" y="603504"/>
            <a:ext cx="11094415" cy="777240"/>
          </a:xfrm>
          <a:prstGeom prst="rect">
            <a:avLst/>
          </a:prstGeom>
          <a:noFill/>
          <a:ln/>
        </p:spPr>
        <p:txBody>
          <a:bodyPr wrap="square" lIns="0" tIns="0" rIns="0" bIns="0" rtlCol="0" anchor="t"/>
          <a:lstStyle/>
          <a:p>
            <a:pPr algn="l" indent="0" marL="0">
              <a:buNone/>
            </a:pPr>
            <a:r>
              <a:rPr lang="en-US" sz="2800" b="1" dirty="0">
                <a:solidFill>
                  <a:schemeClr val="tx2"/>
                </a:solidFill>
              </a:rPr>
              <a:t>Bukan menambah pengawasan, tetapi mengganti rantainya</a:t>
            </a:r>
            <a:endParaRPr lang="en-US" sz="2800" dirty="0"/>
          </a:p>
        </p:txBody>
      </p:sp>
      <p:sp>
        <p:nvSpPr>
          <p:cNvPr id="4" name="pilihan1"/>
          <p:cNvSpPr/>
          <p:nvPr/>
        </p:nvSpPr>
        <p:spPr>
          <a:xfrm>
            <a:off x="548640" y="1600200"/>
            <a:ext cx="2602154" cy="2011680"/>
          </a:xfrm>
          <a:prstGeom prst="roundRect">
            <a:avLst>
              <a:gd name="adj" fmla="val 5455"/>
            </a:avLst>
          </a:prstGeom>
          <a:solidFill>
            <a:schemeClr val="bg2"/>
          </a:solidFill>
          <a:ln w="9525">
            <a:solidFill>
              <a:schemeClr val="bg2"/>
            </a:solidFill>
            <a:prstDash val="solid"/>
          </a:ln>
        </p:spPr>
      </p:sp>
      <p:sp>
        <p:nvSpPr>
          <p:cNvPr id="5" name="Shape 3"/>
          <p:cNvSpPr/>
          <p:nvPr/>
        </p:nvSpPr>
        <p:spPr>
          <a:xfrm>
            <a:off x="749808" y="1783080"/>
            <a:ext cx="384048" cy="384048"/>
          </a:xfrm>
          <a:prstGeom prst="ellipse">
            <a:avLst/>
          </a:prstGeom>
          <a:solidFill>
            <a:schemeClr val="accent6"/>
          </a:solidFill>
          <a:ln w="12700">
            <a:solidFill>
              <a:schemeClr val="accent6"/>
            </a:solidFill>
            <a:prstDash val="solid"/>
          </a:ln>
        </p:spPr>
      </p:sp>
      <p:sp>
        <p:nvSpPr>
          <p:cNvPr id="6" name="Text 4"/>
          <p:cNvSpPr txBox="1"/>
          <p:nvPr/>
        </p:nvSpPr>
        <p:spPr>
          <a:xfrm>
            <a:off x="749808" y="1783080"/>
            <a:ext cx="384048" cy="384048"/>
          </a:xfrm>
          <a:prstGeom prst="rect">
            <a:avLst/>
          </a:prstGeom>
          <a:noFill/>
          <a:ln/>
        </p:spPr>
        <p:txBody>
          <a:bodyPr wrap="square" lIns="0" tIns="0" rIns="0" bIns="0" rtlCol="0" anchor="ctr"/>
          <a:lstStyle/>
          <a:p>
            <a:pPr algn="ctr" indent="0" marL="0">
              <a:buNone/>
            </a:pPr>
            <a:r>
              <a:rPr lang="en-US" sz="1400" b="1" dirty="0">
                <a:solidFill>
                  <a:schemeClr val="accent5"/>
                </a:solidFill>
              </a:rPr>
              <a:t>✗</a:t>
            </a:r>
            <a:endParaRPr lang="en-US" sz="1400" dirty="0"/>
          </a:p>
        </p:txBody>
      </p:sp>
      <p:sp>
        <p:nvSpPr>
          <p:cNvPr id="7" name="Text 5"/>
          <p:cNvSpPr txBox="1"/>
          <p:nvPr/>
        </p:nvSpPr>
        <p:spPr>
          <a:xfrm>
            <a:off x="749808" y="2240280"/>
            <a:ext cx="2199818" cy="777240"/>
          </a:xfrm>
          <a:prstGeom prst="rect">
            <a:avLst/>
          </a:prstGeom>
          <a:noFill/>
          <a:ln/>
        </p:spPr>
        <p:txBody>
          <a:bodyPr wrap="square" lIns="0" tIns="0" rIns="0" bIns="0" rtlCol="0" anchor="t"/>
          <a:lstStyle/>
          <a:p>
            <a:pPr indent="0" marL="0">
              <a:buNone/>
            </a:pPr>
            <a:r>
              <a:rPr lang="en-US" sz="1400" b="1" dirty="0">
                <a:solidFill>
                  <a:schemeClr val="tx2"/>
                </a:solidFill>
              </a:rPr>
              <a:t>Menambah pengawasan dan pengingat manual</a:t>
            </a:r>
            <a:endParaRPr lang="en-US" sz="1400" dirty="0"/>
          </a:p>
        </p:txBody>
      </p:sp>
      <p:sp>
        <p:nvSpPr>
          <p:cNvPr id="8" name="Text 6"/>
          <p:cNvSpPr txBox="1"/>
          <p:nvPr/>
        </p:nvSpPr>
        <p:spPr>
          <a:xfrm>
            <a:off x="749808" y="3090672"/>
            <a:ext cx="2199818" cy="457200"/>
          </a:xfrm>
          <a:prstGeom prst="rect">
            <a:avLst/>
          </a:prstGeom>
          <a:noFill/>
          <a:ln/>
        </p:spPr>
        <p:txBody>
          <a:bodyPr wrap="square" lIns="0" tIns="0" rIns="0" bIns="0" rtlCol="0" anchor="t"/>
          <a:lstStyle/>
          <a:p>
            <a:pPr indent="0" marL="0">
              <a:buNone/>
            </a:pPr>
            <a:r>
              <a:rPr lang="en-US" sz="1200" dirty="0">
                <a:solidFill>
                  <a:schemeClr val="accent5"/>
                </a:solidFill>
              </a:rPr>
              <a:t>Tidak menyentuh akar masalah</a:t>
            </a:r>
            <a:endParaRPr lang="en-US" sz="1200" dirty="0"/>
          </a:p>
        </p:txBody>
      </p:sp>
      <p:sp>
        <p:nvSpPr>
          <p:cNvPr id="9" name="pilihan2"/>
          <p:cNvSpPr/>
          <p:nvPr/>
        </p:nvSpPr>
        <p:spPr>
          <a:xfrm>
            <a:off x="3379394" y="1600200"/>
            <a:ext cx="2602154" cy="2011680"/>
          </a:xfrm>
          <a:prstGeom prst="roundRect">
            <a:avLst>
              <a:gd name="adj" fmla="val 5455"/>
            </a:avLst>
          </a:prstGeom>
          <a:solidFill>
            <a:schemeClr val="bg2"/>
          </a:solidFill>
          <a:ln w="9525">
            <a:solidFill>
              <a:schemeClr val="bg2"/>
            </a:solidFill>
            <a:prstDash val="solid"/>
          </a:ln>
        </p:spPr>
      </p:sp>
      <p:sp>
        <p:nvSpPr>
          <p:cNvPr id="10" name="Shape 8"/>
          <p:cNvSpPr/>
          <p:nvPr/>
        </p:nvSpPr>
        <p:spPr>
          <a:xfrm>
            <a:off x="3580562" y="1783080"/>
            <a:ext cx="384048" cy="384048"/>
          </a:xfrm>
          <a:prstGeom prst="ellipse">
            <a:avLst/>
          </a:prstGeom>
          <a:solidFill>
            <a:schemeClr val="accent6"/>
          </a:solidFill>
          <a:ln w="12700">
            <a:solidFill>
              <a:schemeClr val="accent6"/>
            </a:solidFill>
            <a:prstDash val="solid"/>
          </a:ln>
        </p:spPr>
      </p:sp>
      <p:sp>
        <p:nvSpPr>
          <p:cNvPr id="11" name="Text 9"/>
          <p:cNvSpPr txBox="1"/>
          <p:nvPr/>
        </p:nvSpPr>
        <p:spPr>
          <a:xfrm>
            <a:off x="3580562" y="1783080"/>
            <a:ext cx="384048" cy="384048"/>
          </a:xfrm>
          <a:prstGeom prst="rect">
            <a:avLst/>
          </a:prstGeom>
          <a:noFill/>
          <a:ln/>
        </p:spPr>
        <p:txBody>
          <a:bodyPr wrap="square" lIns="0" tIns="0" rIns="0" bIns="0" rtlCol="0" anchor="ctr"/>
          <a:lstStyle/>
          <a:p>
            <a:pPr algn="ctr" indent="0" marL="0">
              <a:buNone/>
            </a:pPr>
            <a:r>
              <a:rPr lang="en-US" sz="1400" b="1" dirty="0">
                <a:solidFill>
                  <a:schemeClr val="accent5"/>
                </a:solidFill>
              </a:rPr>
              <a:t>✗</a:t>
            </a:r>
            <a:endParaRPr lang="en-US" sz="1400" dirty="0"/>
          </a:p>
        </p:txBody>
      </p:sp>
      <p:sp>
        <p:nvSpPr>
          <p:cNvPr id="12" name="Text 10"/>
          <p:cNvSpPr txBox="1"/>
          <p:nvPr/>
        </p:nvSpPr>
        <p:spPr>
          <a:xfrm>
            <a:off x="3580562" y="2240280"/>
            <a:ext cx="2199818" cy="777240"/>
          </a:xfrm>
          <a:prstGeom prst="rect">
            <a:avLst/>
          </a:prstGeom>
          <a:noFill/>
          <a:ln/>
        </p:spPr>
        <p:txBody>
          <a:bodyPr wrap="square" lIns="0" tIns="0" rIns="0" bIns="0" rtlCol="0" anchor="t"/>
          <a:lstStyle/>
          <a:p>
            <a:pPr indent="0" marL="0">
              <a:buNone/>
            </a:pPr>
            <a:r>
              <a:rPr lang="en-US" sz="1400" b="1" dirty="0">
                <a:solidFill>
                  <a:schemeClr val="tx2"/>
                </a:solidFill>
              </a:rPr>
              <a:t>Merapikan spreadsheet bersama</a:t>
            </a:r>
            <a:endParaRPr lang="en-US" sz="1400" dirty="0"/>
          </a:p>
        </p:txBody>
      </p:sp>
      <p:sp>
        <p:nvSpPr>
          <p:cNvPr id="13" name="Text 11"/>
          <p:cNvSpPr txBox="1"/>
          <p:nvPr/>
        </p:nvSpPr>
        <p:spPr>
          <a:xfrm>
            <a:off x="3580562" y="3090672"/>
            <a:ext cx="2199818" cy="457200"/>
          </a:xfrm>
          <a:prstGeom prst="rect">
            <a:avLst/>
          </a:prstGeom>
          <a:noFill/>
          <a:ln/>
        </p:spPr>
        <p:txBody>
          <a:bodyPr wrap="square" lIns="0" tIns="0" rIns="0" bIns="0" rtlCol="0" anchor="t"/>
          <a:lstStyle/>
          <a:p>
            <a:pPr indent="0" marL="0">
              <a:buNone/>
            </a:pPr>
            <a:r>
              <a:rPr lang="en-US" sz="1200" dirty="0">
                <a:solidFill>
                  <a:schemeClr val="accent5"/>
                </a:solidFill>
              </a:rPr>
              <a:t>Tetap banyak versi, tanpa jejak keputusan</a:t>
            </a:r>
            <a:endParaRPr lang="en-US" sz="1200" dirty="0"/>
          </a:p>
        </p:txBody>
      </p:sp>
      <p:sp>
        <p:nvSpPr>
          <p:cNvPr id="14" name="pilihan3"/>
          <p:cNvSpPr/>
          <p:nvPr/>
        </p:nvSpPr>
        <p:spPr>
          <a:xfrm>
            <a:off x="6210148" y="1600200"/>
            <a:ext cx="2602154" cy="2011680"/>
          </a:xfrm>
          <a:prstGeom prst="roundRect">
            <a:avLst>
              <a:gd name="adj" fmla="val 5455"/>
            </a:avLst>
          </a:prstGeom>
          <a:solidFill>
            <a:schemeClr val="bg2"/>
          </a:solidFill>
          <a:ln w="9525">
            <a:solidFill>
              <a:schemeClr val="bg2"/>
            </a:solidFill>
            <a:prstDash val="solid"/>
          </a:ln>
        </p:spPr>
      </p:sp>
      <p:sp>
        <p:nvSpPr>
          <p:cNvPr id="15" name="Shape 13"/>
          <p:cNvSpPr/>
          <p:nvPr/>
        </p:nvSpPr>
        <p:spPr>
          <a:xfrm>
            <a:off x="6411316" y="1783080"/>
            <a:ext cx="384048" cy="384048"/>
          </a:xfrm>
          <a:prstGeom prst="ellipse">
            <a:avLst/>
          </a:prstGeom>
          <a:solidFill>
            <a:schemeClr val="accent6"/>
          </a:solidFill>
          <a:ln w="12700">
            <a:solidFill>
              <a:schemeClr val="accent6"/>
            </a:solidFill>
            <a:prstDash val="solid"/>
          </a:ln>
        </p:spPr>
      </p:sp>
      <p:sp>
        <p:nvSpPr>
          <p:cNvPr id="16" name="Text 14"/>
          <p:cNvSpPr txBox="1"/>
          <p:nvPr/>
        </p:nvSpPr>
        <p:spPr>
          <a:xfrm>
            <a:off x="6411316" y="1783080"/>
            <a:ext cx="384048" cy="384048"/>
          </a:xfrm>
          <a:prstGeom prst="rect">
            <a:avLst/>
          </a:prstGeom>
          <a:noFill/>
          <a:ln/>
        </p:spPr>
        <p:txBody>
          <a:bodyPr wrap="square" lIns="0" tIns="0" rIns="0" bIns="0" rtlCol="0" anchor="ctr"/>
          <a:lstStyle/>
          <a:p>
            <a:pPr algn="ctr" indent="0" marL="0">
              <a:buNone/>
            </a:pPr>
            <a:r>
              <a:rPr lang="en-US" sz="1400" b="1" dirty="0">
                <a:solidFill>
                  <a:schemeClr val="accent5"/>
                </a:solidFill>
              </a:rPr>
              <a:t>✗</a:t>
            </a:r>
            <a:endParaRPr lang="en-US" sz="1400" dirty="0"/>
          </a:p>
        </p:txBody>
      </p:sp>
      <p:sp>
        <p:nvSpPr>
          <p:cNvPr id="17" name="Text 15"/>
          <p:cNvSpPr txBox="1"/>
          <p:nvPr/>
        </p:nvSpPr>
        <p:spPr>
          <a:xfrm>
            <a:off x="6411316" y="2240280"/>
            <a:ext cx="2199818" cy="777240"/>
          </a:xfrm>
          <a:prstGeom prst="rect">
            <a:avLst/>
          </a:prstGeom>
          <a:noFill/>
          <a:ln/>
        </p:spPr>
        <p:txBody>
          <a:bodyPr wrap="square" lIns="0" tIns="0" rIns="0" bIns="0" rtlCol="0" anchor="t"/>
          <a:lstStyle/>
          <a:p>
            <a:pPr indent="0" marL="0">
              <a:buNone/>
            </a:pPr>
            <a:r>
              <a:rPr lang="en-US" sz="1400" b="1" dirty="0">
                <a:solidFill>
                  <a:schemeClr val="tx2"/>
                </a:solidFill>
              </a:rPr>
              <a:t>Membeli aplikasi jadi</a:t>
            </a:r>
            <a:endParaRPr lang="en-US" sz="1400" dirty="0"/>
          </a:p>
        </p:txBody>
      </p:sp>
      <p:sp>
        <p:nvSpPr>
          <p:cNvPr id="18" name="Text 16"/>
          <p:cNvSpPr txBox="1"/>
          <p:nvPr/>
        </p:nvSpPr>
        <p:spPr>
          <a:xfrm>
            <a:off x="6411316" y="3090672"/>
            <a:ext cx="2199818" cy="457200"/>
          </a:xfrm>
          <a:prstGeom prst="rect">
            <a:avLst/>
          </a:prstGeom>
          <a:noFill/>
          <a:ln/>
        </p:spPr>
        <p:txBody>
          <a:bodyPr wrap="square" lIns="0" tIns="0" rIns="0" bIns="0" rtlCol="0" anchor="t"/>
          <a:lstStyle/>
          <a:p>
            <a:pPr indent="0" marL="0">
              <a:buNone/>
            </a:pPr>
            <a:r>
              <a:rPr lang="en-US" sz="1200" dirty="0">
                <a:solidFill>
                  <a:schemeClr val="accent5"/>
                </a:solidFill>
              </a:rPr>
              <a:t>Butuh anggaran; alur keprotokolan sangat khas</a:t>
            </a:r>
            <a:endParaRPr lang="en-US" sz="1200" dirty="0"/>
          </a:p>
        </p:txBody>
      </p:sp>
      <p:sp>
        <p:nvSpPr>
          <p:cNvPr id="19" name="pilihan4"/>
          <p:cNvSpPr/>
          <p:nvPr/>
        </p:nvSpPr>
        <p:spPr>
          <a:xfrm>
            <a:off x="9040901" y="1600200"/>
            <a:ext cx="2602154" cy="2011680"/>
          </a:xfrm>
          <a:prstGeom prst="roundRect">
            <a:avLst>
              <a:gd name="adj" fmla="val 5455"/>
            </a:avLst>
          </a:prstGeom>
          <a:solidFill>
            <a:schemeClr val="tx2"/>
          </a:solidFill>
          <a:ln w="9525">
            <a:solidFill>
              <a:schemeClr val="tx2"/>
            </a:solidFill>
            <a:prstDash val="solid"/>
          </a:ln>
          <a:effectLst>
            <a:outerShdw sx="100000" sy="100000" kx="0" ky="0" algn="bl" rotWithShape="0" blurRad="101600" dist="25400" dir="5400000">
              <a:srgbClr val="0A1628">
                <a:alpha val="12000"/>
              </a:srgbClr>
            </a:outerShdw>
          </a:effectLst>
        </p:spPr>
      </p:sp>
      <p:sp>
        <p:nvSpPr>
          <p:cNvPr id="20" name="Shape 18"/>
          <p:cNvSpPr/>
          <p:nvPr/>
        </p:nvSpPr>
        <p:spPr>
          <a:xfrm>
            <a:off x="9242069" y="1783080"/>
            <a:ext cx="384048" cy="384048"/>
          </a:xfrm>
          <a:prstGeom prst="ellipse">
            <a:avLst/>
          </a:prstGeom>
          <a:solidFill>
            <a:schemeClr val="accent1"/>
          </a:solidFill>
          <a:ln w="12700">
            <a:solidFill>
              <a:schemeClr val="accent1"/>
            </a:solidFill>
            <a:prstDash val="solid"/>
          </a:ln>
        </p:spPr>
      </p:sp>
      <p:sp>
        <p:nvSpPr>
          <p:cNvPr id="21" name="Text 19"/>
          <p:cNvSpPr txBox="1"/>
          <p:nvPr/>
        </p:nvSpPr>
        <p:spPr>
          <a:xfrm>
            <a:off x="9242069" y="1783080"/>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a:t>
            </a:r>
            <a:endParaRPr lang="en-US" sz="1400" dirty="0"/>
          </a:p>
        </p:txBody>
      </p:sp>
      <p:sp>
        <p:nvSpPr>
          <p:cNvPr id="22" name="Text 20"/>
          <p:cNvSpPr txBox="1"/>
          <p:nvPr/>
        </p:nvSpPr>
        <p:spPr>
          <a:xfrm>
            <a:off x="9242069" y="2240280"/>
            <a:ext cx="2199818" cy="777240"/>
          </a:xfrm>
          <a:prstGeom prst="rect">
            <a:avLst/>
          </a:prstGeom>
          <a:noFill/>
          <a:ln/>
        </p:spPr>
        <p:txBody>
          <a:bodyPr wrap="square" lIns="0" tIns="0" rIns="0" bIns="0" rtlCol="0" anchor="t"/>
          <a:lstStyle/>
          <a:p>
            <a:pPr indent="0" marL="0">
              <a:buNone/>
            </a:pPr>
            <a:r>
              <a:rPr lang="en-US" sz="1400" b="1" dirty="0">
                <a:solidFill>
                  <a:schemeClr val="bg1"/>
                </a:solidFill>
              </a:rPr>
              <a:t>Membangun sendiri: satu data, setiap keputusan tercatat</a:t>
            </a:r>
            <a:endParaRPr lang="en-US" sz="1400" dirty="0"/>
          </a:p>
        </p:txBody>
      </p:sp>
      <p:sp>
        <p:nvSpPr>
          <p:cNvPr id="23" name="Text 21"/>
          <p:cNvSpPr txBox="1"/>
          <p:nvPr/>
        </p:nvSpPr>
        <p:spPr>
          <a:xfrm>
            <a:off x="9242069" y="3090672"/>
            <a:ext cx="2199818" cy="457200"/>
          </a:xfrm>
          <a:prstGeom prst="rect">
            <a:avLst/>
          </a:prstGeom>
          <a:noFill/>
          <a:ln/>
        </p:spPr>
        <p:txBody>
          <a:bodyPr wrap="square" lIns="0" tIns="0" rIns="0" bIns="0" rtlCol="0" anchor="t"/>
          <a:lstStyle/>
          <a:p>
            <a:pPr indent="0" marL="0">
              <a:buNone/>
            </a:pPr>
            <a:r>
              <a:rPr lang="en-US" sz="1200" dirty="0">
                <a:solidFill>
                  <a:schemeClr val="accent1"/>
                </a:solidFill>
              </a:rPr>
              <a:t>Dipilih — tanpa anggaran pengadaan</a:t>
            </a:r>
            <a:endParaRPr lang="en-US" sz="1200" dirty="0"/>
          </a:p>
        </p:txBody>
      </p:sp>
      <p:sp>
        <p:nvSpPr>
          <p:cNvPr id="24" name="Text 22"/>
          <p:cNvSpPr txBox="1"/>
          <p:nvPr/>
        </p:nvSpPr>
        <p:spPr>
          <a:xfrm>
            <a:off x="548640" y="3840480"/>
            <a:ext cx="7315200" cy="365760"/>
          </a:xfrm>
          <a:prstGeom prst="rect">
            <a:avLst/>
          </a:prstGeom>
          <a:noFill/>
          <a:ln/>
        </p:spPr>
        <p:txBody>
          <a:bodyPr wrap="square" lIns="0" tIns="0" rIns="0" bIns="0" rtlCol="0" anchor="t"/>
          <a:lstStyle/>
          <a:p>
            <a:pPr indent="0" marL="0">
              <a:buNone/>
            </a:pPr>
            <a:r>
              <a:rPr lang="en-US" sz="1800" b="1" dirty="0">
                <a:solidFill>
                  <a:schemeClr val="tx2"/>
                </a:solidFill>
              </a:rPr>
              <a:t>Satu alur berjenjang, satu data untuk semua peran</a:t>
            </a:r>
            <a:endParaRPr lang="en-US" sz="1800" dirty="0"/>
          </a:p>
        </p:txBody>
      </p:sp>
      <p:sp>
        <p:nvSpPr>
          <p:cNvPr id="25" name="langkah1"/>
          <p:cNvSpPr/>
          <p:nvPr/>
        </p:nvSpPr>
        <p:spPr>
          <a:xfrm>
            <a:off x="548640" y="4315968"/>
            <a:ext cx="2430704" cy="1691640"/>
          </a:xfrm>
          <a:prstGeom prst="roundRect">
            <a:avLst>
              <a:gd name="adj" fmla="val 6486"/>
            </a:avLst>
          </a:prstGeom>
          <a:solidFill>
            <a:srgbClr val="FFFFFF"/>
          </a:solidFill>
          <a:ln w="9525">
            <a:solidFill>
              <a:schemeClr val="accent6"/>
            </a:solidFill>
            <a:prstDash val="solid"/>
          </a:ln>
        </p:spPr>
      </p:sp>
      <p:sp>
        <p:nvSpPr>
          <p:cNvPr id="26" name="Shape 24"/>
          <p:cNvSpPr/>
          <p:nvPr/>
        </p:nvSpPr>
        <p:spPr>
          <a:xfrm>
            <a:off x="749808" y="4517136"/>
            <a:ext cx="420624" cy="420624"/>
          </a:xfrm>
          <a:prstGeom prst="ellipse">
            <a:avLst/>
          </a:prstGeom>
          <a:solidFill>
            <a:schemeClr val="tx2"/>
          </a:solidFill>
          <a:ln w="12700">
            <a:solidFill>
              <a:schemeClr val="tx2"/>
            </a:solidFill>
            <a:prstDash val="solid"/>
          </a:ln>
        </p:spPr>
      </p:sp>
      <p:sp>
        <p:nvSpPr>
          <p:cNvPr id="27" name="Text 25"/>
          <p:cNvSpPr txBox="1"/>
          <p:nvPr/>
        </p:nvSpPr>
        <p:spPr>
          <a:xfrm>
            <a:off x="749808" y="4517136"/>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8" name="Text 26"/>
          <p:cNvSpPr txBox="1"/>
          <p:nvPr/>
        </p:nvSpPr>
        <p:spPr>
          <a:xfrm>
            <a:off x="1298448" y="4517136"/>
            <a:ext cx="1516304" cy="420624"/>
          </a:xfrm>
          <a:prstGeom prst="rect">
            <a:avLst/>
          </a:prstGeom>
          <a:noFill/>
          <a:ln/>
        </p:spPr>
        <p:txBody>
          <a:bodyPr wrap="square" lIns="0" tIns="0" rIns="0" bIns="0" rtlCol="0" anchor="ctr"/>
          <a:lstStyle/>
          <a:p>
            <a:pPr indent="0" marL="0">
              <a:buNone/>
            </a:pPr>
            <a:r>
              <a:rPr lang="en-US" sz="1700" b="1" dirty="0">
                <a:solidFill>
                  <a:schemeClr val="tx2"/>
                </a:solidFill>
              </a:rPr>
              <a:t>Admin RK</a:t>
            </a:r>
            <a:endParaRPr lang="en-US" sz="1700" dirty="0"/>
          </a:p>
        </p:txBody>
      </p:sp>
      <p:sp>
        <p:nvSpPr>
          <p:cNvPr id="29" name="Text 27"/>
          <p:cNvSpPr txBox="1"/>
          <p:nvPr/>
        </p:nvSpPr>
        <p:spPr>
          <a:xfrm>
            <a:off x="749808" y="5138928"/>
            <a:ext cx="2028368" cy="822960"/>
          </a:xfrm>
          <a:prstGeom prst="rect">
            <a:avLst/>
          </a:prstGeom>
          <a:noFill/>
          <a:ln/>
        </p:spPr>
        <p:txBody>
          <a:bodyPr wrap="square" lIns="0" tIns="0" rIns="0" bIns="0" rtlCol="0" anchor="t"/>
          <a:lstStyle/>
          <a:p>
            <a:pPr indent="0" marL="0">
              <a:buNone/>
            </a:pPr>
            <a:r>
              <a:rPr lang="en-US" sz="1400" dirty="0">
                <a:solidFill>
                  <a:schemeClr val="tx1"/>
                </a:solidFill>
              </a:rPr>
              <a:t>Memindai undangan; formulir terisi</a:t>
            </a:r>
            <a:endParaRPr lang="en-US" sz="1400" dirty="0"/>
          </a:p>
        </p:txBody>
      </p:sp>
      <p:sp>
        <p:nvSpPr>
          <p:cNvPr id="30" name="Shape 28"/>
          <p:cNvSpPr/>
          <p:nvPr/>
        </p:nvSpPr>
        <p:spPr>
          <a:xfrm>
            <a:off x="3034208" y="5202936"/>
            <a:ext cx="347472" cy="0"/>
          </a:xfrm>
          <a:prstGeom prst="line">
            <a:avLst/>
          </a:prstGeom>
          <a:noFill/>
          <a:ln w="22225">
            <a:solidFill>
              <a:schemeClr val="tx2"/>
            </a:solidFill>
            <a:prstDash val="solid"/>
            <a:tailEnd type="triangle"/>
          </a:ln>
        </p:spPr>
      </p:sp>
      <p:sp>
        <p:nvSpPr>
          <p:cNvPr id="31" name="langkah2"/>
          <p:cNvSpPr/>
          <p:nvPr/>
        </p:nvSpPr>
        <p:spPr>
          <a:xfrm>
            <a:off x="3436544" y="4315968"/>
            <a:ext cx="2430704" cy="1691640"/>
          </a:xfrm>
          <a:prstGeom prst="roundRect">
            <a:avLst>
              <a:gd name="adj" fmla="val 6486"/>
            </a:avLst>
          </a:prstGeom>
          <a:solidFill>
            <a:srgbClr val="FFFFFF"/>
          </a:solidFill>
          <a:ln w="9525">
            <a:solidFill>
              <a:schemeClr val="accent6"/>
            </a:solidFill>
            <a:prstDash val="solid"/>
          </a:ln>
        </p:spPr>
      </p:sp>
      <p:sp>
        <p:nvSpPr>
          <p:cNvPr id="32" name="Shape 30"/>
          <p:cNvSpPr/>
          <p:nvPr/>
        </p:nvSpPr>
        <p:spPr>
          <a:xfrm>
            <a:off x="3637712" y="4517136"/>
            <a:ext cx="420624" cy="420624"/>
          </a:xfrm>
          <a:prstGeom prst="ellipse">
            <a:avLst/>
          </a:prstGeom>
          <a:solidFill>
            <a:schemeClr val="tx2"/>
          </a:solidFill>
          <a:ln w="12700">
            <a:solidFill>
              <a:schemeClr val="tx2"/>
            </a:solidFill>
            <a:prstDash val="solid"/>
          </a:ln>
        </p:spPr>
      </p:sp>
      <p:sp>
        <p:nvSpPr>
          <p:cNvPr id="33" name="Text 31"/>
          <p:cNvSpPr txBox="1"/>
          <p:nvPr/>
        </p:nvSpPr>
        <p:spPr>
          <a:xfrm>
            <a:off x="3637712" y="4517136"/>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34" name="Text 32"/>
          <p:cNvSpPr txBox="1"/>
          <p:nvPr/>
        </p:nvSpPr>
        <p:spPr>
          <a:xfrm>
            <a:off x="4186352" y="4517136"/>
            <a:ext cx="1516304" cy="420624"/>
          </a:xfrm>
          <a:prstGeom prst="rect">
            <a:avLst/>
          </a:prstGeom>
          <a:noFill/>
          <a:ln/>
        </p:spPr>
        <p:txBody>
          <a:bodyPr wrap="square" lIns="0" tIns="0" rIns="0" bIns="0" rtlCol="0" anchor="ctr"/>
          <a:lstStyle/>
          <a:p>
            <a:pPr indent="0" marL="0">
              <a:buNone/>
            </a:pPr>
            <a:r>
              <a:rPr lang="en-US" sz="1700" b="1" dirty="0">
                <a:solidFill>
                  <a:schemeClr val="tx2"/>
                </a:solidFill>
              </a:rPr>
              <a:t>Kasubbag</a:t>
            </a:r>
            <a:endParaRPr lang="en-US" sz="1700" dirty="0"/>
          </a:p>
        </p:txBody>
      </p:sp>
      <p:sp>
        <p:nvSpPr>
          <p:cNvPr id="35" name="Text 33"/>
          <p:cNvSpPr txBox="1"/>
          <p:nvPr/>
        </p:nvSpPr>
        <p:spPr>
          <a:xfrm>
            <a:off x="3637712" y="5138928"/>
            <a:ext cx="2028368" cy="822960"/>
          </a:xfrm>
          <a:prstGeom prst="rect">
            <a:avLst/>
          </a:prstGeom>
          <a:noFill/>
          <a:ln/>
        </p:spPr>
        <p:txBody>
          <a:bodyPr wrap="square" lIns="0" tIns="0" rIns="0" bIns="0" rtlCol="0" anchor="t"/>
          <a:lstStyle/>
          <a:p>
            <a:pPr indent="0" marL="0">
              <a:buNone/>
            </a:pPr>
            <a:r>
              <a:rPr lang="en-US" sz="1400" dirty="0">
                <a:solidFill>
                  <a:schemeClr val="tx1"/>
                </a:solidFill>
              </a:rPr>
              <a:t>Menelaah dari mana saja; daftar periksa wajib</a:t>
            </a:r>
            <a:endParaRPr lang="en-US" sz="1400" dirty="0"/>
          </a:p>
        </p:txBody>
      </p:sp>
      <p:sp>
        <p:nvSpPr>
          <p:cNvPr id="36" name="Shape 34"/>
          <p:cNvSpPr/>
          <p:nvPr/>
        </p:nvSpPr>
        <p:spPr>
          <a:xfrm>
            <a:off x="5922112" y="5202936"/>
            <a:ext cx="347472" cy="0"/>
          </a:xfrm>
          <a:prstGeom prst="line">
            <a:avLst/>
          </a:prstGeom>
          <a:noFill/>
          <a:ln w="22225">
            <a:solidFill>
              <a:schemeClr val="tx2"/>
            </a:solidFill>
            <a:prstDash val="solid"/>
            <a:tailEnd type="triangle"/>
          </a:ln>
        </p:spPr>
      </p:sp>
      <p:sp>
        <p:nvSpPr>
          <p:cNvPr id="37" name="langkah3"/>
          <p:cNvSpPr/>
          <p:nvPr/>
        </p:nvSpPr>
        <p:spPr>
          <a:xfrm>
            <a:off x="6324448" y="4315968"/>
            <a:ext cx="2430704" cy="1691640"/>
          </a:xfrm>
          <a:prstGeom prst="roundRect">
            <a:avLst>
              <a:gd name="adj" fmla="val 6486"/>
            </a:avLst>
          </a:prstGeom>
          <a:solidFill>
            <a:srgbClr val="FFFFFF"/>
          </a:solidFill>
          <a:ln w="9525">
            <a:solidFill>
              <a:schemeClr val="accent6"/>
            </a:solidFill>
            <a:prstDash val="solid"/>
          </a:ln>
        </p:spPr>
      </p:sp>
      <p:sp>
        <p:nvSpPr>
          <p:cNvPr id="38" name="Shape 36"/>
          <p:cNvSpPr/>
          <p:nvPr/>
        </p:nvSpPr>
        <p:spPr>
          <a:xfrm>
            <a:off x="6525616" y="4517136"/>
            <a:ext cx="420624" cy="420624"/>
          </a:xfrm>
          <a:prstGeom prst="ellipse">
            <a:avLst/>
          </a:prstGeom>
          <a:solidFill>
            <a:schemeClr val="tx2"/>
          </a:solidFill>
          <a:ln w="12700">
            <a:solidFill>
              <a:schemeClr val="tx2"/>
            </a:solidFill>
            <a:prstDash val="solid"/>
          </a:ln>
        </p:spPr>
      </p:sp>
      <p:sp>
        <p:nvSpPr>
          <p:cNvPr id="39" name="Text 37"/>
          <p:cNvSpPr txBox="1"/>
          <p:nvPr/>
        </p:nvSpPr>
        <p:spPr>
          <a:xfrm>
            <a:off x="6525616" y="4517136"/>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40" name="Text 38"/>
          <p:cNvSpPr txBox="1"/>
          <p:nvPr/>
        </p:nvSpPr>
        <p:spPr>
          <a:xfrm>
            <a:off x="7074256" y="4517136"/>
            <a:ext cx="1516304" cy="420624"/>
          </a:xfrm>
          <a:prstGeom prst="rect">
            <a:avLst/>
          </a:prstGeom>
          <a:noFill/>
          <a:ln/>
        </p:spPr>
        <p:txBody>
          <a:bodyPr wrap="square" lIns="0" tIns="0" rIns="0" bIns="0" rtlCol="0" anchor="ctr"/>
          <a:lstStyle/>
          <a:p>
            <a:pPr indent="0" marL="0">
              <a:buNone/>
            </a:pPr>
            <a:r>
              <a:rPr lang="en-US" sz="1700" b="1" dirty="0">
                <a:solidFill>
                  <a:schemeClr val="tx2"/>
                </a:solidFill>
              </a:rPr>
              <a:t>Kabag</a:t>
            </a:r>
            <a:endParaRPr lang="en-US" sz="1700" dirty="0"/>
          </a:p>
        </p:txBody>
      </p:sp>
      <p:sp>
        <p:nvSpPr>
          <p:cNvPr id="41" name="Text 39"/>
          <p:cNvSpPr txBox="1"/>
          <p:nvPr/>
        </p:nvSpPr>
        <p:spPr>
          <a:xfrm>
            <a:off x="6525616" y="5138928"/>
            <a:ext cx="2028368" cy="822960"/>
          </a:xfrm>
          <a:prstGeom prst="rect">
            <a:avLst/>
          </a:prstGeom>
          <a:noFill/>
          <a:ln/>
        </p:spPr>
        <p:txBody>
          <a:bodyPr wrap="square" lIns="0" tIns="0" rIns="0" bIns="0" rtlCol="0" anchor="t"/>
          <a:lstStyle/>
          <a:p>
            <a:pPr indent="0" marL="0">
              <a:buNone/>
            </a:pPr>
            <a:r>
              <a:rPr lang="en-US" sz="1400" dirty="0">
                <a:solidFill>
                  <a:schemeClr val="tx1"/>
                </a:solidFill>
              </a:rPr>
              <a:t>Memutus; median 8 menit</a:t>
            </a:r>
            <a:endParaRPr lang="en-US" sz="1400" dirty="0"/>
          </a:p>
        </p:txBody>
      </p:sp>
      <p:sp>
        <p:nvSpPr>
          <p:cNvPr id="42" name="Shape 40"/>
          <p:cNvSpPr/>
          <p:nvPr/>
        </p:nvSpPr>
        <p:spPr>
          <a:xfrm>
            <a:off x="8810015" y="5202936"/>
            <a:ext cx="347472" cy="0"/>
          </a:xfrm>
          <a:prstGeom prst="line">
            <a:avLst/>
          </a:prstGeom>
          <a:noFill/>
          <a:ln w="22225">
            <a:solidFill>
              <a:schemeClr val="tx2"/>
            </a:solidFill>
            <a:prstDash val="solid"/>
            <a:tailEnd type="triangle"/>
          </a:ln>
        </p:spPr>
      </p:sp>
      <p:sp>
        <p:nvSpPr>
          <p:cNvPr id="43" name="langkah4"/>
          <p:cNvSpPr/>
          <p:nvPr/>
        </p:nvSpPr>
        <p:spPr>
          <a:xfrm>
            <a:off x="9212351" y="4315968"/>
            <a:ext cx="2430704" cy="1691640"/>
          </a:xfrm>
          <a:prstGeom prst="roundRect">
            <a:avLst>
              <a:gd name="adj" fmla="val 6486"/>
            </a:avLst>
          </a:prstGeom>
          <a:solidFill>
            <a:srgbClr val="FBF6E7"/>
          </a:solidFill>
          <a:ln w="19050">
            <a:solidFill>
              <a:schemeClr val="accent1"/>
            </a:solidFill>
            <a:prstDash val="solid"/>
          </a:ln>
        </p:spPr>
      </p:sp>
      <p:sp>
        <p:nvSpPr>
          <p:cNvPr id="44" name="Shape 42"/>
          <p:cNvSpPr/>
          <p:nvPr/>
        </p:nvSpPr>
        <p:spPr>
          <a:xfrm>
            <a:off x="9413519" y="4517136"/>
            <a:ext cx="420624" cy="420624"/>
          </a:xfrm>
          <a:prstGeom prst="ellipse">
            <a:avLst/>
          </a:prstGeom>
          <a:solidFill>
            <a:schemeClr val="tx2"/>
          </a:solidFill>
          <a:ln w="12700">
            <a:solidFill>
              <a:schemeClr val="tx2"/>
            </a:solidFill>
            <a:prstDash val="solid"/>
          </a:ln>
        </p:spPr>
      </p:sp>
      <p:sp>
        <p:nvSpPr>
          <p:cNvPr id="45" name="Text 43"/>
          <p:cNvSpPr txBox="1"/>
          <p:nvPr/>
        </p:nvSpPr>
        <p:spPr>
          <a:xfrm>
            <a:off x="9413519" y="4517136"/>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46" name="Text 44"/>
          <p:cNvSpPr txBox="1"/>
          <p:nvPr/>
        </p:nvSpPr>
        <p:spPr>
          <a:xfrm>
            <a:off x="9962159" y="4517136"/>
            <a:ext cx="1516304" cy="420624"/>
          </a:xfrm>
          <a:prstGeom prst="rect">
            <a:avLst/>
          </a:prstGeom>
          <a:noFill/>
          <a:ln/>
        </p:spPr>
        <p:txBody>
          <a:bodyPr wrap="square" lIns="0" tIns="0" rIns="0" bIns="0" rtlCol="0" anchor="ctr"/>
          <a:lstStyle/>
          <a:p>
            <a:pPr indent="0" marL="0">
              <a:buNone/>
            </a:pPr>
            <a:r>
              <a:rPr lang="en-US" sz="1700" b="1" dirty="0">
                <a:solidFill>
                  <a:schemeClr val="tx2"/>
                </a:solidFill>
              </a:rPr>
              <a:t>HP Pimpinan</a:t>
            </a:r>
            <a:endParaRPr lang="en-US" sz="1700" dirty="0"/>
          </a:p>
        </p:txBody>
      </p:sp>
      <p:sp>
        <p:nvSpPr>
          <p:cNvPr id="47" name="Text 45"/>
          <p:cNvSpPr txBox="1"/>
          <p:nvPr/>
        </p:nvSpPr>
        <p:spPr>
          <a:xfrm>
            <a:off x="9413519" y="5138928"/>
            <a:ext cx="2028368" cy="822960"/>
          </a:xfrm>
          <a:prstGeom prst="rect">
            <a:avLst/>
          </a:prstGeom>
          <a:noFill/>
          <a:ln/>
        </p:spPr>
        <p:txBody>
          <a:bodyPr wrap="square" lIns="0" tIns="0" rIns="0" bIns="0" rtlCol="0" anchor="t"/>
          <a:lstStyle/>
          <a:p>
            <a:pPr indent="0" marL="0">
              <a:buNone/>
            </a:pPr>
            <a:r>
              <a:rPr lang="en-US" sz="1400" dirty="0">
                <a:solidFill>
                  <a:schemeClr val="tx1"/>
                </a:solidFill>
              </a:rPr>
              <a:t>Agenda tiba; ajudan mengonfirmasi</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lIns="0" tIns="0" rIns="0" bIns="0" rtlCol="0" anchor="ctr"/>
          <a:lstStyle/>
          <a:p>
            <a:pPr indent="0" marL="0">
              <a:buNone/>
            </a:pPr>
            <a:r>
              <a:rPr lang="en-US" sz="1200" b="1" spc="200" kern="0" dirty="0">
                <a:solidFill>
                  <a:schemeClr val="accent5"/>
                </a:solidFill>
              </a:rPr>
              <a:t>TEROBOSAN INOVASI  ·  20%</a:t>
            </a:r>
            <a:endParaRPr lang="en-US" sz="1200" dirty="0"/>
          </a:p>
        </p:txBody>
      </p:sp>
      <p:sp>
        <p:nvSpPr>
          <p:cNvPr id="3" name="Text 0"/>
          <p:cNvSpPr/>
          <p:nvPr>
            <p:ph idx="101" type="title" hasCustomPrompt="1"/>
          </p:nvPr>
        </p:nvSpPr>
        <p:spPr>
          <a:xfrm>
            <a:off x="548640" y="603504"/>
            <a:ext cx="11094415" cy="777240"/>
          </a:xfrm>
          <a:prstGeom prst="rect">
            <a:avLst/>
          </a:prstGeom>
          <a:noFill/>
          <a:ln/>
        </p:spPr>
        <p:txBody>
          <a:bodyPr wrap="square" lIns="0" tIns="0" rIns="0" bIns="0" rtlCol="0" anchor="t"/>
          <a:lstStyle/>
          <a:p>
            <a:pPr algn="l" indent="0" marL="0">
              <a:buNone/>
            </a:pPr>
            <a:r>
              <a:rPr lang="en-US" sz="2800" b="1" dirty="0">
                <a:solidFill>
                  <a:schemeClr val="tx2"/>
                </a:solidFill>
              </a:rPr>
              <a:t>Enam unsur kebaruan, dan terus bertambah</a:t>
            </a:r>
            <a:endParaRPr lang="en-US" sz="2800" dirty="0"/>
          </a:p>
        </p:txBody>
      </p:sp>
      <p:sp>
        <p:nvSpPr>
          <p:cNvPr id="4" name="unsur1"/>
          <p:cNvSpPr/>
          <p:nvPr/>
        </p:nvSpPr>
        <p:spPr>
          <a:xfrm>
            <a:off x="548640" y="1645920"/>
            <a:ext cx="2395728" cy="1920240"/>
          </a:xfrm>
          <a:prstGeom prst="roundRect">
            <a:avLst>
              <a:gd name="adj" fmla="val 5714"/>
            </a:avLst>
          </a:prstGeom>
          <a:solidFill>
            <a:schemeClr val="bg2"/>
          </a:solidFill>
          <a:ln w="9525">
            <a:solidFill>
              <a:schemeClr val="bg2"/>
            </a:solidFill>
            <a:prstDash val="solid"/>
          </a:ln>
        </p:spPr>
      </p:sp>
      <p:sp>
        <p:nvSpPr>
          <p:cNvPr id="5" name="Shape 3"/>
          <p:cNvSpPr/>
          <p:nvPr/>
        </p:nvSpPr>
        <p:spPr>
          <a:xfrm>
            <a:off x="731520" y="1828800"/>
            <a:ext cx="420624" cy="420624"/>
          </a:xfrm>
          <a:prstGeom prst="ellipse">
            <a:avLst/>
          </a:prstGeom>
          <a:solidFill>
            <a:schemeClr val="tx2"/>
          </a:solidFill>
          <a:ln w="12700">
            <a:solidFill>
              <a:schemeClr val="tx2"/>
            </a:solidFill>
            <a:prstDash val="solid"/>
          </a:ln>
        </p:spPr>
      </p:sp>
      <p:sp>
        <p:nvSpPr>
          <p:cNvPr id="6" name="Text 4"/>
          <p:cNvSpPr txBox="1"/>
          <p:nvPr/>
        </p:nvSpPr>
        <p:spPr>
          <a:xfrm>
            <a:off x="731520" y="1828800"/>
            <a:ext cx="420624" cy="420624"/>
          </a:xfrm>
          <a:prstGeom prst="rect">
            <a:avLst/>
          </a:prstGeom>
          <a:noFill/>
          <a:ln/>
        </p:spPr>
        <p:txBody>
          <a:bodyPr wrap="square" lIns="0" tIns="0" rIns="0" bIns="0" rtlCol="0" anchor="ctr"/>
          <a:lstStyle/>
          <a:p>
            <a:pPr algn="ctr" indent="0" marL="0">
              <a:buNone/>
            </a:pPr>
            <a:r>
              <a:rPr lang="en-US" sz="1400" b="1" dirty="0">
                <a:solidFill>
                  <a:schemeClr val="accent1"/>
                </a:solidFill>
              </a:rPr>
              <a:t>a</a:t>
            </a:r>
            <a:endParaRPr lang="en-US" sz="1400" dirty="0"/>
          </a:p>
        </p:txBody>
      </p:sp>
      <p:sp>
        <p:nvSpPr>
          <p:cNvPr id="7" name="Text 5"/>
          <p:cNvSpPr txBox="1"/>
          <p:nvPr/>
        </p:nvSpPr>
        <p:spPr>
          <a:xfrm>
            <a:off x="731520" y="2359152"/>
            <a:ext cx="2029968" cy="566928"/>
          </a:xfrm>
          <a:prstGeom prst="rect">
            <a:avLst/>
          </a:prstGeom>
          <a:noFill/>
          <a:ln/>
        </p:spPr>
        <p:txBody>
          <a:bodyPr wrap="square" lIns="0" tIns="0" rIns="0" bIns="0" rtlCol="0" anchor="t"/>
          <a:lstStyle/>
          <a:p>
            <a:pPr indent="0" marL="0">
              <a:buNone/>
            </a:pPr>
            <a:r>
              <a:rPr lang="en-US" sz="1500" b="1" dirty="0">
                <a:solidFill>
                  <a:schemeClr val="tx2"/>
                </a:solidFill>
              </a:rPr>
              <a:t>Jejak audit di setiap kegiatan</a:t>
            </a:r>
            <a:endParaRPr lang="en-US" sz="1500" dirty="0"/>
          </a:p>
        </p:txBody>
      </p:sp>
      <p:sp>
        <p:nvSpPr>
          <p:cNvPr id="8" name="Text 6"/>
          <p:cNvSpPr txBox="1"/>
          <p:nvPr/>
        </p:nvSpPr>
        <p:spPr>
          <a:xfrm>
            <a:off x="731520" y="2907792"/>
            <a:ext cx="2029968" cy="566928"/>
          </a:xfrm>
          <a:prstGeom prst="rect">
            <a:avLst/>
          </a:prstGeom>
          <a:noFill/>
          <a:ln/>
        </p:spPr>
        <p:txBody>
          <a:bodyPr wrap="square" lIns="0" tIns="0" rIns="0" bIns="0" rtlCol="0" anchor="t"/>
          <a:lstStyle/>
          <a:p>
            <a:pPr indent="0" marL="0">
              <a:buNone/>
            </a:pPr>
            <a:r>
              <a:rPr lang="en-US" sz="1200" dirty="0">
                <a:solidFill>
                  <a:schemeClr val="accent5"/>
                </a:solidFill>
              </a:rPr>
              <a:t>Siapa, kapan, apa keputusannya — 3.072 peristiwa</a:t>
            </a:r>
            <a:endParaRPr lang="en-US" sz="1200" dirty="0"/>
          </a:p>
        </p:txBody>
      </p:sp>
      <p:sp>
        <p:nvSpPr>
          <p:cNvPr id="9" name="unsur2"/>
          <p:cNvSpPr/>
          <p:nvPr/>
        </p:nvSpPr>
        <p:spPr>
          <a:xfrm>
            <a:off x="3145536" y="1645920"/>
            <a:ext cx="2395728" cy="1920240"/>
          </a:xfrm>
          <a:prstGeom prst="roundRect">
            <a:avLst>
              <a:gd name="adj" fmla="val 5714"/>
            </a:avLst>
          </a:prstGeom>
          <a:solidFill>
            <a:schemeClr val="bg2"/>
          </a:solidFill>
          <a:ln w="9525">
            <a:solidFill>
              <a:schemeClr val="bg2"/>
            </a:solidFill>
            <a:prstDash val="solid"/>
          </a:ln>
        </p:spPr>
      </p:sp>
      <p:sp>
        <p:nvSpPr>
          <p:cNvPr id="10" name="Shape 8"/>
          <p:cNvSpPr/>
          <p:nvPr/>
        </p:nvSpPr>
        <p:spPr>
          <a:xfrm>
            <a:off x="3328416" y="1828800"/>
            <a:ext cx="420624" cy="420624"/>
          </a:xfrm>
          <a:prstGeom prst="ellipse">
            <a:avLst/>
          </a:prstGeom>
          <a:solidFill>
            <a:schemeClr val="tx2"/>
          </a:solidFill>
          <a:ln w="12700">
            <a:solidFill>
              <a:schemeClr val="tx2"/>
            </a:solidFill>
            <a:prstDash val="solid"/>
          </a:ln>
        </p:spPr>
      </p:sp>
      <p:sp>
        <p:nvSpPr>
          <p:cNvPr id="11" name="Text 9"/>
          <p:cNvSpPr txBox="1"/>
          <p:nvPr/>
        </p:nvSpPr>
        <p:spPr>
          <a:xfrm>
            <a:off x="3328416" y="1828800"/>
            <a:ext cx="420624" cy="420624"/>
          </a:xfrm>
          <a:prstGeom prst="rect">
            <a:avLst/>
          </a:prstGeom>
          <a:noFill/>
          <a:ln/>
        </p:spPr>
        <p:txBody>
          <a:bodyPr wrap="square" lIns="0" tIns="0" rIns="0" bIns="0" rtlCol="0" anchor="ctr"/>
          <a:lstStyle/>
          <a:p>
            <a:pPr algn="ctr" indent="0" marL="0">
              <a:buNone/>
            </a:pPr>
            <a:r>
              <a:rPr lang="en-US" sz="1400" b="1" dirty="0">
                <a:solidFill>
                  <a:schemeClr val="accent1"/>
                </a:solidFill>
              </a:rPr>
              <a:t>b</a:t>
            </a:r>
            <a:endParaRPr lang="en-US" sz="1400" dirty="0"/>
          </a:p>
        </p:txBody>
      </p:sp>
      <p:sp>
        <p:nvSpPr>
          <p:cNvPr id="12" name="Text 10"/>
          <p:cNvSpPr txBox="1"/>
          <p:nvPr/>
        </p:nvSpPr>
        <p:spPr>
          <a:xfrm>
            <a:off x="3328416" y="2359152"/>
            <a:ext cx="2029968" cy="566928"/>
          </a:xfrm>
          <a:prstGeom prst="rect">
            <a:avLst/>
          </a:prstGeom>
          <a:noFill/>
          <a:ln/>
        </p:spPr>
        <p:txBody>
          <a:bodyPr wrap="square" lIns="0" tIns="0" rIns="0" bIns="0" rtlCol="0" anchor="t"/>
          <a:lstStyle/>
          <a:p>
            <a:pPr indent="0" marL="0">
              <a:buNone/>
            </a:pPr>
            <a:r>
              <a:rPr lang="en-US" sz="1500" b="1" dirty="0">
                <a:solidFill>
                  <a:schemeClr val="tx2"/>
                </a:solidFill>
              </a:rPr>
              <a:t>Daftar periksa wajib</a:t>
            </a:r>
            <a:endParaRPr lang="en-US" sz="1500" dirty="0"/>
          </a:p>
        </p:txBody>
      </p:sp>
      <p:sp>
        <p:nvSpPr>
          <p:cNvPr id="13" name="Text 11"/>
          <p:cNvSpPr txBox="1"/>
          <p:nvPr/>
        </p:nvSpPr>
        <p:spPr>
          <a:xfrm>
            <a:off x="3328416" y="2907792"/>
            <a:ext cx="2029968" cy="566928"/>
          </a:xfrm>
          <a:prstGeom prst="rect">
            <a:avLst/>
          </a:prstGeom>
          <a:noFill/>
          <a:ln/>
        </p:spPr>
        <p:txBody>
          <a:bodyPr wrap="square" lIns="0" tIns="0" rIns="0" bIns="0" rtlCol="0" anchor="t"/>
          <a:lstStyle/>
          <a:p>
            <a:pPr indent="0" marL="0">
              <a:buNone/>
            </a:pPr>
            <a:r>
              <a:rPr lang="en-US" sz="1200" dirty="0">
                <a:solidFill>
                  <a:schemeClr val="accent5"/>
                </a:solidFill>
              </a:rPr>
              <a:t>Tombol setuju baru aktif sesudah butir dicentang</a:t>
            </a:r>
            <a:endParaRPr lang="en-US" sz="1200" dirty="0"/>
          </a:p>
        </p:txBody>
      </p:sp>
      <p:sp>
        <p:nvSpPr>
          <p:cNvPr id="14" name="unsur3"/>
          <p:cNvSpPr/>
          <p:nvPr/>
        </p:nvSpPr>
        <p:spPr>
          <a:xfrm>
            <a:off x="5742432" y="1645920"/>
            <a:ext cx="2395728" cy="1920240"/>
          </a:xfrm>
          <a:prstGeom prst="roundRect">
            <a:avLst>
              <a:gd name="adj" fmla="val 5714"/>
            </a:avLst>
          </a:prstGeom>
          <a:solidFill>
            <a:schemeClr val="bg2"/>
          </a:solidFill>
          <a:ln w="9525">
            <a:solidFill>
              <a:schemeClr val="bg2"/>
            </a:solidFill>
            <a:prstDash val="solid"/>
          </a:ln>
        </p:spPr>
      </p:sp>
      <p:sp>
        <p:nvSpPr>
          <p:cNvPr id="15" name="Shape 13"/>
          <p:cNvSpPr/>
          <p:nvPr/>
        </p:nvSpPr>
        <p:spPr>
          <a:xfrm>
            <a:off x="5925312" y="1828800"/>
            <a:ext cx="420624" cy="420624"/>
          </a:xfrm>
          <a:prstGeom prst="ellipse">
            <a:avLst/>
          </a:prstGeom>
          <a:solidFill>
            <a:schemeClr val="tx2"/>
          </a:solidFill>
          <a:ln w="12700">
            <a:solidFill>
              <a:schemeClr val="tx2"/>
            </a:solidFill>
            <a:prstDash val="solid"/>
          </a:ln>
        </p:spPr>
      </p:sp>
      <p:sp>
        <p:nvSpPr>
          <p:cNvPr id="16" name="Text 14"/>
          <p:cNvSpPr txBox="1"/>
          <p:nvPr/>
        </p:nvSpPr>
        <p:spPr>
          <a:xfrm>
            <a:off x="5925312" y="1828800"/>
            <a:ext cx="420624" cy="420624"/>
          </a:xfrm>
          <a:prstGeom prst="rect">
            <a:avLst/>
          </a:prstGeom>
          <a:noFill/>
          <a:ln/>
        </p:spPr>
        <p:txBody>
          <a:bodyPr wrap="square" lIns="0" tIns="0" rIns="0" bIns="0" rtlCol="0" anchor="ctr"/>
          <a:lstStyle/>
          <a:p>
            <a:pPr algn="ctr" indent="0" marL="0">
              <a:buNone/>
            </a:pPr>
            <a:r>
              <a:rPr lang="en-US" sz="1400" b="1" dirty="0">
                <a:solidFill>
                  <a:schemeClr val="accent1"/>
                </a:solidFill>
              </a:rPr>
              <a:t>c</a:t>
            </a:r>
            <a:endParaRPr lang="en-US" sz="1400" dirty="0"/>
          </a:p>
        </p:txBody>
      </p:sp>
      <p:sp>
        <p:nvSpPr>
          <p:cNvPr id="17" name="Text 15"/>
          <p:cNvSpPr txBox="1"/>
          <p:nvPr/>
        </p:nvSpPr>
        <p:spPr>
          <a:xfrm>
            <a:off x="5925312" y="2359152"/>
            <a:ext cx="2029968" cy="566928"/>
          </a:xfrm>
          <a:prstGeom prst="rect">
            <a:avLst/>
          </a:prstGeom>
          <a:noFill/>
          <a:ln/>
        </p:spPr>
        <p:txBody>
          <a:bodyPr wrap="square" lIns="0" tIns="0" rIns="0" bIns="0" rtlCol="0" anchor="t"/>
          <a:lstStyle/>
          <a:p>
            <a:pPr indent="0" marL="0">
              <a:buNone/>
            </a:pPr>
            <a:r>
              <a:rPr lang="en-US" sz="1500" b="1" dirty="0">
                <a:solidFill>
                  <a:schemeClr val="tx2"/>
                </a:solidFill>
              </a:rPr>
              <a:t>Pelaksana Harian bermasa berlaku</a:t>
            </a:r>
            <a:endParaRPr lang="en-US" sz="1500" dirty="0"/>
          </a:p>
        </p:txBody>
      </p:sp>
      <p:sp>
        <p:nvSpPr>
          <p:cNvPr id="18" name="Text 16"/>
          <p:cNvSpPr txBox="1"/>
          <p:nvPr/>
        </p:nvSpPr>
        <p:spPr>
          <a:xfrm>
            <a:off x="5925312" y="2907792"/>
            <a:ext cx="2029968" cy="566928"/>
          </a:xfrm>
          <a:prstGeom prst="rect">
            <a:avLst/>
          </a:prstGeom>
          <a:noFill/>
          <a:ln/>
        </p:spPr>
        <p:txBody>
          <a:bodyPr wrap="square" lIns="0" tIns="0" rIns="0" bIns="0" rtlCol="0" anchor="t"/>
          <a:lstStyle/>
          <a:p>
            <a:pPr indent="0" marL="0">
              <a:buNone/>
            </a:pPr>
            <a:r>
              <a:rPr lang="en-US" sz="1200" dirty="0">
                <a:solidFill>
                  <a:schemeClr val="accent5"/>
                </a:solidFill>
              </a:rPr>
              <a:t>Kewenangan padam sendiri pada tanggal akhirnya</a:t>
            </a:r>
            <a:endParaRPr lang="en-US" sz="1200" dirty="0"/>
          </a:p>
        </p:txBody>
      </p:sp>
      <p:sp>
        <p:nvSpPr>
          <p:cNvPr id="19" name="unsur4"/>
          <p:cNvSpPr/>
          <p:nvPr/>
        </p:nvSpPr>
        <p:spPr>
          <a:xfrm>
            <a:off x="548640" y="3767328"/>
            <a:ext cx="2395728" cy="1920240"/>
          </a:xfrm>
          <a:prstGeom prst="roundRect">
            <a:avLst>
              <a:gd name="adj" fmla="val 5714"/>
            </a:avLst>
          </a:prstGeom>
          <a:solidFill>
            <a:schemeClr val="bg2"/>
          </a:solidFill>
          <a:ln w="9525">
            <a:solidFill>
              <a:schemeClr val="bg2"/>
            </a:solidFill>
            <a:prstDash val="solid"/>
          </a:ln>
        </p:spPr>
      </p:sp>
      <p:sp>
        <p:nvSpPr>
          <p:cNvPr id="20" name="Shape 18"/>
          <p:cNvSpPr/>
          <p:nvPr/>
        </p:nvSpPr>
        <p:spPr>
          <a:xfrm>
            <a:off x="731520" y="3950208"/>
            <a:ext cx="420624" cy="420624"/>
          </a:xfrm>
          <a:prstGeom prst="ellipse">
            <a:avLst/>
          </a:prstGeom>
          <a:solidFill>
            <a:schemeClr val="tx2"/>
          </a:solidFill>
          <a:ln w="12700">
            <a:solidFill>
              <a:schemeClr val="tx2"/>
            </a:solidFill>
            <a:prstDash val="solid"/>
          </a:ln>
        </p:spPr>
      </p:sp>
      <p:sp>
        <p:nvSpPr>
          <p:cNvPr id="21" name="Text 19"/>
          <p:cNvSpPr txBox="1"/>
          <p:nvPr/>
        </p:nvSpPr>
        <p:spPr>
          <a:xfrm>
            <a:off x="731520" y="3950208"/>
            <a:ext cx="420624" cy="420624"/>
          </a:xfrm>
          <a:prstGeom prst="rect">
            <a:avLst/>
          </a:prstGeom>
          <a:noFill/>
          <a:ln/>
        </p:spPr>
        <p:txBody>
          <a:bodyPr wrap="square" lIns="0" tIns="0" rIns="0" bIns="0" rtlCol="0" anchor="ctr"/>
          <a:lstStyle/>
          <a:p>
            <a:pPr algn="ctr" indent="0" marL="0">
              <a:buNone/>
            </a:pPr>
            <a:r>
              <a:rPr lang="en-US" sz="1400" b="1" dirty="0">
                <a:solidFill>
                  <a:schemeClr val="accent1"/>
                </a:solidFill>
              </a:rPr>
              <a:t>d</a:t>
            </a:r>
            <a:endParaRPr lang="en-US" sz="1400" dirty="0"/>
          </a:p>
        </p:txBody>
      </p:sp>
      <p:sp>
        <p:nvSpPr>
          <p:cNvPr id="22" name="Text 20"/>
          <p:cNvSpPr txBox="1"/>
          <p:nvPr/>
        </p:nvSpPr>
        <p:spPr>
          <a:xfrm>
            <a:off x="731520" y="4480560"/>
            <a:ext cx="2029968" cy="566928"/>
          </a:xfrm>
          <a:prstGeom prst="rect">
            <a:avLst/>
          </a:prstGeom>
          <a:noFill/>
          <a:ln/>
        </p:spPr>
        <p:txBody>
          <a:bodyPr wrap="square" lIns="0" tIns="0" rIns="0" bIns="0" rtlCol="0" anchor="t"/>
          <a:lstStyle/>
          <a:p>
            <a:pPr indent="0" marL="0">
              <a:buNone/>
            </a:pPr>
            <a:r>
              <a:rPr lang="en-US" sz="1500" b="1" dirty="0">
                <a:solidFill>
                  <a:schemeClr val="tx2"/>
                </a:solidFill>
              </a:rPr>
              <a:t>Pengawasan menurut kegentingan</a:t>
            </a:r>
            <a:endParaRPr lang="en-US" sz="1500" dirty="0"/>
          </a:p>
        </p:txBody>
      </p:sp>
      <p:sp>
        <p:nvSpPr>
          <p:cNvPr id="23" name="Text 21"/>
          <p:cNvSpPr txBox="1"/>
          <p:nvPr/>
        </p:nvSpPr>
        <p:spPr>
          <a:xfrm>
            <a:off x="731520" y="5029200"/>
            <a:ext cx="2029968" cy="566928"/>
          </a:xfrm>
          <a:prstGeom prst="rect">
            <a:avLst/>
          </a:prstGeom>
          <a:noFill/>
          <a:ln/>
        </p:spPr>
        <p:txBody>
          <a:bodyPr wrap="square" lIns="0" tIns="0" rIns="0" bIns="0" rtlCol="0" anchor="t"/>
          <a:lstStyle/>
          <a:p>
            <a:pPr indent="0" marL="0">
              <a:buNone/>
            </a:pPr>
            <a:r>
              <a:rPr lang="en-US" sz="1200" dirty="0">
                <a:solidFill>
                  <a:schemeClr val="accent5"/>
                </a:solidFill>
              </a:rPr>
              <a:t>Usulan tertahan ditandai menurut umur dan hari H</a:t>
            </a:r>
            <a:endParaRPr lang="en-US" sz="1200" dirty="0"/>
          </a:p>
        </p:txBody>
      </p:sp>
      <p:sp>
        <p:nvSpPr>
          <p:cNvPr id="24" name="unsur5"/>
          <p:cNvSpPr/>
          <p:nvPr/>
        </p:nvSpPr>
        <p:spPr>
          <a:xfrm>
            <a:off x="3145536" y="3767328"/>
            <a:ext cx="2395728" cy="1920240"/>
          </a:xfrm>
          <a:prstGeom prst="roundRect">
            <a:avLst>
              <a:gd name="adj" fmla="val 5714"/>
            </a:avLst>
          </a:prstGeom>
          <a:solidFill>
            <a:schemeClr val="bg2"/>
          </a:solidFill>
          <a:ln w="9525">
            <a:solidFill>
              <a:schemeClr val="bg2"/>
            </a:solidFill>
            <a:prstDash val="solid"/>
          </a:ln>
        </p:spPr>
      </p:sp>
      <p:sp>
        <p:nvSpPr>
          <p:cNvPr id="25" name="Shape 23"/>
          <p:cNvSpPr/>
          <p:nvPr/>
        </p:nvSpPr>
        <p:spPr>
          <a:xfrm>
            <a:off x="3328416" y="3950208"/>
            <a:ext cx="420624" cy="420624"/>
          </a:xfrm>
          <a:prstGeom prst="ellipse">
            <a:avLst/>
          </a:prstGeom>
          <a:solidFill>
            <a:schemeClr val="tx2"/>
          </a:solidFill>
          <a:ln w="12700">
            <a:solidFill>
              <a:schemeClr val="tx2"/>
            </a:solidFill>
            <a:prstDash val="solid"/>
          </a:ln>
        </p:spPr>
      </p:sp>
      <p:sp>
        <p:nvSpPr>
          <p:cNvPr id="26" name="Text 24"/>
          <p:cNvSpPr txBox="1"/>
          <p:nvPr/>
        </p:nvSpPr>
        <p:spPr>
          <a:xfrm>
            <a:off x="3328416" y="3950208"/>
            <a:ext cx="420624" cy="420624"/>
          </a:xfrm>
          <a:prstGeom prst="rect">
            <a:avLst/>
          </a:prstGeom>
          <a:noFill/>
          <a:ln/>
        </p:spPr>
        <p:txBody>
          <a:bodyPr wrap="square" lIns="0" tIns="0" rIns="0" bIns="0" rtlCol="0" anchor="ctr"/>
          <a:lstStyle/>
          <a:p>
            <a:pPr algn="ctr" indent="0" marL="0">
              <a:buNone/>
            </a:pPr>
            <a:r>
              <a:rPr lang="en-US" sz="1400" b="1" dirty="0">
                <a:solidFill>
                  <a:schemeClr val="accent1"/>
                </a:solidFill>
              </a:rPr>
              <a:t>e</a:t>
            </a:r>
            <a:endParaRPr lang="en-US" sz="1400" dirty="0"/>
          </a:p>
        </p:txBody>
      </p:sp>
      <p:sp>
        <p:nvSpPr>
          <p:cNvPr id="27" name="Text 25"/>
          <p:cNvSpPr txBox="1"/>
          <p:nvPr/>
        </p:nvSpPr>
        <p:spPr>
          <a:xfrm>
            <a:off x="3328416" y="4480560"/>
            <a:ext cx="2029968" cy="566928"/>
          </a:xfrm>
          <a:prstGeom prst="rect">
            <a:avLst/>
          </a:prstGeom>
          <a:noFill/>
          <a:ln/>
        </p:spPr>
        <p:txBody>
          <a:bodyPr wrap="square" lIns="0" tIns="0" rIns="0" bIns="0" rtlCol="0" anchor="t"/>
          <a:lstStyle/>
          <a:p>
            <a:pPr indent="0" marL="0">
              <a:buNone/>
            </a:pPr>
            <a:r>
              <a:rPr lang="en-US" sz="1500" b="1" dirty="0">
                <a:solidFill>
                  <a:schemeClr val="tx2"/>
                </a:solidFill>
              </a:rPr>
              <a:t>Kanal publik terlacak</a:t>
            </a:r>
            <a:endParaRPr lang="en-US" sz="1500" dirty="0"/>
          </a:p>
        </p:txBody>
      </p:sp>
      <p:sp>
        <p:nvSpPr>
          <p:cNvPr id="28" name="Text 26"/>
          <p:cNvSpPr txBox="1"/>
          <p:nvPr/>
        </p:nvSpPr>
        <p:spPr>
          <a:xfrm>
            <a:off x="3328416" y="5029200"/>
            <a:ext cx="2029968" cy="566928"/>
          </a:xfrm>
          <a:prstGeom prst="rect">
            <a:avLst/>
          </a:prstGeom>
          <a:noFill/>
          <a:ln/>
        </p:spPr>
        <p:txBody>
          <a:bodyPr wrap="square" lIns="0" tIns="0" rIns="0" bIns="0" rtlCol="0" anchor="t"/>
          <a:lstStyle/>
          <a:p>
            <a:pPr indent="0" marL="0">
              <a:buNone/>
            </a:pPr>
            <a:r>
              <a:rPr lang="en-US" sz="1200" dirty="0">
                <a:solidFill>
                  <a:schemeClr val="accent5"/>
                </a:solidFill>
              </a:rPr>
              <a:t>Pemohon memantau sendiri dengan kode penelusuran</a:t>
            </a:r>
            <a:endParaRPr lang="en-US" sz="1200" dirty="0"/>
          </a:p>
        </p:txBody>
      </p:sp>
      <p:sp>
        <p:nvSpPr>
          <p:cNvPr id="29" name="unsur6"/>
          <p:cNvSpPr/>
          <p:nvPr/>
        </p:nvSpPr>
        <p:spPr>
          <a:xfrm>
            <a:off x="5742432" y="3767328"/>
            <a:ext cx="2395728" cy="1920240"/>
          </a:xfrm>
          <a:prstGeom prst="roundRect">
            <a:avLst>
              <a:gd name="adj" fmla="val 5714"/>
            </a:avLst>
          </a:prstGeom>
          <a:solidFill>
            <a:schemeClr val="bg2"/>
          </a:solidFill>
          <a:ln w="9525">
            <a:solidFill>
              <a:schemeClr val="bg2"/>
            </a:solidFill>
            <a:prstDash val="solid"/>
          </a:ln>
        </p:spPr>
      </p:sp>
      <p:sp>
        <p:nvSpPr>
          <p:cNvPr id="30" name="Shape 28"/>
          <p:cNvSpPr/>
          <p:nvPr/>
        </p:nvSpPr>
        <p:spPr>
          <a:xfrm>
            <a:off x="5925312" y="3950208"/>
            <a:ext cx="420624" cy="420624"/>
          </a:xfrm>
          <a:prstGeom prst="ellipse">
            <a:avLst/>
          </a:prstGeom>
          <a:solidFill>
            <a:schemeClr val="tx2"/>
          </a:solidFill>
          <a:ln w="12700">
            <a:solidFill>
              <a:schemeClr val="tx2"/>
            </a:solidFill>
            <a:prstDash val="solid"/>
          </a:ln>
        </p:spPr>
      </p:sp>
      <p:sp>
        <p:nvSpPr>
          <p:cNvPr id="31" name="Text 29"/>
          <p:cNvSpPr txBox="1"/>
          <p:nvPr/>
        </p:nvSpPr>
        <p:spPr>
          <a:xfrm>
            <a:off x="5925312" y="3950208"/>
            <a:ext cx="420624" cy="420624"/>
          </a:xfrm>
          <a:prstGeom prst="rect">
            <a:avLst/>
          </a:prstGeom>
          <a:noFill/>
          <a:ln/>
        </p:spPr>
        <p:txBody>
          <a:bodyPr wrap="square" lIns="0" tIns="0" rIns="0" bIns="0" rtlCol="0" anchor="ctr"/>
          <a:lstStyle/>
          <a:p>
            <a:pPr algn="ctr" indent="0" marL="0">
              <a:buNone/>
            </a:pPr>
            <a:r>
              <a:rPr lang="en-US" sz="1400" b="1" dirty="0">
                <a:solidFill>
                  <a:schemeClr val="accent1"/>
                </a:solidFill>
              </a:rPr>
              <a:t>f</a:t>
            </a:r>
            <a:endParaRPr lang="en-US" sz="1400" dirty="0"/>
          </a:p>
        </p:txBody>
      </p:sp>
      <p:sp>
        <p:nvSpPr>
          <p:cNvPr id="32" name="Text 30"/>
          <p:cNvSpPr txBox="1"/>
          <p:nvPr/>
        </p:nvSpPr>
        <p:spPr>
          <a:xfrm>
            <a:off x="5925312" y="4480560"/>
            <a:ext cx="2029968" cy="566928"/>
          </a:xfrm>
          <a:prstGeom prst="rect">
            <a:avLst/>
          </a:prstGeom>
          <a:noFill/>
          <a:ln/>
        </p:spPr>
        <p:txBody>
          <a:bodyPr wrap="square" lIns="0" tIns="0" rIns="0" bIns="0" rtlCol="0" anchor="t"/>
          <a:lstStyle/>
          <a:p>
            <a:pPr indent="0" marL="0">
              <a:buNone/>
            </a:pPr>
            <a:r>
              <a:rPr lang="en-US" sz="1500" b="1" dirty="0">
                <a:solidFill>
                  <a:schemeClr val="tx2"/>
                </a:solidFill>
              </a:rPr>
              <a:t>Tersambung kalender bersama</a:t>
            </a:r>
            <a:endParaRPr lang="en-US" sz="1500" dirty="0"/>
          </a:p>
        </p:txBody>
      </p:sp>
      <p:sp>
        <p:nvSpPr>
          <p:cNvPr id="33" name="Text 31"/>
          <p:cNvSpPr txBox="1"/>
          <p:nvPr/>
        </p:nvSpPr>
        <p:spPr>
          <a:xfrm>
            <a:off x="5925312" y="5029200"/>
            <a:ext cx="2029968" cy="566928"/>
          </a:xfrm>
          <a:prstGeom prst="rect">
            <a:avLst/>
          </a:prstGeom>
          <a:noFill/>
          <a:ln/>
        </p:spPr>
        <p:txBody>
          <a:bodyPr wrap="square" lIns="0" tIns="0" rIns="0" bIns="0" rtlCol="0" anchor="t"/>
          <a:lstStyle/>
          <a:p>
            <a:pPr indent="0" marL="0">
              <a:buNone/>
            </a:pPr>
            <a:r>
              <a:rPr lang="en-US" sz="1200" dirty="0">
                <a:solidFill>
                  <a:schemeClr val="accent5"/>
                </a:solidFill>
              </a:rPr>
              <a:t>Agenda tersetujui tampil sendiri di Google Calendar</a:t>
            </a:r>
            <a:endParaRPr lang="en-US" sz="1200" dirty="0"/>
          </a:p>
        </p:txBody>
      </p:sp>
      <p:sp>
        <p:nvSpPr>
          <p:cNvPr id="34" name="sejakproposal"/>
          <p:cNvSpPr/>
          <p:nvPr/>
        </p:nvSpPr>
        <p:spPr>
          <a:xfrm>
            <a:off x="8476488" y="1645920"/>
            <a:ext cx="3166567" cy="4041648"/>
          </a:xfrm>
          <a:prstGeom prst="roundRect">
            <a:avLst>
              <a:gd name="adj" fmla="val 3465"/>
            </a:avLst>
          </a:prstGeom>
          <a:solidFill>
            <a:schemeClr val="tx2"/>
          </a:solidFill>
          <a:ln w="9525">
            <a:solidFill>
              <a:schemeClr val="tx2"/>
            </a:solidFill>
            <a:prstDash val="solid"/>
          </a:ln>
        </p:spPr>
      </p:sp>
      <p:sp>
        <p:nvSpPr>
          <p:cNvPr id="35" name="Text 33"/>
          <p:cNvSpPr txBox="1"/>
          <p:nvPr/>
        </p:nvSpPr>
        <p:spPr>
          <a:xfrm>
            <a:off x="8750808" y="1847088"/>
            <a:ext cx="2617927" cy="502920"/>
          </a:xfrm>
          <a:prstGeom prst="rect">
            <a:avLst/>
          </a:prstGeom>
          <a:noFill/>
          <a:ln/>
        </p:spPr>
        <p:txBody>
          <a:bodyPr wrap="square" lIns="0" tIns="0" rIns="0" bIns="0" rtlCol="0" anchor="t"/>
          <a:lstStyle/>
          <a:p>
            <a:pPr indent="0" marL="0">
              <a:buNone/>
            </a:pPr>
            <a:r>
              <a:rPr lang="en-US" sz="1200" b="1" spc="100" kern="0" dirty="0">
                <a:solidFill>
                  <a:schemeClr val="accent1"/>
                </a:solidFill>
              </a:rPr>
              <a:t>SEJAK PROPOSAL</a:t>
            </a:r>
            <a:endParaRPr lang="en-US" sz="1200" dirty="0"/>
          </a:p>
          <a:p>
            <a:pPr indent="0" marL="0">
              <a:buNone/>
            </a:pPr>
            <a:r>
              <a:rPr lang="en-US" sz="1200" b="1" spc="100" kern="0" dirty="0">
                <a:solidFill>
                  <a:schemeClr val="accent1"/>
                </a:solidFill>
              </a:rPr>
              <a:t>OKTOBER 2026</a:t>
            </a:r>
            <a:endParaRPr lang="en-US" sz="1200" dirty="0"/>
          </a:p>
        </p:txBody>
      </p:sp>
      <p:sp>
        <p:nvSpPr>
          <p:cNvPr id="36" name="Text 34"/>
          <p:cNvSpPr txBox="1"/>
          <p:nvPr/>
        </p:nvSpPr>
        <p:spPr>
          <a:xfrm>
            <a:off x="8750808" y="2514600"/>
            <a:ext cx="2663647" cy="301752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chemeClr val="bg1"/>
                </a:solidFill>
              </a:rPr>
              <a:t>Notifikasi tamu berjenjang tanpa mengganggu Pimpinan</a:t>
            </a:r>
            <a:endParaRPr lang="en-US" sz="1500" dirty="0"/>
          </a:p>
          <a:p>
            <a:pPr marL="342900" indent="-342900">
              <a:spcAft>
                <a:spcPts val="900"/>
              </a:spcAft>
              <a:buSzPct val="100000"/>
              <a:buChar char="•"/>
            </a:pPr>
            <a:r>
              <a:rPr lang="en-US" sz="1500" dirty="0">
                <a:solidFill>
                  <a:schemeClr val="bg1"/>
                </a:solidFill>
              </a:rPr>
              <a:t>Monitor WA: setiap pesan terlacak terkirim/terbaca</a:t>
            </a:r>
            <a:endParaRPr lang="en-US" sz="1500" dirty="0"/>
          </a:p>
          <a:p>
            <a:pPr marL="342900" indent="-342900">
              <a:spcAft>
                <a:spcPts val="900"/>
              </a:spcAft>
              <a:buSzPct val="100000"/>
              <a:buChar char="•"/>
            </a:pPr>
            <a:r>
              <a:rPr lang="en-US" sz="1500" dirty="0">
                <a:solidFill>
                  <a:schemeClr val="bg1"/>
                </a:solidFill>
              </a:rPr>
              <a:t>Masuk dengan sidik jari dan akun Google</a:t>
            </a:r>
            <a:endParaRPr lang="en-US" sz="1500" dirty="0"/>
          </a:p>
          <a:p>
            <a:pPr marL="342900" indent="-342900">
              <a:spcAft>
                <a:spcPts val="900"/>
              </a:spcAft>
              <a:buSzPct val="100000"/>
              <a:buChar char="•"/>
            </a:pPr>
            <a:r>
              <a:rPr lang="en-US" sz="1500" dirty="0">
                <a:solidFill>
                  <a:schemeClr val="bg1"/>
                </a:solidFill>
              </a:rPr>
              <a:t>Zona waktu WIB/WITA/WIT mengikuti lokasi Pimpinan</a:t>
            </a:r>
            <a:endParaRPr lang="en-US" sz="1500" dirty="0"/>
          </a:p>
          <a:p>
            <a:pPr marL="342900" indent="-342900">
              <a:spcAft>
                <a:spcPts val="900"/>
              </a:spcAft>
              <a:buSzPct val="100000"/>
              <a:buChar char="•"/>
            </a:pPr>
            <a:r>
              <a:rPr lang="en-US" sz="1500" dirty="0">
                <a:solidFill>
                  <a:schemeClr val="bg1"/>
                </a:solidFill>
              </a:rPr>
              <a:t>Kebijakan privasi sesuai UU 27/2022</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MANFAAT INOVASI  ·  25%  ·  DEMONSTRASI</a:t>
            </a:r>
            <a:endParaRPr lang="en-US" sz="1200" dirty="0"/>
          </a:p>
        </p:txBody>
      </p:sp>
      <p:sp>
        <p:nvSpPr>
          <p:cNvPr id="3" name="Text 0"/>
          <p:cNvSpPr/>
          <p:nvPr>
            <p:ph idx="101" type="title" hasCustomPrompt="1"/>
          </p:nvPr>
        </p:nvSpPr>
        <p:spPr>
          <a:xfrm>
            <a:off x="548640" y="603504"/>
            <a:ext cx="11094415" cy="777240"/>
          </a:xfrm>
          <a:prstGeom prst="rect">
            <a:avLst/>
          </a:prstGeom>
          <a:noFill/>
          <a:ln/>
        </p:spPr>
        <p:txBody>
          <a:bodyPr wrap="square" lIns="0" tIns="0" rIns="0" bIns="0" rtlCol="0" anchor="t"/>
          <a:lstStyle/>
          <a:p>
            <a:pPr algn="l" indent="0" marL="0">
              <a:buNone/>
            </a:pPr>
            <a:r>
              <a:rPr lang="en-US" sz="2800" b="1" dirty="0">
                <a:solidFill>
                  <a:schemeClr val="bg1"/>
                </a:solidFill>
              </a:rPr>
              <a:t>Satu kegiatan, dari undangan sampai HP Pimpinan</a:t>
            </a:r>
            <a:endParaRPr lang="en-US" sz="2800" dirty="0"/>
          </a:p>
        </p:txBody>
      </p:sp>
      <p:sp>
        <p:nvSpPr>
          <p:cNvPr id="4" name="demo1"/>
          <p:cNvSpPr/>
          <p:nvPr/>
        </p:nvSpPr>
        <p:spPr>
          <a:xfrm>
            <a:off x="548640" y="1691640"/>
            <a:ext cx="2567864" cy="1828800"/>
          </a:xfrm>
          <a:prstGeom prst="roundRect">
            <a:avLst>
              <a:gd name="adj" fmla="val 6000"/>
            </a:avLst>
          </a:prstGeom>
          <a:solidFill>
            <a:srgbClr val="13233F"/>
          </a:solidFill>
          <a:ln w="9525">
            <a:solidFill>
              <a:srgbClr val="2A3B57"/>
            </a:solidFill>
            <a:prstDash val="solid"/>
          </a:ln>
        </p:spPr>
      </p:sp>
      <p:sp>
        <p:nvSpPr>
          <p:cNvPr id="5" name="Shape 3"/>
          <p:cNvSpPr/>
          <p:nvPr/>
        </p:nvSpPr>
        <p:spPr>
          <a:xfrm>
            <a:off x="749808" y="1892808"/>
            <a:ext cx="457200" cy="457200"/>
          </a:xfrm>
          <a:prstGeom prst="ellipse">
            <a:avLst/>
          </a:prstGeom>
          <a:solidFill>
            <a:schemeClr val="accent1"/>
          </a:solidFill>
          <a:ln w="12700">
            <a:solidFill>
              <a:schemeClr val="accent1"/>
            </a:solidFill>
            <a:prstDash val="solid"/>
          </a:ln>
        </p:spPr>
      </p:sp>
      <p:sp>
        <p:nvSpPr>
          <p:cNvPr id="6" name="Text 4"/>
          <p:cNvSpPr txBox="1"/>
          <p:nvPr/>
        </p:nvSpPr>
        <p:spPr>
          <a:xfrm>
            <a:off x="749808" y="1892808"/>
            <a:ext cx="457200" cy="457200"/>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7" name="Text 5"/>
          <p:cNvSpPr txBox="1"/>
          <p:nvPr/>
        </p:nvSpPr>
        <p:spPr>
          <a:xfrm>
            <a:off x="1353312" y="1892808"/>
            <a:ext cx="1607744" cy="457200"/>
          </a:xfrm>
          <a:prstGeom prst="rect">
            <a:avLst/>
          </a:prstGeom>
          <a:noFill/>
          <a:ln/>
        </p:spPr>
        <p:txBody>
          <a:bodyPr wrap="square" lIns="0" tIns="0" rIns="0" bIns="0" rtlCol="0" anchor="ctr"/>
          <a:lstStyle/>
          <a:p>
            <a:pPr indent="0" marL="0">
              <a:buNone/>
            </a:pPr>
            <a:r>
              <a:rPr lang="en-US" sz="1700" b="1" dirty="0">
                <a:solidFill>
                  <a:schemeClr val="bg1"/>
                </a:solidFill>
              </a:rPr>
              <a:t>Admin RK</a:t>
            </a:r>
            <a:endParaRPr lang="en-US" sz="1700" dirty="0"/>
          </a:p>
        </p:txBody>
      </p:sp>
      <p:sp>
        <p:nvSpPr>
          <p:cNvPr id="8" name="Text 6"/>
          <p:cNvSpPr txBox="1"/>
          <p:nvPr/>
        </p:nvSpPr>
        <p:spPr>
          <a:xfrm>
            <a:off x="749808" y="2560320"/>
            <a:ext cx="2165528" cy="822960"/>
          </a:xfrm>
          <a:prstGeom prst="rect">
            <a:avLst/>
          </a:prstGeom>
          <a:noFill/>
          <a:ln/>
        </p:spPr>
        <p:txBody>
          <a:bodyPr wrap="square" lIns="0" tIns="0" rIns="0" bIns="0" rtlCol="0" anchor="t"/>
          <a:lstStyle/>
          <a:p>
            <a:pPr indent="0" marL="0">
              <a:buNone/>
            </a:pPr>
            <a:r>
              <a:rPr lang="en-US" sz="1400" dirty="0">
                <a:solidFill>
                  <a:schemeClr val="accent6"/>
                </a:solidFill>
              </a:rPr>
              <a:t>Pindai undangan → cek benturan → kirim</a:t>
            </a:r>
            <a:endParaRPr lang="en-US" sz="1400" dirty="0"/>
          </a:p>
        </p:txBody>
      </p:sp>
      <p:sp>
        <p:nvSpPr>
          <p:cNvPr id="9" name="demo2"/>
          <p:cNvSpPr/>
          <p:nvPr/>
        </p:nvSpPr>
        <p:spPr>
          <a:xfrm>
            <a:off x="3390824" y="1691640"/>
            <a:ext cx="2567864" cy="1828800"/>
          </a:xfrm>
          <a:prstGeom prst="roundRect">
            <a:avLst>
              <a:gd name="adj" fmla="val 6000"/>
            </a:avLst>
          </a:prstGeom>
          <a:solidFill>
            <a:srgbClr val="13233F"/>
          </a:solidFill>
          <a:ln w="9525">
            <a:solidFill>
              <a:srgbClr val="2A3B57"/>
            </a:solidFill>
            <a:prstDash val="solid"/>
          </a:ln>
        </p:spPr>
      </p:sp>
      <p:sp>
        <p:nvSpPr>
          <p:cNvPr id="10" name="Shape 8"/>
          <p:cNvSpPr/>
          <p:nvPr/>
        </p:nvSpPr>
        <p:spPr>
          <a:xfrm>
            <a:off x="3591992" y="1892808"/>
            <a:ext cx="457200" cy="457200"/>
          </a:xfrm>
          <a:prstGeom prst="ellipse">
            <a:avLst/>
          </a:prstGeom>
          <a:solidFill>
            <a:schemeClr val="accent1"/>
          </a:solidFill>
          <a:ln w="12700">
            <a:solidFill>
              <a:schemeClr val="accent1"/>
            </a:solidFill>
            <a:prstDash val="solid"/>
          </a:ln>
        </p:spPr>
      </p:sp>
      <p:sp>
        <p:nvSpPr>
          <p:cNvPr id="11" name="Text 9"/>
          <p:cNvSpPr txBox="1"/>
          <p:nvPr/>
        </p:nvSpPr>
        <p:spPr>
          <a:xfrm>
            <a:off x="3591992" y="1892808"/>
            <a:ext cx="457200" cy="457200"/>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12" name="Text 10"/>
          <p:cNvSpPr txBox="1"/>
          <p:nvPr/>
        </p:nvSpPr>
        <p:spPr>
          <a:xfrm>
            <a:off x="4195496" y="1892808"/>
            <a:ext cx="1607744" cy="457200"/>
          </a:xfrm>
          <a:prstGeom prst="rect">
            <a:avLst/>
          </a:prstGeom>
          <a:noFill/>
          <a:ln/>
        </p:spPr>
        <p:txBody>
          <a:bodyPr wrap="square" lIns="0" tIns="0" rIns="0" bIns="0" rtlCol="0" anchor="ctr"/>
          <a:lstStyle/>
          <a:p>
            <a:pPr indent="0" marL="0">
              <a:buNone/>
            </a:pPr>
            <a:r>
              <a:rPr lang="en-US" sz="1700" b="1" dirty="0">
                <a:solidFill>
                  <a:schemeClr val="bg1"/>
                </a:solidFill>
              </a:rPr>
              <a:t>Kasubbag</a:t>
            </a:r>
            <a:endParaRPr lang="en-US" sz="1700" dirty="0"/>
          </a:p>
        </p:txBody>
      </p:sp>
      <p:sp>
        <p:nvSpPr>
          <p:cNvPr id="13" name="Text 11"/>
          <p:cNvSpPr txBox="1"/>
          <p:nvPr/>
        </p:nvSpPr>
        <p:spPr>
          <a:xfrm>
            <a:off x="3591992" y="2560320"/>
            <a:ext cx="2165528" cy="822960"/>
          </a:xfrm>
          <a:prstGeom prst="rect">
            <a:avLst/>
          </a:prstGeom>
          <a:noFill/>
          <a:ln/>
        </p:spPr>
        <p:txBody>
          <a:bodyPr wrap="square" lIns="0" tIns="0" rIns="0" bIns="0" rtlCol="0" anchor="t"/>
          <a:lstStyle/>
          <a:p>
            <a:pPr indent="0" marL="0">
              <a:buNone/>
            </a:pPr>
            <a:r>
              <a:rPr lang="en-US" sz="1400" dirty="0">
                <a:solidFill>
                  <a:schemeClr val="accent6"/>
                </a:solidFill>
              </a:rPr>
              <a:t>Notifikasi → daftar periksa → teruskan</a:t>
            </a:r>
            <a:endParaRPr lang="en-US" sz="1400" dirty="0"/>
          </a:p>
        </p:txBody>
      </p:sp>
      <p:sp>
        <p:nvSpPr>
          <p:cNvPr id="14" name="demo3"/>
          <p:cNvSpPr/>
          <p:nvPr/>
        </p:nvSpPr>
        <p:spPr>
          <a:xfrm>
            <a:off x="6233008" y="1691640"/>
            <a:ext cx="2567864" cy="1828800"/>
          </a:xfrm>
          <a:prstGeom prst="roundRect">
            <a:avLst>
              <a:gd name="adj" fmla="val 6000"/>
            </a:avLst>
          </a:prstGeom>
          <a:solidFill>
            <a:srgbClr val="13233F"/>
          </a:solidFill>
          <a:ln w="9525">
            <a:solidFill>
              <a:srgbClr val="2A3B57"/>
            </a:solidFill>
            <a:prstDash val="solid"/>
          </a:ln>
        </p:spPr>
      </p:sp>
      <p:sp>
        <p:nvSpPr>
          <p:cNvPr id="15" name="Shape 13"/>
          <p:cNvSpPr/>
          <p:nvPr/>
        </p:nvSpPr>
        <p:spPr>
          <a:xfrm>
            <a:off x="6434176" y="1892808"/>
            <a:ext cx="457200" cy="457200"/>
          </a:xfrm>
          <a:prstGeom prst="ellipse">
            <a:avLst/>
          </a:prstGeom>
          <a:solidFill>
            <a:schemeClr val="accent1"/>
          </a:solidFill>
          <a:ln w="12700">
            <a:solidFill>
              <a:schemeClr val="accent1"/>
            </a:solidFill>
            <a:prstDash val="solid"/>
          </a:ln>
        </p:spPr>
      </p:sp>
      <p:sp>
        <p:nvSpPr>
          <p:cNvPr id="16" name="Text 14"/>
          <p:cNvSpPr txBox="1"/>
          <p:nvPr/>
        </p:nvSpPr>
        <p:spPr>
          <a:xfrm>
            <a:off x="6434176" y="1892808"/>
            <a:ext cx="457200" cy="457200"/>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17" name="Text 15"/>
          <p:cNvSpPr txBox="1"/>
          <p:nvPr/>
        </p:nvSpPr>
        <p:spPr>
          <a:xfrm>
            <a:off x="7037680" y="1892808"/>
            <a:ext cx="1607744" cy="457200"/>
          </a:xfrm>
          <a:prstGeom prst="rect">
            <a:avLst/>
          </a:prstGeom>
          <a:noFill/>
          <a:ln/>
        </p:spPr>
        <p:txBody>
          <a:bodyPr wrap="square" lIns="0" tIns="0" rIns="0" bIns="0" rtlCol="0" anchor="ctr"/>
          <a:lstStyle/>
          <a:p>
            <a:pPr indent="0" marL="0">
              <a:buNone/>
            </a:pPr>
            <a:r>
              <a:rPr lang="en-US" sz="1700" b="1" dirty="0">
                <a:solidFill>
                  <a:schemeClr val="bg1"/>
                </a:solidFill>
              </a:rPr>
              <a:t>Kabag</a:t>
            </a:r>
            <a:endParaRPr lang="en-US" sz="1700" dirty="0"/>
          </a:p>
        </p:txBody>
      </p:sp>
      <p:sp>
        <p:nvSpPr>
          <p:cNvPr id="18" name="Text 16"/>
          <p:cNvSpPr txBox="1"/>
          <p:nvPr/>
        </p:nvSpPr>
        <p:spPr>
          <a:xfrm>
            <a:off x="6434176" y="2560320"/>
            <a:ext cx="2165528" cy="822960"/>
          </a:xfrm>
          <a:prstGeom prst="rect">
            <a:avLst/>
          </a:prstGeom>
          <a:noFill/>
          <a:ln/>
        </p:spPr>
        <p:txBody>
          <a:bodyPr wrap="square" lIns="0" tIns="0" rIns="0" bIns="0" rtlCol="0" anchor="t"/>
          <a:lstStyle/>
          <a:p>
            <a:pPr indent="0" marL="0">
              <a:buNone/>
            </a:pPr>
            <a:r>
              <a:rPr lang="en-US" sz="1400" dirty="0">
                <a:solidFill>
                  <a:schemeClr val="accent6"/>
                </a:solidFill>
              </a:rPr>
              <a:t>Setujui dan tayangkan</a:t>
            </a:r>
            <a:endParaRPr lang="en-US" sz="1400" dirty="0"/>
          </a:p>
        </p:txBody>
      </p:sp>
      <p:sp>
        <p:nvSpPr>
          <p:cNvPr id="19" name="demo4"/>
          <p:cNvSpPr/>
          <p:nvPr/>
        </p:nvSpPr>
        <p:spPr>
          <a:xfrm>
            <a:off x="9075191" y="1691640"/>
            <a:ext cx="2567864" cy="1828800"/>
          </a:xfrm>
          <a:prstGeom prst="roundRect">
            <a:avLst>
              <a:gd name="adj" fmla="val 6000"/>
            </a:avLst>
          </a:prstGeom>
          <a:solidFill>
            <a:srgbClr val="13233F"/>
          </a:solidFill>
          <a:ln w="19050">
            <a:solidFill>
              <a:schemeClr val="accent1"/>
            </a:solidFill>
            <a:prstDash val="solid"/>
          </a:ln>
        </p:spPr>
      </p:sp>
      <p:sp>
        <p:nvSpPr>
          <p:cNvPr id="20" name="Shape 18"/>
          <p:cNvSpPr/>
          <p:nvPr/>
        </p:nvSpPr>
        <p:spPr>
          <a:xfrm>
            <a:off x="9276359" y="1892808"/>
            <a:ext cx="457200" cy="457200"/>
          </a:xfrm>
          <a:prstGeom prst="ellipse">
            <a:avLst/>
          </a:prstGeom>
          <a:solidFill>
            <a:schemeClr val="accent1"/>
          </a:solidFill>
          <a:ln w="12700">
            <a:solidFill>
              <a:schemeClr val="accent1"/>
            </a:solidFill>
            <a:prstDash val="solid"/>
          </a:ln>
        </p:spPr>
      </p:sp>
      <p:sp>
        <p:nvSpPr>
          <p:cNvPr id="21" name="Text 19"/>
          <p:cNvSpPr txBox="1"/>
          <p:nvPr/>
        </p:nvSpPr>
        <p:spPr>
          <a:xfrm>
            <a:off x="9276359" y="1892808"/>
            <a:ext cx="457200" cy="457200"/>
          </a:xfrm>
          <a:prstGeom prst="rect">
            <a:avLst/>
          </a:prstGeom>
          <a:noFill/>
          <a:ln/>
        </p:spPr>
        <p:txBody>
          <a:bodyPr wrap="square" lIns="0" tIns="0" rIns="0" bIns="0" rtlCol="0" anchor="ctr"/>
          <a:lstStyle/>
          <a:p>
            <a:pPr algn="ctr" indent="0" marL="0">
              <a:buNone/>
            </a:pPr>
            <a:r>
              <a:rPr lang="en-US" sz="1400" b="1" dirty="0">
                <a:solidFill>
                  <a:schemeClr val="tx2"/>
                </a:solidFill>
              </a:rPr>
              <a:t>4</a:t>
            </a:r>
            <a:endParaRPr lang="en-US" sz="1400" dirty="0"/>
          </a:p>
        </p:txBody>
      </p:sp>
      <p:sp>
        <p:nvSpPr>
          <p:cNvPr id="22" name="Text 20"/>
          <p:cNvSpPr txBox="1"/>
          <p:nvPr/>
        </p:nvSpPr>
        <p:spPr>
          <a:xfrm>
            <a:off x="9879863" y="1892808"/>
            <a:ext cx="1607744" cy="457200"/>
          </a:xfrm>
          <a:prstGeom prst="rect">
            <a:avLst/>
          </a:prstGeom>
          <a:noFill/>
          <a:ln/>
        </p:spPr>
        <p:txBody>
          <a:bodyPr wrap="square" lIns="0" tIns="0" rIns="0" bIns="0" rtlCol="0" anchor="ctr"/>
          <a:lstStyle/>
          <a:p>
            <a:pPr indent="0" marL="0">
              <a:buNone/>
            </a:pPr>
            <a:r>
              <a:rPr lang="en-US" sz="1700" b="1" dirty="0">
                <a:solidFill>
                  <a:schemeClr val="bg1"/>
                </a:solidFill>
              </a:rPr>
              <a:t>HP Wali Kota</a:t>
            </a:r>
            <a:endParaRPr lang="en-US" sz="1700" dirty="0"/>
          </a:p>
        </p:txBody>
      </p:sp>
      <p:sp>
        <p:nvSpPr>
          <p:cNvPr id="23" name="Text 21"/>
          <p:cNvSpPr txBox="1"/>
          <p:nvPr/>
        </p:nvSpPr>
        <p:spPr>
          <a:xfrm>
            <a:off x="9276359" y="2560320"/>
            <a:ext cx="2165528" cy="822960"/>
          </a:xfrm>
          <a:prstGeom prst="rect">
            <a:avLst/>
          </a:prstGeom>
          <a:noFill/>
          <a:ln/>
        </p:spPr>
        <p:txBody>
          <a:bodyPr wrap="square" lIns="0" tIns="0" rIns="0" bIns="0" rtlCol="0" anchor="t"/>
          <a:lstStyle/>
          <a:p>
            <a:pPr indent="0" marL="0">
              <a:buNone/>
            </a:pPr>
            <a:r>
              <a:rPr lang="en-US" sz="1400" dirty="0">
                <a:solidFill>
                  <a:schemeClr val="accent6"/>
                </a:solidFill>
              </a:rPr>
              <a:t>Agenda tiba → Hadir / disposisi ke Wawali</a:t>
            </a:r>
            <a:endParaRPr lang="en-US" sz="1400" dirty="0"/>
          </a:p>
        </p:txBody>
      </p:sp>
      <p:sp>
        <p:nvSpPr>
          <p:cNvPr id="24" name="demo5"/>
          <p:cNvSpPr/>
          <p:nvPr/>
        </p:nvSpPr>
        <p:spPr>
          <a:xfrm>
            <a:off x="548640" y="3840480"/>
            <a:ext cx="2567864" cy="1828800"/>
          </a:xfrm>
          <a:prstGeom prst="roundRect">
            <a:avLst>
              <a:gd name="adj" fmla="val 6000"/>
            </a:avLst>
          </a:prstGeom>
          <a:solidFill>
            <a:srgbClr val="13233F"/>
          </a:solidFill>
          <a:ln w="9525">
            <a:solidFill>
              <a:srgbClr val="2A3B57"/>
            </a:solidFill>
            <a:prstDash val="solid"/>
          </a:ln>
        </p:spPr>
      </p:sp>
      <p:sp>
        <p:nvSpPr>
          <p:cNvPr id="25" name="Shape 23"/>
          <p:cNvSpPr/>
          <p:nvPr/>
        </p:nvSpPr>
        <p:spPr>
          <a:xfrm>
            <a:off x="749808" y="4041648"/>
            <a:ext cx="457200" cy="457200"/>
          </a:xfrm>
          <a:prstGeom prst="ellipse">
            <a:avLst/>
          </a:prstGeom>
          <a:solidFill>
            <a:schemeClr val="accent1"/>
          </a:solidFill>
          <a:ln w="12700">
            <a:solidFill>
              <a:schemeClr val="accent1"/>
            </a:solidFill>
            <a:prstDash val="solid"/>
          </a:ln>
        </p:spPr>
      </p:sp>
      <p:sp>
        <p:nvSpPr>
          <p:cNvPr id="26" name="Text 24"/>
          <p:cNvSpPr txBox="1"/>
          <p:nvPr/>
        </p:nvSpPr>
        <p:spPr>
          <a:xfrm>
            <a:off x="749808" y="4041648"/>
            <a:ext cx="457200" cy="457200"/>
          </a:xfrm>
          <a:prstGeom prst="rect">
            <a:avLst/>
          </a:prstGeom>
          <a:noFill/>
          <a:ln/>
        </p:spPr>
        <p:txBody>
          <a:bodyPr wrap="square" lIns="0" tIns="0" rIns="0" bIns="0" rtlCol="0" anchor="ctr"/>
          <a:lstStyle/>
          <a:p>
            <a:pPr algn="ctr" indent="0" marL="0">
              <a:buNone/>
            </a:pPr>
            <a:r>
              <a:rPr lang="en-US" sz="1400" b="1" dirty="0">
                <a:solidFill>
                  <a:schemeClr val="tx2"/>
                </a:solidFill>
              </a:rPr>
              <a:t>5</a:t>
            </a:r>
            <a:endParaRPr lang="en-US" sz="1400" dirty="0"/>
          </a:p>
        </p:txBody>
      </p:sp>
      <p:sp>
        <p:nvSpPr>
          <p:cNvPr id="27" name="Text 25"/>
          <p:cNvSpPr txBox="1"/>
          <p:nvPr/>
        </p:nvSpPr>
        <p:spPr>
          <a:xfrm>
            <a:off x="1353312" y="4041648"/>
            <a:ext cx="1607744" cy="457200"/>
          </a:xfrm>
          <a:prstGeom prst="rect">
            <a:avLst/>
          </a:prstGeom>
          <a:noFill/>
          <a:ln/>
        </p:spPr>
        <p:txBody>
          <a:bodyPr wrap="square" lIns="0" tIns="0" rIns="0" bIns="0" rtlCol="0" anchor="ctr"/>
          <a:lstStyle/>
          <a:p>
            <a:pPr indent="0" marL="0">
              <a:buNone/>
            </a:pPr>
            <a:r>
              <a:rPr lang="en-US" sz="1700" b="1" dirty="0">
                <a:solidFill>
                  <a:schemeClr val="bg1"/>
                </a:solidFill>
              </a:rPr>
              <a:t>Admin RK</a:t>
            </a:r>
            <a:endParaRPr lang="en-US" sz="1700" dirty="0"/>
          </a:p>
        </p:txBody>
      </p:sp>
      <p:sp>
        <p:nvSpPr>
          <p:cNvPr id="28" name="Text 26"/>
          <p:cNvSpPr txBox="1"/>
          <p:nvPr/>
        </p:nvSpPr>
        <p:spPr>
          <a:xfrm>
            <a:off x="749808" y="4709160"/>
            <a:ext cx="2165528" cy="822960"/>
          </a:xfrm>
          <a:prstGeom prst="rect">
            <a:avLst/>
          </a:prstGeom>
          <a:noFill/>
          <a:ln/>
        </p:spPr>
        <p:txBody>
          <a:bodyPr wrap="square" lIns="0" tIns="0" rIns="0" bIns="0" rtlCol="0" anchor="t"/>
          <a:lstStyle/>
          <a:p>
            <a:pPr indent="0" marL="0">
              <a:buNone/>
            </a:pPr>
            <a:r>
              <a:rPr lang="en-US" sz="1400" dirty="0">
                <a:solidFill>
                  <a:schemeClr val="accent6"/>
                </a:solidFill>
              </a:rPr>
              <a:t>Tugaskan petugas → Riwayat Alur</a:t>
            </a:r>
            <a:endParaRPr lang="en-US" sz="1400" dirty="0"/>
          </a:p>
        </p:txBody>
      </p:sp>
      <p:sp>
        <p:nvSpPr>
          <p:cNvPr id="29" name="demo6"/>
          <p:cNvSpPr/>
          <p:nvPr/>
        </p:nvSpPr>
        <p:spPr>
          <a:xfrm>
            <a:off x="3390824" y="3840480"/>
            <a:ext cx="2567864" cy="1828800"/>
          </a:xfrm>
          <a:prstGeom prst="roundRect">
            <a:avLst>
              <a:gd name="adj" fmla="val 6000"/>
            </a:avLst>
          </a:prstGeom>
          <a:solidFill>
            <a:srgbClr val="13233F"/>
          </a:solidFill>
          <a:ln w="9525">
            <a:solidFill>
              <a:srgbClr val="2A3B57"/>
            </a:solidFill>
            <a:prstDash val="solid"/>
          </a:ln>
        </p:spPr>
      </p:sp>
      <p:sp>
        <p:nvSpPr>
          <p:cNvPr id="30" name="Shape 28"/>
          <p:cNvSpPr/>
          <p:nvPr/>
        </p:nvSpPr>
        <p:spPr>
          <a:xfrm>
            <a:off x="3591992" y="4041648"/>
            <a:ext cx="457200" cy="457200"/>
          </a:xfrm>
          <a:prstGeom prst="ellipse">
            <a:avLst/>
          </a:prstGeom>
          <a:solidFill>
            <a:schemeClr val="accent1"/>
          </a:solidFill>
          <a:ln w="12700">
            <a:solidFill>
              <a:schemeClr val="accent1"/>
            </a:solidFill>
            <a:prstDash val="solid"/>
          </a:ln>
        </p:spPr>
      </p:sp>
      <p:sp>
        <p:nvSpPr>
          <p:cNvPr id="31" name="Text 29"/>
          <p:cNvSpPr txBox="1"/>
          <p:nvPr/>
        </p:nvSpPr>
        <p:spPr>
          <a:xfrm>
            <a:off x="3591992" y="4041648"/>
            <a:ext cx="457200" cy="457200"/>
          </a:xfrm>
          <a:prstGeom prst="rect">
            <a:avLst/>
          </a:prstGeom>
          <a:noFill/>
          <a:ln/>
        </p:spPr>
        <p:txBody>
          <a:bodyPr wrap="square" lIns="0" tIns="0" rIns="0" bIns="0" rtlCol="0" anchor="ctr"/>
          <a:lstStyle/>
          <a:p>
            <a:pPr algn="ctr" indent="0" marL="0">
              <a:buNone/>
            </a:pPr>
            <a:r>
              <a:rPr lang="en-US" sz="1400" b="1" dirty="0">
                <a:solidFill>
                  <a:schemeClr val="tx2"/>
                </a:solidFill>
              </a:rPr>
              <a:t>6</a:t>
            </a:r>
            <a:endParaRPr lang="en-US" sz="1400" dirty="0"/>
          </a:p>
        </p:txBody>
      </p:sp>
      <p:sp>
        <p:nvSpPr>
          <p:cNvPr id="32" name="Text 30"/>
          <p:cNvSpPr txBox="1"/>
          <p:nvPr/>
        </p:nvSpPr>
        <p:spPr>
          <a:xfrm>
            <a:off x="4195496" y="4041648"/>
            <a:ext cx="1607744" cy="457200"/>
          </a:xfrm>
          <a:prstGeom prst="rect">
            <a:avLst/>
          </a:prstGeom>
          <a:noFill/>
          <a:ln/>
        </p:spPr>
        <p:txBody>
          <a:bodyPr wrap="square" lIns="0" tIns="0" rIns="0" bIns="0" rtlCol="0" anchor="ctr"/>
          <a:lstStyle/>
          <a:p>
            <a:pPr indent="0" marL="0">
              <a:buNone/>
            </a:pPr>
            <a:r>
              <a:rPr lang="en-US" sz="1700" b="1" dirty="0">
                <a:solidFill>
                  <a:schemeClr val="bg1"/>
                </a:solidFill>
              </a:rPr>
              <a:t>Kanal publik</a:t>
            </a:r>
            <a:endParaRPr lang="en-US" sz="1700" dirty="0"/>
          </a:p>
        </p:txBody>
      </p:sp>
      <p:sp>
        <p:nvSpPr>
          <p:cNvPr id="33" name="Text 31"/>
          <p:cNvSpPr txBox="1"/>
          <p:nvPr/>
        </p:nvSpPr>
        <p:spPr>
          <a:xfrm>
            <a:off x="3591992" y="4709160"/>
            <a:ext cx="2165528" cy="822960"/>
          </a:xfrm>
          <a:prstGeom prst="rect">
            <a:avLst/>
          </a:prstGeom>
          <a:noFill/>
          <a:ln/>
        </p:spPr>
        <p:txBody>
          <a:bodyPr wrap="square" lIns="0" tIns="0" rIns="0" bIns="0" rtlCol="0" anchor="t"/>
          <a:lstStyle/>
          <a:p>
            <a:pPr indent="0" marL="0">
              <a:buNone/>
            </a:pPr>
            <a:r>
              <a:rPr lang="en-US" sz="1400" dirty="0">
                <a:solidFill>
                  <a:schemeClr val="accent6"/>
                </a:solidFill>
              </a:rPr>
              <a:t>Ajukan audiensi → kode penelusuran</a:t>
            </a:r>
            <a:endParaRPr lang="en-US" sz="1400" dirty="0"/>
          </a:p>
        </p:txBody>
      </p:sp>
      <p:sp>
        <p:nvSpPr>
          <p:cNvPr id="34" name="demo7"/>
          <p:cNvSpPr/>
          <p:nvPr/>
        </p:nvSpPr>
        <p:spPr>
          <a:xfrm>
            <a:off x="6233008" y="3840480"/>
            <a:ext cx="2567864" cy="1828800"/>
          </a:xfrm>
          <a:prstGeom prst="roundRect">
            <a:avLst>
              <a:gd name="adj" fmla="val 6000"/>
            </a:avLst>
          </a:prstGeom>
          <a:solidFill>
            <a:srgbClr val="13233F"/>
          </a:solidFill>
          <a:ln w="9525">
            <a:solidFill>
              <a:srgbClr val="2A3B57"/>
            </a:solidFill>
            <a:prstDash val="solid"/>
          </a:ln>
        </p:spPr>
      </p:sp>
      <p:sp>
        <p:nvSpPr>
          <p:cNvPr id="35" name="Shape 33"/>
          <p:cNvSpPr/>
          <p:nvPr/>
        </p:nvSpPr>
        <p:spPr>
          <a:xfrm>
            <a:off x="6434176" y="4041648"/>
            <a:ext cx="457200" cy="457200"/>
          </a:xfrm>
          <a:prstGeom prst="ellipse">
            <a:avLst/>
          </a:prstGeom>
          <a:solidFill>
            <a:schemeClr val="accent1"/>
          </a:solidFill>
          <a:ln w="12700">
            <a:solidFill>
              <a:schemeClr val="accent1"/>
            </a:solidFill>
            <a:prstDash val="solid"/>
          </a:ln>
        </p:spPr>
      </p:sp>
      <p:sp>
        <p:nvSpPr>
          <p:cNvPr id="36" name="Text 34"/>
          <p:cNvSpPr txBox="1"/>
          <p:nvPr/>
        </p:nvSpPr>
        <p:spPr>
          <a:xfrm>
            <a:off x="6434176" y="4041648"/>
            <a:ext cx="457200" cy="457200"/>
          </a:xfrm>
          <a:prstGeom prst="rect">
            <a:avLst/>
          </a:prstGeom>
          <a:noFill/>
          <a:ln/>
        </p:spPr>
        <p:txBody>
          <a:bodyPr wrap="square" lIns="0" tIns="0" rIns="0" bIns="0" rtlCol="0" anchor="ctr"/>
          <a:lstStyle/>
          <a:p>
            <a:pPr algn="ctr" indent="0" marL="0">
              <a:buNone/>
            </a:pPr>
            <a:r>
              <a:rPr lang="en-US" sz="1400" b="1" dirty="0">
                <a:solidFill>
                  <a:schemeClr val="tx2"/>
                </a:solidFill>
              </a:rPr>
              <a:t>7</a:t>
            </a:r>
            <a:endParaRPr lang="en-US" sz="1400" dirty="0"/>
          </a:p>
        </p:txBody>
      </p:sp>
      <p:sp>
        <p:nvSpPr>
          <p:cNvPr id="37" name="Text 35"/>
          <p:cNvSpPr txBox="1"/>
          <p:nvPr/>
        </p:nvSpPr>
        <p:spPr>
          <a:xfrm>
            <a:off x="7037680" y="4041648"/>
            <a:ext cx="1607744" cy="457200"/>
          </a:xfrm>
          <a:prstGeom prst="rect">
            <a:avLst/>
          </a:prstGeom>
          <a:noFill/>
          <a:ln/>
        </p:spPr>
        <p:txBody>
          <a:bodyPr wrap="square" lIns="0" tIns="0" rIns="0" bIns="0" rtlCol="0" anchor="ctr"/>
          <a:lstStyle/>
          <a:p>
            <a:pPr indent="0" marL="0">
              <a:buNone/>
            </a:pPr>
            <a:r>
              <a:rPr lang="en-US" sz="1700" b="1" dirty="0">
                <a:solidFill>
                  <a:schemeClr val="bg1"/>
                </a:solidFill>
              </a:rPr>
              <a:t>Kabag</a:t>
            </a:r>
            <a:endParaRPr lang="en-US" sz="1700" dirty="0"/>
          </a:p>
        </p:txBody>
      </p:sp>
      <p:sp>
        <p:nvSpPr>
          <p:cNvPr id="38" name="Text 36"/>
          <p:cNvSpPr txBox="1"/>
          <p:nvPr/>
        </p:nvSpPr>
        <p:spPr>
          <a:xfrm>
            <a:off x="6434176" y="4709160"/>
            <a:ext cx="2165528" cy="822960"/>
          </a:xfrm>
          <a:prstGeom prst="rect">
            <a:avLst/>
          </a:prstGeom>
          <a:noFill/>
          <a:ln/>
        </p:spPr>
        <p:txBody>
          <a:bodyPr wrap="square" lIns="0" tIns="0" rIns="0" bIns="0" rtlCol="0" anchor="t"/>
          <a:lstStyle/>
          <a:p>
            <a:pPr indent="0" marL="0">
              <a:buNone/>
            </a:pPr>
            <a:r>
              <a:rPr lang="en-US" sz="1400" dirty="0">
                <a:solidFill>
                  <a:schemeClr val="accent6"/>
                </a:solidFill>
              </a:rPr>
              <a:t>Monitor WA → tanda terima terkirim</a:t>
            </a:r>
            <a:endParaRPr lang="en-US" sz="1400" dirty="0"/>
          </a:p>
        </p:txBody>
      </p:sp>
      <p:sp>
        <p:nvSpPr>
          <p:cNvPr id="39" name="Text 37"/>
          <p:cNvSpPr txBox="1"/>
          <p:nvPr/>
        </p:nvSpPr>
        <p:spPr>
          <a:xfrm>
            <a:off x="9075191" y="3931920"/>
            <a:ext cx="2567864" cy="1463040"/>
          </a:xfrm>
          <a:prstGeom prst="rect">
            <a:avLst/>
          </a:prstGeom>
          <a:noFill/>
          <a:ln/>
        </p:spPr>
        <p:txBody>
          <a:bodyPr wrap="square" lIns="0" tIns="0" rIns="0" bIns="0" rtlCol="0" anchor="t"/>
          <a:lstStyle/>
          <a:p>
            <a:pPr indent="0" marL="0">
              <a:spcAft>
                <a:spcPts val="600"/>
              </a:spcAft>
              <a:buNone/>
            </a:pPr>
            <a:r>
              <a:rPr lang="en-US" sz="1400" i="1" dirty="0">
                <a:solidFill>
                  <a:schemeClr val="accent1"/>
                </a:solidFill>
              </a:rPr>
              <a:t>Langkah 1–4: satu alur sampai ke Pimpinan.</a:t>
            </a:r>
            <a:endParaRPr lang="en-US" sz="1400" dirty="0"/>
          </a:p>
          <a:p>
            <a:pPr indent="0" marL="0">
              <a:spcAft>
                <a:spcPts val="600"/>
              </a:spcAft>
              <a:buNone/>
            </a:pPr>
            <a:r>
              <a:rPr lang="en-US" sz="1400" i="1" dirty="0">
                <a:solidFill>
                  <a:schemeClr val="accent1"/>
                </a:solidFill>
              </a:rPr>
              <a:t>Langkah 5–7: setiap keputusan dan pesan tercatat.</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lIns="0" tIns="0" rIns="0" bIns="0" rtlCol="0" anchor="ctr"/>
          <a:lstStyle/>
          <a:p>
            <a:pPr indent="0" marL="0">
              <a:buNone/>
            </a:pPr>
            <a:r>
              <a:rPr lang="en-US" sz="1200" b="1" spc="200" kern="0" dirty="0">
                <a:solidFill>
                  <a:schemeClr val="accent5"/>
                </a:solidFill>
              </a:rPr>
              <a:t>MANFAAT INOVASI  ·  25%</a:t>
            </a:r>
            <a:endParaRPr lang="en-US" sz="1200" dirty="0"/>
          </a:p>
        </p:txBody>
      </p:sp>
      <p:sp>
        <p:nvSpPr>
          <p:cNvPr id="3" name="Text 0"/>
          <p:cNvSpPr/>
          <p:nvPr>
            <p:ph idx="101" type="title" hasCustomPrompt="1"/>
          </p:nvPr>
        </p:nvSpPr>
        <p:spPr>
          <a:xfrm>
            <a:off x="548640" y="603504"/>
            <a:ext cx="11094415" cy="777240"/>
          </a:xfrm>
          <a:prstGeom prst="rect">
            <a:avLst/>
          </a:prstGeom>
          <a:noFill/>
          <a:ln/>
        </p:spPr>
        <p:txBody>
          <a:bodyPr wrap="square" lIns="0" tIns="0" rIns="0" bIns="0" rtlCol="0" anchor="t"/>
          <a:lstStyle/>
          <a:p>
            <a:pPr algn="l" indent="0" marL="0">
              <a:buNone/>
            </a:pPr>
            <a:r>
              <a:rPr lang="en-US" sz="2800" b="1" dirty="0">
                <a:solidFill>
                  <a:schemeClr val="tx2"/>
                </a:solidFill>
              </a:rPr>
              <a:t>Lebih cepat, terlacak, dan tanpa belanja pengadaan</a:t>
            </a:r>
            <a:endParaRPr lang="en-US" sz="2800" dirty="0"/>
          </a:p>
        </p:txBody>
      </p:sp>
      <p:sp>
        <p:nvSpPr>
          <p:cNvPr id="4" name="pembanding"/>
          <p:cNvSpPr/>
          <p:nvPr/>
        </p:nvSpPr>
        <p:spPr>
          <a:xfrm>
            <a:off x="548640" y="1645920"/>
            <a:ext cx="4572000" cy="4343400"/>
          </a:xfrm>
          <a:prstGeom prst="roundRect">
            <a:avLst>
              <a:gd name="adj" fmla="val 2526"/>
            </a:avLst>
          </a:prstGeom>
          <a:solidFill>
            <a:schemeClr val="tx2"/>
          </a:solidFill>
          <a:ln w="9525">
            <a:solidFill>
              <a:schemeClr val="tx2"/>
            </a:solidFill>
            <a:prstDash val="solid"/>
          </a:ln>
        </p:spPr>
      </p:sp>
      <p:sp>
        <p:nvSpPr>
          <p:cNvPr id="5" name="Text 3"/>
          <p:cNvSpPr txBox="1"/>
          <p:nvPr/>
        </p:nvSpPr>
        <p:spPr>
          <a:xfrm>
            <a:off x="868680" y="1874520"/>
            <a:ext cx="393192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DARI PENGAJUAN SAMPAI TAYANG</a:t>
            </a:r>
            <a:endParaRPr lang="en-US" sz="1200" dirty="0"/>
          </a:p>
        </p:txBody>
      </p:sp>
      <p:sp>
        <p:nvSpPr>
          <p:cNvPr id="6" name="Text 4"/>
          <p:cNvSpPr txBox="1"/>
          <p:nvPr/>
        </p:nvSpPr>
        <p:spPr>
          <a:xfrm>
            <a:off x="868680" y="2240280"/>
            <a:ext cx="4023360" cy="1051560"/>
          </a:xfrm>
          <a:prstGeom prst="rect">
            <a:avLst/>
          </a:prstGeom>
          <a:noFill/>
          <a:ln/>
        </p:spPr>
        <p:txBody>
          <a:bodyPr wrap="square" lIns="0" tIns="0" rIns="0" bIns="0" rtlCol="0" anchor="t"/>
          <a:lstStyle/>
          <a:p>
            <a:pPr indent="0" marL="0">
              <a:buNone/>
            </a:pPr>
            <a:r>
              <a:rPr lang="en-US" sz="6600" b="1" dirty="0">
                <a:solidFill>
                  <a:schemeClr val="bg1"/>
                </a:solidFill>
              </a:rPr>
              <a:t>1,99 jam</a:t>
            </a:r>
            <a:endParaRPr lang="en-US" sz="6600" dirty="0"/>
          </a:p>
        </p:txBody>
      </p:sp>
      <p:sp>
        <p:nvSpPr>
          <p:cNvPr id="7" name="Text 5"/>
          <p:cNvSpPr txBox="1"/>
          <p:nvPr/>
        </p:nvSpPr>
        <p:spPr>
          <a:xfrm>
            <a:off x="868680" y="3291840"/>
            <a:ext cx="3931920" cy="320040"/>
          </a:xfrm>
          <a:prstGeom prst="rect">
            <a:avLst/>
          </a:prstGeom>
          <a:noFill/>
          <a:ln/>
        </p:spPr>
        <p:txBody>
          <a:bodyPr wrap="square" lIns="0" tIns="0" rIns="0" bIns="0" rtlCol="0" anchor="t"/>
          <a:lstStyle/>
          <a:p>
            <a:pPr indent="0" marL="0">
              <a:buNone/>
            </a:pPr>
            <a:r>
              <a:rPr lang="en-US" sz="1500" dirty="0">
                <a:solidFill>
                  <a:schemeClr val="accent6"/>
                </a:solidFill>
              </a:rPr>
              <a:t>median sesudah Prokopim Hibot</a:t>
            </a:r>
            <a:endParaRPr lang="en-US" sz="1500" dirty="0"/>
          </a:p>
        </p:txBody>
      </p:sp>
      <p:sp>
        <p:nvSpPr>
          <p:cNvPr id="8" name="Shape 6"/>
          <p:cNvSpPr/>
          <p:nvPr/>
        </p:nvSpPr>
        <p:spPr>
          <a:xfrm>
            <a:off x="868680" y="3840480"/>
            <a:ext cx="3931920" cy="0"/>
          </a:xfrm>
          <a:prstGeom prst="line">
            <a:avLst/>
          </a:prstGeom>
          <a:noFill/>
          <a:ln w="12700">
            <a:solidFill>
              <a:srgbClr val="2A3B57"/>
            </a:solidFill>
            <a:prstDash val="solid"/>
          </a:ln>
        </p:spPr>
      </p:sp>
      <p:sp>
        <p:nvSpPr>
          <p:cNvPr id="9" name="Text 7"/>
          <p:cNvSpPr txBox="1"/>
          <p:nvPr/>
        </p:nvSpPr>
        <p:spPr>
          <a:xfrm>
            <a:off x="868680" y="4023360"/>
            <a:ext cx="3931920" cy="640080"/>
          </a:xfrm>
          <a:prstGeom prst="rect">
            <a:avLst/>
          </a:prstGeom>
          <a:noFill/>
          <a:ln/>
        </p:spPr>
        <p:txBody>
          <a:bodyPr wrap="square" lIns="0" tIns="0" rIns="0" bIns="0" rtlCol="0" anchor="t"/>
          <a:lstStyle/>
          <a:p>
            <a:pPr indent="0" marL="0">
              <a:buNone/>
            </a:pPr>
            <a:r>
              <a:rPr lang="en-US" sz="3400" b="1" dirty="0">
                <a:solidFill>
                  <a:schemeClr val="accent6"/>
                </a:solidFill>
              </a:rPr>
              <a:t>±18–24 jam</a:t>
            </a:r>
            <a:endParaRPr lang="en-US" sz="3400" dirty="0"/>
          </a:p>
        </p:txBody>
      </p:sp>
      <p:sp>
        <p:nvSpPr>
          <p:cNvPr id="10" name="Text 8"/>
          <p:cNvSpPr txBox="1"/>
          <p:nvPr/>
        </p:nvSpPr>
        <p:spPr>
          <a:xfrm>
            <a:off x="868680" y="4663440"/>
            <a:ext cx="3931920" cy="320040"/>
          </a:xfrm>
          <a:prstGeom prst="rect">
            <a:avLst/>
          </a:prstGeom>
          <a:noFill/>
          <a:ln/>
        </p:spPr>
        <p:txBody>
          <a:bodyPr wrap="square" lIns="0" tIns="0" rIns="0" bIns="0" rtlCol="0" anchor="t"/>
          <a:lstStyle/>
          <a:p>
            <a:pPr indent="0" marL="0">
              <a:buNone/>
            </a:pPr>
            <a:r>
              <a:rPr lang="en-US" sz="1400" dirty="0">
                <a:solidFill>
                  <a:schemeClr val="accent6"/>
                </a:solidFill>
              </a:rPr>
              <a:t>perkiraan alur lama (tidak pernah dicatat)</a:t>
            </a:r>
            <a:endParaRPr lang="en-US" sz="1400" dirty="0"/>
          </a:p>
        </p:txBody>
      </p:sp>
      <p:sp>
        <p:nvSpPr>
          <p:cNvPr id="11" name="Text 9"/>
          <p:cNvSpPr txBox="1"/>
          <p:nvPr/>
        </p:nvSpPr>
        <p:spPr>
          <a:xfrm>
            <a:off x="868680" y="5212080"/>
            <a:ext cx="3931920" cy="457200"/>
          </a:xfrm>
          <a:prstGeom prst="rect">
            <a:avLst/>
          </a:prstGeom>
          <a:noFill/>
          <a:ln/>
        </p:spPr>
        <p:txBody>
          <a:bodyPr wrap="square" lIns="0" tIns="0" rIns="0" bIns="0" rtlCol="0" anchor="t"/>
          <a:lstStyle/>
          <a:p>
            <a:pPr indent="0" marL="0">
              <a:buNone/>
            </a:pPr>
            <a:r>
              <a:rPr lang="en-US" sz="1800" b="1" dirty="0">
                <a:solidFill>
                  <a:schemeClr val="accent1"/>
                </a:solidFill>
              </a:rPr>
              <a:t>99,3% tayang kurang dari 24 jam</a:t>
            </a:r>
            <a:endParaRPr lang="en-US" sz="1800" dirty="0"/>
          </a:p>
        </p:txBody>
      </p:sp>
      <p:sp>
        <p:nvSpPr>
          <p:cNvPr id="12" name="angka1"/>
          <p:cNvSpPr/>
          <p:nvPr/>
        </p:nvSpPr>
        <p:spPr>
          <a:xfrm>
            <a:off x="5486400" y="1645920"/>
            <a:ext cx="2964028" cy="1280160"/>
          </a:xfrm>
          <a:prstGeom prst="roundRect">
            <a:avLst>
              <a:gd name="adj" fmla="val 8571"/>
            </a:avLst>
          </a:prstGeom>
          <a:solidFill>
            <a:schemeClr val="bg2"/>
          </a:solidFill>
          <a:ln w="9525">
            <a:solidFill>
              <a:schemeClr val="bg2"/>
            </a:solidFill>
            <a:prstDash val="solid"/>
          </a:ln>
        </p:spPr>
      </p:sp>
      <p:sp>
        <p:nvSpPr>
          <p:cNvPr id="13" name="Text 11"/>
          <p:cNvSpPr txBox="1"/>
          <p:nvPr/>
        </p:nvSpPr>
        <p:spPr>
          <a:xfrm>
            <a:off x="5715000" y="1783080"/>
            <a:ext cx="2506828" cy="594360"/>
          </a:xfrm>
          <a:prstGeom prst="rect">
            <a:avLst/>
          </a:prstGeom>
          <a:noFill/>
          <a:ln/>
        </p:spPr>
        <p:txBody>
          <a:bodyPr wrap="square" lIns="0" tIns="0" rIns="0" bIns="0" rtlCol="0" anchor="t"/>
          <a:lstStyle/>
          <a:p>
            <a:pPr indent="0" marL="0">
              <a:buNone/>
            </a:pPr>
            <a:r>
              <a:rPr lang="en-US" sz="3000" b="1" dirty="0">
                <a:solidFill>
                  <a:schemeClr val="tx2"/>
                </a:solidFill>
              </a:rPr>
              <a:t>8 menit</a:t>
            </a:r>
            <a:endParaRPr lang="en-US" sz="3000" dirty="0"/>
          </a:p>
        </p:txBody>
      </p:sp>
      <p:sp>
        <p:nvSpPr>
          <p:cNvPr id="14" name="Text 12"/>
          <p:cNvSpPr txBox="1"/>
          <p:nvPr/>
        </p:nvSpPr>
        <p:spPr>
          <a:xfrm>
            <a:off x="5715000" y="2359152"/>
            <a:ext cx="2506828" cy="502920"/>
          </a:xfrm>
          <a:prstGeom prst="rect">
            <a:avLst/>
          </a:prstGeom>
          <a:noFill/>
          <a:ln/>
        </p:spPr>
        <p:txBody>
          <a:bodyPr wrap="square" lIns="0" tIns="0" rIns="0" bIns="0" rtlCol="0" anchor="t"/>
          <a:lstStyle/>
          <a:p>
            <a:pPr indent="0" marL="0">
              <a:buNone/>
            </a:pPr>
            <a:r>
              <a:rPr lang="en-US" sz="1300" dirty="0">
                <a:solidFill>
                  <a:schemeClr val="accent5"/>
                </a:solidFill>
              </a:rPr>
              <a:t>median keputusan Kepala Bagian</a:t>
            </a:r>
            <a:endParaRPr lang="en-US" sz="1300" dirty="0"/>
          </a:p>
        </p:txBody>
      </p:sp>
      <p:sp>
        <p:nvSpPr>
          <p:cNvPr id="15" name="angka2"/>
          <p:cNvSpPr/>
          <p:nvPr/>
        </p:nvSpPr>
        <p:spPr>
          <a:xfrm>
            <a:off x="8679028" y="1645920"/>
            <a:ext cx="2964028" cy="1280160"/>
          </a:xfrm>
          <a:prstGeom prst="roundRect">
            <a:avLst>
              <a:gd name="adj" fmla="val 8571"/>
            </a:avLst>
          </a:prstGeom>
          <a:solidFill>
            <a:schemeClr val="bg2"/>
          </a:solidFill>
          <a:ln w="9525">
            <a:solidFill>
              <a:schemeClr val="bg2"/>
            </a:solidFill>
            <a:prstDash val="solid"/>
          </a:ln>
        </p:spPr>
      </p:sp>
      <p:sp>
        <p:nvSpPr>
          <p:cNvPr id="16" name="Text 14"/>
          <p:cNvSpPr txBox="1"/>
          <p:nvPr/>
        </p:nvSpPr>
        <p:spPr>
          <a:xfrm>
            <a:off x="8907628" y="1783080"/>
            <a:ext cx="2506828" cy="594360"/>
          </a:xfrm>
          <a:prstGeom prst="rect">
            <a:avLst/>
          </a:prstGeom>
          <a:noFill/>
          <a:ln/>
        </p:spPr>
        <p:txBody>
          <a:bodyPr wrap="square" lIns="0" tIns="0" rIns="0" bIns="0" rtlCol="0" anchor="t"/>
          <a:lstStyle/>
          <a:p>
            <a:pPr indent="0" marL="0">
              <a:buNone/>
            </a:pPr>
            <a:r>
              <a:rPr lang="en-US" sz="3000" b="1" dirty="0">
                <a:solidFill>
                  <a:schemeClr val="tx2"/>
                </a:solidFill>
              </a:rPr>
              <a:t>47,5%</a:t>
            </a:r>
            <a:endParaRPr lang="en-US" sz="3000" dirty="0"/>
          </a:p>
        </p:txBody>
      </p:sp>
      <p:sp>
        <p:nvSpPr>
          <p:cNvPr id="17" name="Text 15"/>
          <p:cNvSpPr txBox="1"/>
          <p:nvPr/>
        </p:nvSpPr>
        <p:spPr>
          <a:xfrm>
            <a:off x="8907628" y="2359152"/>
            <a:ext cx="2506828" cy="502920"/>
          </a:xfrm>
          <a:prstGeom prst="rect">
            <a:avLst/>
          </a:prstGeom>
          <a:noFill/>
          <a:ln/>
        </p:spPr>
        <p:txBody>
          <a:bodyPr wrap="square" lIns="0" tIns="0" rIns="0" bIns="0" rtlCol="0" anchor="t"/>
          <a:lstStyle/>
          <a:p>
            <a:pPr indent="0" marL="0">
              <a:buNone/>
            </a:pPr>
            <a:r>
              <a:rPr lang="en-US" sz="1300" dirty="0">
                <a:solidFill>
                  <a:schemeClr val="accent5"/>
                </a:solidFill>
              </a:rPr>
              <a:t>telaah dan persetujuan di luar jam kerja (405 dari 852)</a:t>
            </a:r>
            <a:endParaRPr lang="en-US" sz="1300" dirty="0"/>
          </a:p>
        </p:txBody>
      </p:sp>
      <p:sp>
        <p:nvSpPr>
          <p:cNvPr id="18" name="angka3"/>
          <p:cNvSpPr/>
          <p:nvPr/>
        </p:nvSpPr>
        <p:spPr>
          <a:xfrm>
            <a:off x="5486400" y="3172968"/>
            <a:ext cx="2964028" cy="1280160"/>
          </a:xfrm>
          <a:prstGeom prst="roundRect">
            <a:avLst>
              <a:gd name="adj" fmla="val 8571"/>
            </a:avLst>
          </a:prstGeom>
          <a:solidFill>
            <a:schemeClr val="bg2"/>
          </a:solidFill>
          <a:ln w="9525">
            <a:solidFill>
              <a:schemeClr val="bg2"/>
            </a:solidFill>
            <a:prstDash val="solid"/>
          </a:ln>
        </p:spPr>
      </p:sp>
      <p:sp>
        <p:nvSpPr>
          <p:cNvPr id="19" name="Text 17"/>
          <p:cNvSpPr txBox="1"/>
          <p:nvPr/>
        </p:nvSpPr>
        <p:spPr>
          <a:xfrm>
            <a:off x="5715000" y="3310128"/>
            <a:ext cx="2506828" cy="594360"/>
          </a:xfrm>
          <a:prstGeom prst="rect">
            <a:avLst/>
          </a:prstGeom>
          <a:noFill/>
          <a:ln/>
        </p:spPr>
        <p:txBody>
          <a:bodyPr wrap="square" lIns="0" tIns="0" rIns="0" bIns="0" rtlCol="0" anchor="t"/>
          <a:lstStyle/>
          <a:p>
            <a:pPr indent="0" marL="0">
              <a:buNone/>
            </a:pPr>
            <a:r>
              <a:rPr lang="en-US" sz="3000" b="1" dirty="0">
                <a:solidFill>
                  <a:schemeClr val="tx2"/>
                </a:solidFill>
              </a:rPr>
              <a:t>3.072</a:t>
            </a:r>
            <a:endParaRPr lang="en-US" sz="3000" dirty="0"/>
          </a:p>
        </p:txBody>
      </p:sp>
      <p:sp>
        <p:nvSpPr>
          <p:cNvPr id="20" name="Text 18"/>
          <p:cNvSpPr txBox="1"/>
          <p:nvPr/>
        </p:nvSpPr>
        <p:spPr>
          <a:xfrm>
            <a:off x="5715000" y="3886200"/>
            <a:ext cx="2506828" cy="502920"/>
          </a:xfrm>
          <a:prstGeom prst="rect">
            <a:avLst/>
          </a:prstGeom>
          <a:noFill/>
          <a:ln/>
        </p:spPr>
        <p:txBody>
          <a:bodyPr wrap="square" lIns="0" tIns="0" rIns="0" bIns="0" rtlCol="0" anchor="t"/>
          <a:lstStyle/>
          <a:p>
            <a:pPr indent="0" marL="0">
              <a:buNone/>
            </a:pPr>
            <a:r>
              <a:rPr lang="en-US" sz="1300" dirty="0">
                <a:solidFill>
                  <a:schemeClr val="accent5"/>
                </a:solidFill>
              </a:rPr>
              <a:t>peristiwa jejak audit pada 438 kegiatan</a:t>
            </a:r>
            <a:endParaRPr lang="en-US" sz="1300" dirty="0"/>
          </a:p>
        </p:txBody>
      </p:sp>
      <p:sp>
        <p:nvSpPr>
          <p:cNvPr id="21" name="angka4"/>
          <p:cNvSpPr/>
          <p:nvPr/>
        </p:nvSpPr>
        <p:spPr>
          <a:xfrm>
            <a:off x="8679028" y="3172968"/>
            <a:ext cx="2964028" cy="1280160"/>
          </a:xfrm>
          <a:prstGeom prst="roundRect">
            <a:avLst>
              <a:gd name="adj" fmla="val 8571"/>
            </a:avLst>
          </a:prstGeom>
          <a:solidFill>
            <a:schemeClr val="bg2"/>
          </a:solidFill>
          <a:ln w="9525">
            <a:solidFill>
              <a:schemeClr val="bg2"/>
            </a:solidFill>
            <a:prstDash val="solid"/>
          </a:ln>
        </p:spPr>
      </p:sp>
      <p:sp>
        <p:nvSpPr>
          <p:cNvPr id="22" name="Text 20"/>
          <p:cNvSpPr txBox="1"/>
          <p:nvPr/>
        </p:nvSpPr>
        <p:spPr>
          <a:xfrm>
            <a:off x="8907628" y="3310128"/>
            <a:ext cx="2506828" cy="594360"/>
          </a:xfrm>
          <a:prstGeom prst="rect">
            <a:avLst/>
          </a:prstGeom>
          <a:noFill/>
          <a:ln/>
        </p:spPr>
        <p:txBody>
          <a:bodyPr wrap="square" lIns="0" tIns="0" rIns="0" bIns="0" rtlCol="0" anchor="t"/>
          <a:lstStyle/>
          <a:p>
            <a:pPr indent="0" marL="0">
              <a:buNone/>
            </a:pPr>
            <a:r>
              <a:rPr lang="en-US" sz="3000" b="1" dirty="0">
                <a:solidFill>
                  <a:schemeClr val="tx2"/>
                </a:solidFill>
              </a:rPr>
              <a:t>92,4%</a:t>
            </a:r>
            <a:endParaRPr lang="en-US" sz="3000" dirty="0"/>
          </a:p>
        </p:txBody>
      </p:sp>
      <p:sp>
        <p:nvSpPr>
          <p:cNvPr id="23" name="Text 21"/>
          <p:cNvSpPr txBox="1"/>
          <p:nvPr/>
        </p:nvSpPr>
        <p:spPr>
          <a:xfrm>
            <a:off x="8907628" y="3886200"/>
            <a:ext cx="2506828" cy="502920"/>
          </a:xfrm>
          <a:prstGeom prst="rect">
            <a:avLst/>
          </a:prstGeom>
          <a:noFill/>
          <a:ln/>
        </p:spPr>
        <p:txBody>
          <a:bodyPr wrap="square" lIns="0" tIns="0" rIns="0" bIns="0" rtlCol="0" anchor="t"/>
          <a:lstStyle/>
          <a:p>
            <a:pPr indent="0" marL="0">
              <a:buNone/>
            </a:pPr>
            <a:r>
              <a:rPr lang="en-US" sz="1300" dirty="0">
                <a:solidFill>
                  <a:schemeClr val="accent5"/>
                </a:solidFill>
              </a:rPr>
              <a:t>kegiatan memiliki penugasan petugas</a:t>
            </a:r>
            <a:endParaRPr lang="en-US" sz="1300" dirty="0"/>
          </a:p>
        </p:txBody>
      </p:sp>
      <p:sp>
        <p:nvSpPr>
          <p:cNvPr id="24" name="angka5"/>
          <p:cNvSpPr/>
          <p:nvPr/>
        </p:nvSpPr>
        <p:spPr>
          <a:xfrm>
            <a:off x="5486400" y="4700016"/>
            <a:ext cx="2964028" cy="1280160"/>
          </a:xfrm>
          <a:prstGeom prst="roundRect">
            <a:avLst>
              <a:gd name="adj" fmla="val 8571"/>
            </a:avLst>
          </a:prstGeom>
          <a:solidFill>
            <a:schemeClr val="bg2"/>
          </a:solidFill>
          <a:ln w="9525">
            <a:solidFill>
              <a:schemeClr val="bg2"/>
            </a:solidFill>
            <a:prstDash val="solid"/>
          </a:ln>
        </p:spPr>
      </p:sp>
      <p:sp>
        <p:nvSpPr>
          <p:cNvPr id="25" name="Text 23"/>
          <p:cNvSpPr txBox="1"/>
          <p:nvPr/>
        </p:nvSpPr>
        <p:spPr>
          <a:xfrm>
            <a:off x="5715000" y="4837176"/>
            <a:ext cx="2506828" cy="594360"/>
          </a:xfrm>
          <a:prstGeom prst="rect">
            <a:avLst/>
          </a:prstGeom>
          <a:noFill/>
          <a:ln/>
        </p:spPr>
        <p:txBody>
          <a:bodyPr wrap="square" lIns="0" tIns="0" rIns="0" bIns="0" rtlCol="0" anchor="t"/>
          <a:lstStyle/>
          <a:p>
            <a:pPr indent="0" marL="0">
              <a:buNone/>
            </a:pPr>
            <a:r>
              <a:rPr lang="en-US" sz="3000" b="1" dirty="0">
                <a:solidFill>
                  <a:schemeClr val="tx2"/>
                </a:solidFill>
              </a:rPr>
              <a:t>589</a:t>
            </a:r>
            <a:endParaRPr lang="en-US" sz="3000" dirty="0"/>
          </a:p>
        </p:txBody>
      </p:sp>
      <p:sp>
        <p:nvSpPr>
          <p:cNvPr id="26" name="Text 24"/>
          <p:cNvSpPr txBox="1"/>
          <p:nvPr/>
        </p:nvSpPr>
        <p:spPr>
          <a:xfrm>
            <a:off x="5715000" y="5413248"/>
            <a:ext cx="2506828" cy="502920"/>
          </a:xfrm>
          <a:prstGeom prst="rect">
            <a:avLst/>
          </a:prstGeom>
          <a:noFill/>
          <a:ln/>
        </p:spPr>
        <p:txBody>
          <a:bodyPr wrap="square" lIns="0" tIns="0" rIns="0" bIns="0" rtlCol="0" anchor="t"/>
          <a:lstStyle/>
          <a:p>
            <a:pPr indent="0" marL="0">
              <a:buNone/>
            </a:pPr>
            <a:r>
              <a:rPr lang="en-US" sz="1300" dirty="0">
                <a:solidFill>
                  <a:schemeClr val="accent5"/>
                </a:solidFill>
              </a:rPr>
              <a:t>kegiatan terkelola sejak Maret 2026</a:t>
            </a:r>
            <a:endParaRPr lang="en-US" sz="1300" dirty="0"/>
          </a:p>
        </p:txBody>
      </p:sp>
      <p:sp>
        <p:nvSpPr>
          <p:cNvPr id="27" name="angka6"/>
          <p:cNvSpPr/>
          <p:nvPr/>
        </p:nvSpPr>
        <p:spPr>
          <a:xfrm>
            <a:off x="8679028" y="4700016"/>
            <a:ext cx="2964028" cy="1280160"/>
          </a:xfrm>
          <a:prstGeom prst="roundRect">
            <a:avLst>
              <a:gd name="adj" fmla="val 8571"/>
            </a:avLst>
          </a:prstGeom>
          <a:solidFill>
            <a:schemeClr val="bg2"/>
          </a:solidFill>
          <a:ln w="9525">
            <a:solidFill>
              <a:schemeClr val="bg2"/>
            </a:solidFill>
            <a:prstDash val="solid"/>
          </a:ln>
        </p:spPr>
      </p:sp>
      <p:sp>
        <p:nvSpPr>
          <p:cNvPr id="28" name="Text 26"/>
          <p:cNvSpPr txBox="1"/>
          <p:nvPr/>
        </p:nvSpPr>
        <p:spPr>
          <a:xfrm>
            <a:off x="8907628" y="4837176"/>
            <a:ext cx="2506828" cy="594360"/>
          </a:xfrm>
          <a:prstGeom prst="rect">
            <a:avLst/>
          </a:prstGeom>
          <a:noFill/>
          <a:ln/>
        </p:spPr>
        <p:txBody>
          <a:bodyPr wrap="square" lIns="0" tIns="0" rIns="0" bIns="0" rtlCol="0" anchor="t"/>
          <a:lstStyle/>
          <a:p>
            <a:pPr indent="0" marL="0">
              <a:buNone/>
            </a:pPr>
            <a:r>
              <a:rPr lang="en-US" sz="3000" b="1" dirty="0">
                <a:solidFill>
                  <a:schemeClr val="tx2"/>
                </a:solidFill>
              </a:rPr>
              <a:t>Rp0</a:t>
            </a:r>
            <a:endParaRPr lang="en-US" sz="3000" dirty="0"/>
          </a:p>
        </p:txBody>
      </p:sp>
      <p:sp>
        <p:nvSpPr>
          <p:cNvPr id="29" name="Text 27"/>
          <p:cNvSpPr txBox="1"/>
          <p:nvPr/>
        </p:nvSpPr>
        <p:spPr>
          <a:xfrm>
            <a:off x="8907628" y="5413248"/>
            <a:ext cx="2506828" cy="502920"/>
          </a:xfrm>
          <a:prstGeom prst="rect">
            <a:avLst/>
          </a:prstGeom>
          <a:noFill/>
          <a:ln/>
        </p:spPr>
        <p:txBody>
          <a:bodyPr wrap="square" lIns="0" tIns="0" rIns="0" bIns="0" rtlCol="0" anchor="t"/>
          <a:lstStyle/>
          <a:p>
            <a:pPr indent="0" marL="0">
              <a:buNone/>
            </a:pPr>
            <a:r>
              <a:rPr lang="en-US" sz="1300" dirty="0">
                <a:solidFill>
                  <a:schemeClr val="accent5"/>
                </a:solidFill>
              </a:rPr>
              <a:t>belanja pengadaan</a:t>
            </a:r>
            <a:endParaRPr lang="en-US" sz="1300" dirty="0"/>
          </a:p>
        </p:txBody>
      </p:sp>
      <p:sp>
        <p:nvSpPr>
          <p:cNvPr id="30" name="Text 28"/>
          <p:cNvSpPr txBox="1"/>
          <p:nvPr/>
        </p:nvSpPr>
        <p:spPr>
          <a:xfrm>
            <a:off x="548640" y="6080760"/>
            <a:ext cx="11094415" cy="274320"/>
          </a:xfrm>
          <a:prstGeom prst="rect">
            <a:avLst/>
          </a:prstGeom>
          <a:noFill/>
          <a:ln/>
        </p:spPr>
        <p:txBody>
          <a:bodyPr wrap="square" lIns="0" tIns="0" rIns="0" bIns="0" rtlCol="0" anchor="t"/>
          <a:lstStyle/>
          <a:p>
            <a:pPr indent="0" marL="0">
              <a:buNone/>
            </a:pPr>
            <a:r>
              <a:rPr lang="en-US" sz="1000" dirty="0">
                <a:solidFill>
                  <a:schemeClr val="accent5"/>
                </a:solidFill>
              </a:rPr>
              <a:t>Sumber: basis data Prokopim Hibot, 24 September 2026. Angka "sebelum" adalah estimasi dari alur lama.</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lIns="0" tIns="0" rIns="0" bIns="0" rtlCol="0" anchor="ctr"/>
          <a:lstStyle/>
          <a:p>
            <a:pPr indent="0" marL="0">
              <a:buNone/>
            </a:pPr>
            <a:r>
              <a:rPr lang="en-US" sz="1200" b="1" spc="200" kern="0" dirty="0">
                <a:solidFill>
                  <a:schemeClr val="accent5"/>
                </a:solidFill>
              </a:rPr>
              <a:t>MANFAAT INOVASI  ·  25%</a:t>
            </a:r>
            <a:endParaRPr lang="en-US" sz="1200" dirty="0"/>
          </a:p>
        </p:txBody>
      </p:sp>
      <p:sp>
        <p:nvSpPr>
          <p:cNvPr id="3" name="Text 0"/>
          <p:cNvSpPr/>
          <p:nvPr>
            <p:ph idx="101" type="title" hasCustomPrompt="1"/>
          </p:nvPr>
        </p:nvSpPr>
        <p:spPr>
          <a:xfrm>
            <a:off x="548640" y="603504"/>
            <a:ext cx="11094415" cy="777240"/>
          </a:xfrm>
          <a:prstGeom prst="rect">
            <a:avLst/>
          </a:prstGeom>
          <a:noFill/>
          <a:ln/>
        </p:spPr>
        <p:txBody>
          <a:bodyPr wrap="square" lIns="0" tIns="0" rIns="0" bIns="0" rtlCol="0" anchor="t"/>
          <a:lstStyle/>
          <a:p>
            <a:pPr algn="l" indent="0" marL="0">
              <a:buNone/>
            </a:pPr>
            <a:r>
              <a:rPr lang="en-US" sz="2800" b="1" dirty="0">
                <a:solidFill>
                  <a:schemeClr val="tx2"/>
                </a:solidFill>
              </a:rPr>
              <a:t>Dirasakan langsung oleh Pimpinan dan masyarakat</a:t>
            </a:r>
            <a:endParaRPr lang="en-US" sz="2800" dirty="0"/>
          </a:p>
        </p:txBody>
      </p:sp>
      <p:pic>
        <p:nvPicPr>
          <p:cNvPr id="4" name="Image 0" descr="/home/user/joyful-visuals/docs/lomba/build/paparan/aset/hp_walikota.jpg">    </p:cNvPr>
          <p:cNvPicPr>
            <a:picLocks noChangeAspect="1"/>
          </p:cNvPicPr>
          <p:nvPr/>
        </p:nvPicPr>
        <p:blipFill>
          <a:blip r:embed="rId1"/>
          <a:stretch>
            <a:fillRect/>
          </a:stretch>
        </p:blipFill>
        <p:spPr>
          <a:xfrm>
            <a:off x="548640" y="1600200"/>
            <a:ext cx="2148840" cy="4645152"/>
          </a:xfrm>
          <a:prstGeom prst="rect">
            <a:avLst/>
          </a:prstGeom>
          <a:effectLst>
            <a:outerShdw sx="100000" sy="100000" kx="0" ky="0" algn="bl" rotWithShape="0" blurRad="101600" dist="25400" dir="5400000">
              <a:srgbClr val="0A1628">
                <a:alpha val="12000"/>
              </a:srgbClr>
            </a:outerShdw>
          </a:effectLst>
        </p:spPr>
      </p:pic>
      <p:sp>
        <p:nvSpPr>
          <p:cNvPr id="5" name="kutipanwk"/>
          <p:cNvSpPr/>
          <p:nvPr/>
        </p:nvSpPr>
        <p:spPr>
          <a:xfrm>
            <a:off x="3063240" y="1600200"/>
            <a:ext cx="4846320" cy="2514600"/>
          </a:xfrm>
          <a:prstGeom prst="roundRect">
            <a:avLst>
              <a:gd name="adj" fmla="val 4364"/>
            </a:avLst>
          </a:prstGeom>
          <a:solidFill>
            <a:schemeClr val="tx2"/>
          </a:solidFill>
          <a:ln w="9525">
            <a:solidFill>
              <a:schemeClr val="tx2"/>
            </a:solidFill>
            <a:prstDash val="solid"/>
          </a:ln>
        </p:spPr>
      </p:sp>
      <p:sp>
        <p:nvSpPr>
          <p:cNvPr id="6" name="Text 3"/>
          <p:cNvSpPr txBox="1"/>
          <p:nvPr/>
        </p:nvSpPr>
        <p:spPr>
          <a:xfrm>
            <a:off x="3337560" y="1810512"/>
            <a:ext cx="4297680" cy="1463040"/>
          </a:xfrm>
          <a:prstGeom prst="rect">
            <a:avLst/>
          </a:prstGeom>
          <a:noFill/>
          <a:ln/>
        </p:spPr>
        <p:txBody>
          <a:bodyPr wrap="square" lIns="0" tIns="0" rIns="0" bIns="0" rtlCol="0" anchor="t"/>
          <a:lstStyle/>
          <a:p>
            <a:pPr indent="0" marL="0">
              <a:buNone/>
            </a:pPr>
            <a:r>
              <a:rPr lang="en-US" sz="1800" i="1" dirty="0">
                <a:solidFill>
                  <a:schemeClr val="bg1"/>
                </a:solidFill>
              </a:rPr>
              <a:t>“Yang terpenting bagi saya adalah kepastian: ke mana saya harus hadir, kapan, dan siapa yang menyiapkannya.”</a:t>
            </a:r>
            <a:endParaRPr lang="en-US" sz="1800" dirty="0"/>
          </a:p>
        </p:txBody>
      </p:sp>
      <p:sp>
        <p:nvSpPr>
          <p:cNvPr id="7" name="Text 4"/>
          <p:cNvSpPr txBox="1"/>
          <p:nvPr/>
        </p:nvSpPr>
        <p:spPr>
          <a:xfrm>
            <a:off x="3337560" y="3520440"/>
            <a:ext cx="4297680" cy="365760"/>
          </a:xfrm>
          <a:prstGeom prst="rect">
            <a:avLst/>
          </a:prstGeom>
          <a:noFill/>
          <a:ln/>
        </p:spPr>
        <p:txBody>
          <a:bodyPr wrap="square" lIns="0" tIns="0" rIns="0" bIns="0" rtlCol="0" anchor="t"/>
          <a:lstStyle/>
          <a:p>
            <a:pPr indent="0" marL="0">
              <a:buNone/>
            </a:pPr>
            <a:r>
              <a:rPr lang="en-US" sz="1300" b="1" dirty="0">
                <a:solidFill>
                  <a:schemeClr val="accent1"/>
                </a:solidFill>
              </a:rPr>
              <a:t>dr. H. Khairul, M.Kes. — Wali Kota Tarakan</a:t>
            </a:r>
            <a:endParaRPr lang="en-US" sz="1300" dirty="0"/>
          </a:p>
        </p:txBody>
      </p:sp>
      <p:sp>
        <p:nvSpPr>
          <p:cNvPr id="8" name="kutipanajudan"/>
          <p:cNvSpPr/>
          <p:nvPr/>
        </p:nvSpPr>
        <p:spPr>
          <a:xfrm>
            <a:off x="3063240" y="4315968"/>
            <a:ext cx="4846320" cy="1920240"/>
          </a:xfrm>
          <a:prstGeom prst="roundRect">
            <a:avLst>
              <a:gd name="adj" fmla="val 5714"/>
            </a:avLst>
          </a:prstGeom>
          <a:solidFill>
            <a:schemeClr val="bg2"/>
          </a:solidFill>
          <a:ln w="9525">
            <a:solidFill>
              <a:schemeClr val="bg2"/>
            </a:solidFill>
            <a:prstDash val="solid"/>
          </a:ln>
        </p:spPr>
      </p:sp>
      <p:sp>
        <p:nvSpPr>
          <p:cNvPr id="9" name="Text 6"/>
          <p:cNvSpPr txBox="1"/>
          <p:nvPr/>
        </p:nvSpPr>
        <p:spPr>
          <a:xfrm>
            <a:off x="3337560" y="4526280"/>
            <a:ext cx="4297680" cy="777240"/>
          </a:xfrm>
          <a:prstGeom prst="rect">
            <a:avLst/>
          </a:prstGeom>
          <a:noFill/>
          <a:ln/>
        </p:spPr>
        <p:txBody>
          <a:bodyPr wrap="square" lIns="0" tIns="0" rIns="0" bIns="0" rtlCol="0" anchor="t"/>
          <a:lstStyle/>
          <a:p>
            <a:pPr indent="0" marL="0">
              <a:buNone/>
            </a:pPr>
            <a:r>
              <a:rPr lang="en-US" sz="1600" i="1" dirty="0">
                <a:solidFill>
                  <a:schemeClr val="tx2"/>
                </a:solidFill>
              </a:rPr>
              <a:t>“Perubahan jadwal yang mendadak pun tidak lagi terlewat.”</a:t>
            </a:r>
            <a:endParaRPr lang="en-US" sz="1600" dirty="0"/>
          </a:p>
        </p:txBody>
      </p:sp>
      <p:sp>
        <p:nvSpPr>
          <p:cNvPr id="10" name="Text 7"/>
          <p:cNvSpPr txBox="1"/>
          <p:nvPr/>
        </p:nvSpPr>
        <p:spPr>
          <a:xfrm>
            <a:off x="3337560" y="5394960"/>
            <a:ext cx="4297680" cy="640080"/>
          </a:xfrm>
          <a:prstGeom prst="rect">
            <a:avLst/>
          </a:prstGeom>
          <a:noFill/>
          <a:ln/>
        </p:spPr>
        <p:txBody>
          <a:bodyPr wrap="square" lIns="0" tIns="0" rIns="0" bIns="0" rtlCol="0" anchor="t"/>
          <a:lstStyle/>
          <a:p>
            <a:pPr indent="0" marL="0">
              <a:buNone/>
            </a:pPr>
            <a:r>
              <a:rPr lang="en-US" sz="1200" b="1" dirty="0">
                <a:solidFill>
                  <a:schemeClr val="accent5"/>
                </a:solidFill>
              </a:rPr>
              <a:t>Muhammad Rizky Dinata Putra, S.Tr.IP. — Ajudan Wakil Wali Kota</a:t>
            </a:r>
            <a:endParaRPr lang="en-US" sz="1200" dirty="0"/>
          </a:p>
        </p:txBody>
      </p:sp>
      <p:sp>
        <p:nvSpPr>
          <p:cNvPr id="11" name="Text 8"/>
          <p:cNvSpPr txBox="1"/>
          <p:nvPr/>
        </p:nvSpPr>
        <p:spPr>
          <a:xfrm>
            <a:off x="8183880" y="1600200"/>
            <a:ext cx="3459175" cy="502920"/>
          </a:xfrm>
          <a:prstGeom prst="rect">
            <a:avLst/>
          </a:prstGeom>
          <a:noFill/>
          <a:ln/>
        </p:spPr>
        <p:txBody>
          <a:bodyPr wrap="square" lIns="0" tIns="0" rIns="0" bIns="0" rtlCol="0" anchor="t"/>
          <a:lstStyle/>
          <a:p>
            <a:pPr indent="0" marL="0">
              <a:buNone/>
            </a:pPr>
            <a:r>
              <a:rPr lang="en-US" sz="3000" b="1" dirty="0">
                <a:solidFill>
                  <a:schemeClr val="tx2"/>
                </a:solidFill>
              </a:rPr>
              <a:t>62</a:t>
            </a:r>
            <a:endParaRPr lang="en-US" sz="3000" dirty="0"/>
          </a:p>
        </p:txBody>
      </p:sp>
      <p:sp>
        <p:nvSpPr>
          <p:cNvPr id="12" name="Text 9"/>
          <p:cNvSpPr txBox="1"/>
          <p:nvPr/>
        </p:nvSpPr>
        <p:spPr>
          <a:xfrm>
            <a:off x="8183880" y="2103120"/>
            <a:ext cx="3459175" cy="548640"/>
          </a:xfrm>
          <a:prstGeom prst="rect">
            <a:avLst/>
          </a:prstGeom>
          <a:noFill/>
          <a:ln/>
        </p:spPr>
        <p:txBody>
          <a:bodyPr wrap="square" lIns="0" tIns="0" rIns="0" bIns="0" rtlCol="0" anchor="t"/>
          <a:lstStyle/>
          <a:p>
            <a:pPr indent="0" marL="0">
              <a:buNone/>
            </a:pPr>
            <a:r>
              <a:rPr lang="en-US" sz="1200" dirty="0">
                <a:solidFill>
                  <a:schemeClr val="accent5"/>
                </a:solidFill>
              </a:rPr>
              <a:t>kegiatan didisposisikan Wali Kota kepada Wakil langsung dari aplikasi</a:t>
            </a:r>
            <a:endParaRPr lang="en-US" sz="1200" dirty="0"/>
          </a:p>
        </p:txBody>
      </p:sp>
      <p:sp>
        <p:nvSpPr>
          <p:cNvPr id="13" name="Text 10"/>
          <p:cNvSpPr txBox="1"/>
          <p:nvPr/>
        </p:nvSpPr>
        <p:spPr>
          <a:xfrm>
            <a:off x="8183880" y="2779776"/>
            <a:ext cx="3459175" cy="502920"/>
          </a:xfrm>
          <a:prstGeom prst="rect">
            <a:avLst/>
          </a:prstGeom>
          <a:noFill/>
          <a:ln/>
        </p:spPr>
        <p:txBody>
          <a:bodyPr wrap="square" lIns="0" tIns="0" rIns="0" bIns="0" rtlCol="0" anchor="t"/>
          <a:lstStyle/>
          <a:p>
            <a:pPr indent="0" marL="0">
              <a:buNone/>
            </a:pPr>
            <a:r>
              <a:rPr lang="en-US" sz="3000" b="1" dirty="0">
                <a:solidFill>
                  <a:schemeClr val="tx2"/>
                </a:solidFill>
              </a:rPr>
              <a:t>341</a:t>
            </a:r>
            <a:endParaRPr lang="en-US" sz="3000" dirty="0"/>
          </a:p>
        </p:txBody>
      </p:sp>
      <p:sp>
        <p:nvSpPr>
          <p:cNvPr id="14" name="Text 11"/>
          <p:cNvSpPr txBox="1"/>
          <p:nvPr/>
        </p:nvSpPr>
        <p:spPr>
          <a:xfrm>
            <a:off x="8183880" y="3282696"/>
            <a:ext cx="3459175" cy="548640"/>
          </a:xfrm>
          <a:prstGeom prst="rect">
            <a:avLst/>
          </a:prstGeom>
          <a:noFill/>
          <a:ln/>
        </p:spPr>
        <p:txBody>
          <a:bodyPr wrap="square" lIns="0" tIns="0" rIns="0" bIns="0" rtlCol="0" anchor="t"/>
          <a:lstStyle/>
          <a:p>
            <a:pPr indent="0" marL="0">
              <a:buNone/>
            </a:pPr>
            <a:r>
              <a:rPr lang="en-US" sz="1200" dirty="0">
                <a:solidFill>
                  <a:schemeClr val="accent5"/>
                </a:solidFill>
              </a:rPr>
              <a:t>konfirmasi kehadiran oleh ajudan</a:t>
            </a:r>
            <a:endParaRPr lang="en-US" sz="1200" dirty="0"/>
          </a:p>
        </p:txBody>
      </p:sp>
      <p:sp>
        <p:nvSpPr>
          <p:cNvPr id="15" name="Text 12"/>
          <p:cNvSpPr txBox="1"/>
          <p:nvPr/>
        </p:nvSpPr>
        <p:spPr>
          <a:xfrm>
            <a:off x="8183880" y="3959352"/>
            <a:ext cx="3459175" cy="502920"/>
          </a:xfrm>
          <a:prstGeom prst="rect">
            <a:avLst/>
          </a:prstGeom>
          <a:noFill/>
          <a:ln/>
        </p:spPr>
        <p:txBody>
          <a:bodyPr wrap="square" lIns="0" tIns="0" rIns="0" bIns="0" rtlCol="0" anchor="t"/>
          <a:lstStyle/>
          <a:p>
            <a:pPr indent="0" marL="0">
              <a:buNone/>
            </a:pPr>
            <a:r>
              <a:rPr lang="en-US" sz="3000" b="1" dirty="0">
                <a:solidFill>
                  <a:schemeClr val="tx2"/>
                </a:solidFill>
              </a:rPr>
              <a:t>66</a:t>
            </a:r>
            <a:endParaRPr lang="en-US" sz="3000" dirty="0"/>
          </a:p>
        </p:txBody>
      </p:sp>
      <p:sp>
        <p:nvSpPr>
          <p:cNvPr id="16" name="Text 13"/>
          <p:cNvSpPr txBox="1"/>
          <p:nvPr/>
        </p:nvSpPr>
        <p:spPr>
          <a:xfrm>
            <a:off x="8183880" y="4462272"/>
            <a:ext cx="3459175" cy="548640"/>
          </a:xfrm>
          <a:prstGeom prst="rect">
            <a:avLst/>
          </a:prstGeom>
          <a:noFill/>
          <a:ln/>
        </p:spPr>
        <p:txBody>
          <a:bodyPr wrap="square" lIns="0" tIns="0" rIns="0" bIns="0" rtlCol="0" anchor="t"/>
          <a:lstStyle/>
          <a:p>
            <a:pPr indent="0" marL="0">
              <a:buNone/>
            </a:pPr>
            <a:r>
              <a:rPr lang="en-US" sz="1200" dirty="0">
                <a:solidFill>
                  <a:schemeClr val="accent5"/>
                </a:solidFill>
              </a:rPr>
              <a:t>instansi meminjam ruangan secara daring</a:t>
            </a:r>
            <a:endParaRPr lang="en-US" sz="1200" dirty="0"/>
          </a:p>
        </p:txBody>
      </p:sp>
      <p:sp>
        <p:nvSpPr>
          <p:cNvPr id="17" name="Text 14"/>
          <p:cNvSpPr txBox="1"/>
          <p:nvPr/>
        </p:nvSpPr>
        <p:spPr>
          <a:xfrm>
            <a:off x="8183880" y="5138928"/>
            <a:ext cx="3459175" cy="502920"/>
          </a:xfrm>
          <a:prstGeom prst="rect">
            <a:avLst/>
          </a:prstGeom>
          <a:noFill/>
          <a:ln/>
        </p:spPr>
        <p:txBody>
          <a:bodyPr wrap="square" lIns="0" tIns="0" rIns="0" bIns="0" rtlCol="0" anchor="t"/>
          <a:lstStyle/>
          <a:p>
            <a:pPr indent="0" marL="0">
              <a:buNone/>
            </a:pPr>
            <a:r>
              <a:rPr lang="en-US" sz="3000" b="1" dirty="0">
                <a:solidFill>
                  <a:schemeClr val="tx2"/>
                </a:solidFill>
              </a:rPr>
              <a:t>53</a:t>
            </a:r>
            <a:endParaRPr lang="en-US" sz="3000" dirty="0"/>
          </a:p>
        </p:txBody>
      </p:sp>
      <p:sp>
        <p:nvSpPr>
          <p:cNvPr id="18" name="Text 15"/>
          <p:cNvSpPr txBox="1"/>
          <p:nvPr/>
        </p:nvSpPr>
        <p:spPr>
          <a:xfrm>
            <a:off x="8183880" y="5641848"/>
            <a:ext cx="3459175" cy="548640"/>
          </a:xfrm>
          <a:prstGeom prst="rect">
            <a:avLst/>
          </a:prstGeom>
          <a:noFill/>
          <a:ln/>
        </p:spPr>
        <p:txBody>
          <a:bodyPr wrap="square" lIns="0" tIns="0" rIns="0" bIns="0" rtlCol="0" anchor="t"/>
          <a:lstStyle/>
          <a:p>
            <a:pPr indent="0" marL="0">
              <a:buNone/>
            </a:pPr>
            <a:r>
              <a:rPr lang="en-US" sz="1200" dirty="0">
                <a:solidFill>
                  <a:schemeClr val="accent5"/>
                </a:solidFill>
              </a:rPr>
              <a:t>instansi mengajukan audiensi secara daring</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lIns="0" tIns="0" rIns="0" bIns="0" rtlCol="0" anchor="ctr"/>
          <a:lstStyle/>
          <a:p>
            <a:pPr indent="0" marL="0">
              <a:buNone/>
            </a:pPr>
            <a:r>
              <a:rPr lang="en-US" sz="1200" b="1" spc="200" kern="0" dirty="0">
                <a:solidFill>
                  <a:schemeClr val="accent5"/>
                </a:solidFill>
              </a:rPr>
              <a:t>PEMANFAATAN SUMBER DAYA  ·  15%</a:t>
            </a:r>
            <a:endParaRPr lang="en-US" sz="1200" dirty="0"/>
          </a:p>
        </p:txBody>
      </p:sp>
      <p:sp>
        <p:nvSpPr>
          <p:cNvPr id="3" name="Text 0"/>
          <p:cNvSpPr/>
          <p:nvPr>
            <p:ph idx="101" type="title" hasCustomPrompt="1"/>
          </p:nvPr>
        </p:nvSpPr>
        <p:spPr>
          <a:xfrm>
            <a:off x="548640" y="603504"/>
            <a:ext cx="11094415" cy="777240"/>
          </a:xfrm>
          <a:prstGeom prst="rect">
            <a:avLst/>
          </a:prstGeom>
          <a:noFill/>
          <a:ln/>
        </p:spPr>
        <p:txBody>
          <a:bodyPr wrap="square" lIns="0" tIns="0" rIns="0" bIns="0" rtlCol="0" anchor="t"/>
          <a:lstStyle/>
          <a:p>
            <a:pPr algn="l" indent="0" marL="0">
              <a:buNone/>
            </a:pPr>
            <a:r>
              <a:rPr lang="en-US" sz="2800" b="1" dirty="0">
                <a:solidFill>
                  <a:schemeClr val="tx2"/>
                </a:solidFill>
              </a:rPr>
              <a:t>Dibangun tim sendiri, tanpa belanja pengadaan</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492240" cy="914400"/>
        </p:xfrm>
        <a:graphic>
          <a:graphicData uri="http://schemas.openxmlformats.org/drawingml/2006/table">
            <a:tbl>
              <a:tblPr/>
              <a:tblGrid>
                <a:gridCol w="1783080"/>
                <a:gridCol w="3520440"/>
                <a:gridCol w="1188720"/>
              </a:tblGrid>
              <a:tr h="530352">
                <a:tc>
                  <a:txBody>
                    <a:bodyPr/>
                    <a:lstStyle/>
                    <a:p>
                      <a:pPr indent="0" marL="0">
                        <a:buNone/>
                      </a:pPr>
                      <a:r>
                        <a:rPr lang="en-US" sz="1400" b="1" dirty="0">
                          <a:solidFill>
                            <a:schemeClr val="bg1"/>
                          </a:solidFill>
                          <a:latin typeface="Arial" pitchFamily="34" charset="0"/>
                          <a:ea typeface="Arial" pitchFamily="34" charset="-122"/>
                          <a:cs typeface="Arial" pitchFamily="34" charset="-120"/>
                        </a:rPr>
                        <a:t>Komponen</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A1628"/>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Pemanfaatan</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A1628"/>
                    </a:solidFill>
                  </a:tcPr>
                </a:tc>
                <a:tc>
                  <a:txBody>
                    <a:bodyPr/>
                    <a:lstStyle/>
                    <a:p>
                      <a:pPr algn="r" indent="0" marL="0">
                        <a:buNone/>
                      </a:pPr>
                      <a:r>
                        <a:rPr lang="en-US" sz="1400" b="1" dirty="0">
                          <a:solidFill>
                            <a:schemeClr val="bg1"/>
                          </a:solidFill>
                          <a:latin typeface="Arial" pitchFamily="34" charset="0"/>
                          <a:ea typeface="Arial" pitchFamily="34" charset="-122"/>
                          <a:cs typeface="Arial" pitchFamily="34" charset="-120"/>
                        </a:rPr>
                        <a:t>Biaya</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A1628"/>
                    </a:solidFill>
                  </a:tcPr>
                </a:tc>
              </a:tr>
              <a:tr h="530352">
                <a:tc>
                  <a:txBody>
                    <a:bodyPr/>
                    <a:lstStyle/>
                    <a:p>
                      <a:pPr indent="0" marL="0">
                        <a:buNone/>
                      </a:pPr>
                      <a:r>
                        <a:rPr lang="en-US" sz="1400" b="1" dirty="0">
                          <a:solidFill>
                            <a:schemeClr val="tx2"/>
                          </a:solidFill>
                          <a:latin typeface="Arial" pitchFamily="34" charset="0"/>
                          <a:ea typeface="Arial" pitchFamily="34" charset="-122"/>
                          <a:cs typeface="Arial" pitchFamily="34" charset="-120"/>
                        </a:rPr>
                        <a:t>Pengembangan</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EEF2F8"/>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Swakelola oleh Ketua Tim</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EEF2F8"/>
                    </a:solidFill>
                  </a:tcPr>
                </a:tc>
                <a:tc>
                  <a:txBody>
                    <a:bodyPr/>
                    <a:lstStyle/>
                    <a:p>
                      <a:pPr algn="r" indent="0" marL="0">
                        <a:buNone/>
                      </a:pPr>
                      <a:r>
                        <a:rPr lang="en-US" sz="1400" b="1" dirty="0">
                          <a:solidFill>
                            <a:schemeClr val="accent3"/>
                          </a:solidFill>
                          <a:latin typeface="Arial" pitchFamily="34" charset="0"/>
                          <a:ea typeface="Arial" pitchFamily="34" charset="-122"/>
                          <a:cs typeface="Arial" pitchFamily="34" charset="-120"/>
                        </a:rPr>
                        <a:t>Rp0</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EEF2F8"/>
                    </a:solidFill>
                  </a:tcPr>
                </a:tc>
              </a:tr>
              <a:tr h="530352">
                <a:tc>
                  <a:txBody>
                    <a:bodyPr/>
                    <a:lstStyle/>
                    <a:p>
                      <a:pPr indent="0" marL="0">
                        <a:buNone/>
                      </a:pPr>
                      <a:r>
                        <a:rPr lang="en-US" sz="1400" b="1" dirty="0">
                          <a:solidFill>
                            <a:schemeClr val="tx2"/>
                          </a:solidFill>
                          <a:latin typeface="Arial" pitchFamily="34" charset="0"/>
                          <a:ea typeface="Arial" pitchFamily="34" charset="-122"/>
                          <a:cs typeface="Arial" pitchFamily="34" charset="-120"/>
                        </a:rPr>
                        <a:t>Peladen</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12 fungsi tanpa server, kuota tanpa biaya</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b="1" dirty="0">
                          <a:solidFill>
                            <a:schemeClr val="accent3"/>
                          </a:solidFill>
                          <a:latin typeface="Arial" pitchFamily="34" charset="0"/>
                          <a:ea typeface="Arial" pitchFamily="34" charset="-122"/>
                          <a:cs typeface="Arial" pitchFamily="34" charset="-120"/>
                        </a:rPr>
                        <a:t>Rp0</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530352">
                <a:tc>
                  <a:txBody>
                    <a:bodyPr/>
                    <a:lstStyle/>
                    <a:p>
                      <a:pPr indent="0" marL="0">
                        <a:buNone/>
                      </a:pPr>
                      <a:r>
                        <a:rPr lang="en-US" sz="1400" b="1" dirty="0">
                          <a:solidFill>
                            <a:schemeClr val="tx2"/>
                          </a:solidFill>
                          <a:latin typeface="Arial" pitchFamily="34" charset="0"/>
                          <a:ea typeface="Arial" pitchFamily="34" charset="-122"/>
                          <a:cs typeface="Arial" pitchFamily="34" charset="-120"/>
                        </a:rPr>
                        <a:t>Basis data</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EEF2F8"/>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Layanan terkelola, paket tanpa biaya</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EEF2F8"/>
                    </a:solidFill>
                  </a:tcPr>
                </a:tc>
                <a:tc>
                  <a:txBody>
                    <a:bodyPr/>
                    <a:lstStyle/>
                    <a:p>
                      <a:pPr algn="r" indent="0" marL="0">
                        <a:buNone/>
                      </a:pPr>
                      <a:r>
                        <a:rPr lang="en-US" sz="1400" b="1" dirty="0">
                          <a:solidFill>
                            <a:schemeClr val="accent3"/>
                          </a:solidFill>
                          <a:latin typeface="Arial" pitchFamily="34" charset="0"/>
                          <a:ea typeface="Arial" pitchFamily="34" charset="-122"/>
                          <a:cs typeface="Arial" pitchFamily="34" charset="-120"/>
                        </a:rPr>
                        <a:t>Rp0</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EEF2F8"/>
                    </a:solidFill>
                  </a:tcPr>
                </a:tc>
              </a:tr>
              <a:tr h="530352">
                <a:tc>
                  <a:txBody>
                    <a:bodyPr/>
                    <a:lstStyle/>
                    <a:p>
                      <a:pPr indent="0" marL="0">
                        <a:buNone/>
                      </a:pPr>
                      <a:r>
                        <a:rPr lang="en-US" sz="1400" b="1" dirty="0">
                          <a:solidFill>
                            <a:schemeClr val="tx2"/>
                          </a:solidFill>
                          <a:latin typeface="Arial" pitchFamily="34" charset="0"/>
                          <a:ea typeface="Arial" pitchFamily="34" charset="-122"/>
                          <a:cs typeface="Arial" pitchFamily="34" charset="-120"/>
                        </a:rPr>
                        <a:t>Kalender bersama</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Akun layanan atas nama instansi</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b="1" dirty="0">
                          <a:solidFill>
                            <a:schemeClr val="accent3"/>
                          </a:solidFill>
                          <a:latin typeface="Arial" pitchFamily="34" charset="0"/>
                          <a:ea typeface="Arial" pitchFamily="34" charset="-122"/>
                          <a:cs typeface="Arial" pitchFamily="34" charset="-120"/>
                        </a:rPr>
                        <a:t>Rp0</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530352">
                <a:tc>
                  <a:txBody>
                    <a:bodyPr/>
                    <a:lstStyle/>
                    <a:p>
                      <a:pPr indent="0" marL="0">
                        <a:buNone/>
                      </a:pPr>
                      <a:r>
                        <a:rPr lang="en-US" sz="1400" b="1" dirty="0">
                          <a:solidFill>
                            <a:schemeClr val="tx2"/>
                          </a:solidFill>
                          <a:latin typeface="Arial" pitchFamily="34" charset="0"/>
                          <a:ea typeface="Arial" pitchFamily="34" charset="-122"/>
                          <a:cs typeface="Arial" pitchFamily="34" charset="-120"/>
                        </a:rPr>
                        <a:t>Perangkat</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EEF2F8"/>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Telepon pintar pengguna, tanpa toko aplikasi</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EEF2F8"/>
                    </a:solidFill>
                  </a:tcPr>
                </a:tc>
                <a:tc>
                  <a:txBody>
                    <a:bodyPr/>
                    <a:lstStyle/>
                    <a:p>
                      <a:pPr algn="r" indent="0" marL="0">
                        <a:buNone/>
                      </a:pPr>
                      <a:r>
                        <a:rPr lang="en-US" sz="1400" b="1" dirty="0">
                          <a:solidFill>
                            <a:schemeClr val="accent3"/>
                          </a:solidFill>
                          <a:latin typeface="Arial" pitchFamily="34" charset="0"/>
                          <a:ea typeface="Arial" pitchFamily="34" charset="-122"/>
                          <a:cs typeface="Arial" pitchFamily="34" charset="-120"/>
                        </a:rPr>
                        <a:t>Rp0</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EEF2F8"/>
                    </a:solidFill>
                  </a:tcPr>
                </a:tc>
              </a:tr>
              <a:tr h="530352">
                <a:tc>
                  <a:txBody>
                    <a:bodyPr/>
                    <a:lstStyle/>
                    <a:p>
                      <a:pPr indent="0" marL="0">
                        <a:buNone/>
                      </a:pPr>
                      <a:r>
                        <a:rPr lang="en-US" sz="1400" b="1" dirty="0">
                          <a:solidFill>
                            <a:schemeClr val="tx2"/>
                          </a:solidFill>
                          <a:latin typeface="Arial" pitchFamily="34" charset="0"/>
                          <a:ea typeface="Arial" pitchFamily="34" charset="-122"/>
                          <a:cs typeface="Arial" pitchFamily="34" charset="-120"/>
                        </a:rPr>
                        <a:t>Pesan WhatsApp</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Gerbang pesan</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b="1" dirty="0">
                          <a:solidFill>
                            <a:schemeClr val="accent5"/>
                          </a:solidFill>
                          <a:latin typeface="Arial" pitchFamily="34" charset="0"/>
                          <a:ea typeface="Arial" pitchFamily="34" charset="-122"/>
                          <a:cs typeface="Arial" pitchFamily="34" charset="-120"/>
                        </a:rPr>
                        <a:t>Langganan</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Text 2"/>
          <p:cNvSpPr txBox="1"/>
          <p:nvPr/>
        </p:nvSpPr>
        <p:spPr>
          <a:xfrm>
            <a:off x="548640" y="5486400"/>
            <a:ext cx="6492240" cy="640080"/>
          </a:xfrm>
          <a:prstGeom prst="rect">
            <a:avLst/>
          </a:prstGeom>
          <a:noFill/>
          <a:ln/>
        </p:spPr>
        <p:txBody>
          <a:bodyPr wrap="square" lIns="0" tIns="0" rIns="0" bIns="0" rtlCol="0" anchor="t"/>
          <a:lstStyle/>
          <a:p>
            <a:pPr indent="0" marL="0">
              <a:buNone/>
            </a:pPr>
            <a:r>
              <a:rPr lang="en-US" sz="1300" dirty="0">
                <a:solidFill>
                  <a:schemeClr val="accent5"/>
                </a:solidFill>
              </a:rPr>
              <a:t>Efisiensi: ketika lalu lintas data mencapai 6,4 GB/bulan (kuota 5 GB), pengambilan data diubah hanya untuk data yang berubah — turun ke ±1 GB.</a:t>
            </a:r>
            <a:endParaRPr lang="en-US" sz="1300" dirty="0"/>
          </a:p>
        </p:txBody>
      </p:sp>
      <p:sp>
        <p:nvSpPr>
          <p:cNvPr id="6" name="tim1"/>
          <p:cNvSpPr/>
          <p:nvPr/>
        </p:nvSpPr>
        <p:spPr>
          <a:xfrm>
            <a:off x="7406640" y="1645920"/>
            <a:ext cx="4236415" cy="868680"/>
          </a:xfrm>
          <a:prstGeom prst="roundRect">
            <a:avLst>
              <a:gd name="adj" fmla="val 12632"/>
            </a:avLst>
          </a:prstGeom>
          <a:solidFill>
            <a:schemeClr val="bg2"/>
          </a:solidFill>
          <a:ln w="9525">
            <a:solidFill>
              <a:schemeClr val="bg2"/>
            </a:solidFill>
            <a:prstDash val="solid"/>
          </a:ln>
        </p:spPr>
      </p:sp>
      <p:sp>
        <p:nvSpPr>
          <p:cNvPr id="7" name="Text 4"/>
          <p:cNvSpPr txBox="1"/>
          <p:nvPr/>
        </p:nvSpPr>
        <p:spPr>
          <a:xfrm>
            <a:off x="7635240" y="1645920"/>
            <a:ext cx="1463040" cy="868680"/>
          </a:xfrm>
          <a:prstGeom prst="rect">
            <a:avLst/>
          </a:prstGeom>
          <a:noFill/>
          <a:ln/>
        </p:spPr>
        <p:txBody>
          <a:bodyPr wrap="square" lIns="0" tIns="0" rIns="0" bIns="0" rtlCol="0" anchor="ctr"/>
          <a:lstStyle/>
          <a:p>
            <a:pPr indent="0" marL="0">
              <a:buNone/>
            </a:pPr>
            <a:r>
              <a:rPr lang="en-US" sz="2000" b="1" dirty="0">
                <a:solidFill>
                  <a:schemeClr val="tx2"/>
                </a:solidFill>
              </a:rPr>
              <a:t>5 orang</a:t>
            </a:r>
            <a:endParaRPr lang="en-US" sz="2000" dirty="0"/>
          </a:p>
        </p:txBody>
      </p:sp>
      <p:sp>
        <p:nvSpPr>
          <p:cNvPr id="8" name="Text 5"/>
          <p:cNvSpPr txBox="1"/>
          <p:nvPr/>
        </p:nvSpPr>
        <p:spPr>
          <a:xfrm>
            <a:off x="9098280" y="1645920"/>
            <a:ext cx="2361895" cy="868680"/>
          </a:xfrm>
          <a:prstGeom prst="rect">
            <a:avLst/>
          </a:prstGeom>
          <a:noFill/>
          <a:ln/>
        </p:spPr>
        <p:txBody>
          <a:bodyPr wrap="square" lIns="0" tIns="0" rIns="0" bIns="0" rtlCol="0" anchor="ctr"/>
          <a:lstStyle/>
          <a:p>
            <a:pPr indent="0" marL="0">
              <a:buNone/>
            </a:pPr>
            <a:r>
              <a:rPr lang="en-US" sz="1300" dirty="0">
                <a:solidFill>
                  <a:schemeClr val="tx1"/>
                </a:solidFill>
              </a:rPr>
              <a:t>Tim inovasi: perancang, penyelia, penguji</a:t>
            </a:r>
            <a:endParaRPr lang="en-US" sz="1300" dirty="0"/>
          </a:p>
        </p:txBody>
      </p:sp>
      <p:sp>
        <p:nvSpPr>
          <p:cNvPr id="9" name="tim2"/>
          <p:cNvSpPr/>
          <p:nvPr/>
        </p:nvSpPr>
        <p:spPr>
          <a:xfrm>
            <a:off x="7406640" y="2670048"/>
            <a:ext cx="4236415" cy="868680"/>
          </a:xfrm>
          <a:prstGeom prst="roundRect">
            <a:avLst>
              <a:gd name="adj" fmla="val 12632"/>
            </a:avLst>
          </a:prstGeom>
          <a:solidFill>
            <a:schemeClr val="bg2"/>
          </a:solidFill>
          <a:ln w="9525">
            <a:solidFill>
              <a:schemeClr val="bg2"/>
            </a:solidFill>
            <a:prstDash val="solid"/>
          </a:ln>
        </p:spPr>
      </p:sp>
      <p:sp>
        <p:nvSpPr>
          <p:cNvPr id="10" name="Text 7"/>
          <p:cNvSpPr txBox="1"/>
          <p:nvPr/>
        </p:nvSpPr>
        <p:spPr>
          <a:xfrm>
            <a:off x="7635240" y="2670048"/>
            <a:ext cx="1463040" cy="868680"/>
          </a:xfrm>
          <a:prstGeom prst="rect">
            <a:avLst/>
          </a:prstGeom>
          <a:noFill/>
          <a:ln/>
        </p:spPr>
        <p:txBody>
          <a:bodyPr wrap="square" lIns="0" tIns="0" rIns="0" bIns="0" rtlCol="0" anchor="ctr"/>
          <a:lstStyle/>
          <a:p>
            <a:pPr indent="0" marL="0">
              <a:buNone/>
            </a:pPr>
            <a:r>
              <a:rPr lang="en-US" sz="2000" b="1" dirty="0">
                <a:solidFill>
                  <a:schemeClr val="tx2"/>
                </a:solidFill>
              </a:rPr>
              <a:t>42 orang</a:t>
            </a:r>
            <a:endParaRPr lang="en-US" sz="2000" dirty="0"/>
          </a:p>
        </p:txBody>
      </p:sp>
      <p:sp>
        <p:nvSpPr>
          <p:cNvPr id="11" name="Text 8"/>
          <p:cNvSpPr txBox="1"/>
          <p:nvPr/>
        </p:nvSpPr>
        <p:spPr>
          <a:xfrm>
            <a:off x="9098280" y="2670048"/>
            <a:ext cx="2361895" cy="868680"/>
          </a:xfrm>
          <a:prstGeom prst="rect">
            <a:avLst/>
          </a:prstGeom>
          <a:noFill/>
          <a:ln/>
        </p:spPr>
        <p:txBody>
          <a:bodyPr wrap="square" lIns="0" tIns="0" rIns="0" bIns="0" rtlCol="0" anchor="ctr"/>
          <a:lstStyle/>
          <a:p>
            <a:pPr indent="0" marL="0">
              <a:buNone/>
            </a:pPr>
            <a:r>
              <a:rPr lang="en-US" sz="1300" dirty="0">
                <a:solidFill>
                  <a:schemeClr val="tx1"/>
                </a:solidFill>
              </a:rPr>
              <a:t>Tim Koordinasi lintas unit (Keputusan Sekda)</a:t>
            </a:r>
            <a:endParaRPr lang="en-US" sz="1300" dirty="0"/>
          </a:p>
        </p:txBody>
      </p:sp>
      <p:sp>
        <p:nvSpPr>
          <p:cNvPr id="12" name="tim3"/>
          <p:cNvSpPr/>
          <p:nvPr/>
        </p:nvSpPr>
        <p:spPr>
          <a:xfrm>
            <a:off x="7406640" y="3694176"/>
            <a:ext cx="4236415" cy="868680"/>
          </a:xfrm>
          <a:prstGeom prst="roundRect">
            <a:avLst>
              <a:gd name="adj" fmla="val 12632"/>
            </a:avLst>
          </a:prstGeom>
          <a:solidFill>
            <a:schemeClr val="bg2"/>
          </a:solidFill>
          <a:ln w="9525">
            <a:solidFill>
              <a:schemeClr val="bg2"/>
            </a:solidFill>
            <a:prstDash val="solid"/>
          </a:ln>
        </p:spPr>
      </p:sp>
      <p:sp>
        <p:nvSpPr>
          <p:cNvPr id="13" name="Text 10"/>
          <p:cNvSpPr txBox="1"/>
          <p:nvPr/>
        </p:nvSpPr>
        <p:spPr>
          <a:xfrm>
            <a:off x="7635240" y="3694176"/>
            <a:ext cx="1463040" cy="868680"/>
          </a:xfrm>
          <a:prstGeom prst="rect">
            <a:avLst/>
          </a:prstGeom>
          <a:noFill/>
          <a:ln/>
        </p:spPr>
        <p:txBody>
          <a:bodyPr wrap="square" lIns="0" tIns="0" rIns="0" bIns="0" rtlCol="0" anchor="ctr"/>
          <a:lstStyle/>
          <a:p>
            <a:pPr indent="0" marL="0">
              <a:buNone/>
            </a:pPr>
            <a:r>
              <a:rPr lang="en-US" sz="2000" b="1" dirty="0">
                <a:solidFill>
                  <a:schemeClr val="tx2"/>
                </a:solidFill>
              </a:rPr>
              <a:t>DKISP</a:t>
            </a:r>
            <a:endParaRPr lang="en-US" sz="2000" dirty="0"/>
          </a:p>
        </p:txBody>
      </p:sp>
      <p:sp>
        <p:nvSpPr>
          <p:cNvPr id="14" name="Text 11"/>
          <p:cNvSpPr txBox="1"/>
          <p:nvPr/>
        </p:nvSpPr>
        <p:spPr>
          <a:xfrm>
            <a:off x="9098280" y="3694176"/>
            <a:ext cx="2361895" cy="868680"/>
          </a:xfrm>
          <a:prstGeom prst="rect">
            <a:avLst/>
          </a:prstGeom>
          <a:noFill/>
          <a:ln/>
        </p:spPr>
        <p:txBody>
          <a:bodyPr wrap="square" lIns="0" tIns="0" rIns="0" bIns="0" rtlCol="0" anchor="ctr"/>
          <a:lstStyle/>
          <a:p>
            <a:pPr indent="0" marL="0">
              <a:buNone/>
            </a:pPr>
            <a:r>
              <a:rPr lang="en-US" sz="1300" dirty="0">
                <a:solidFill>
                  <a:schemeClr val="tx1"/>
                </a:solidFill>
              </a:rPr>
              <a:t>Memfasilitasi subdomain resmi prokopim.tarakankota.go.id</a:t>
            </a:r>
            <a:endParaRPr lang="en-US" sz="1300" dirty="0"/>
          </a:p>
        </p:txBody>
      </p:sp>
      <p:sp>
        <p:nvSpPr>
          <p:cNvPr id="15" name="keberlanjutan"/>
          <p:cNvSpPr/>
          <p:nvPr/>
        </p:nvSpPr>
        <p:spPr>
          <a:xfrm>
            <a:off x="7406640" y="4800600"/>
            <a:ext cx="4236415" cy="1325880"/>
          </a:xfrm>
          <a:prstGeom prst="roundRect">
            <a:avLst>
              <a:gd name="adj" fmla="val 8276"/>
            </a:avLst>
          </a:prstGeom>
          <a:solidFill>
            <a:schemeClr val="tx2"/>
          </a:solidFill>
          <a:ln w="9525">
            <a:solidFill>
              <a:schemeClr val="tx2"/>
            </a:solidFill>
            <a:prstDash val="solid"/>
          </a:ln>
        </p:spPr>
      </p:sp>
      <p:sp>
        <p:nvSpPr>
          <p:cNvPr id="16" name="Text 13"/>
          <p:cNvSpPr txBox="1"/>
          <p:nvPr/>
        </p:nvSpPr>
        <p:spPr>
          <a:xfrm>
            <a:off x="7635240" y="4937760"/>
            <a:ext cx="3779215"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KEBERLANJUTAN</a:t>
            </a:r>
            <a:endParaRPr lang="en-US" sz="1200" dirty="0"/>
          </a:p>
        </p:txBody>
      </p:sp>
      <p:sp>
        <p:nvSpPr>
          <p:cNvPr id="17" name="Text 14"/>
          <p:cNvSpPr txBox="1"/>
          <p:nvPr/>
        </p:nvSpPr>
        <p:spPr>
          <a:xfrm>
            <a:off x="7635240" y="5230368"/>
            <a:ext cx="3779215" cy="822960"/>
          </a:xfrm>
          <a:prstGeom prst="rect">
            <a:avLst/>
          </a:prstGeom>
          <a:noFill/>
          <a:ln/>
        </p:spPr>
        <p:txBody>
          <a:bodyPr wrap="square" lIns="0" tIns="0" rIns="0" bIns="0" rtlCol="0" anchor="t"/>
          <a:lstStyle/>
          <a:p>
            <a:pPr indent="0" marL="0">
              <a:buNone/>
            </a:pPr>
            <a:r>
              <a:rPr lang="en-US" sz="1400" dirty="0">
                <a:solidFill>
                  <a:schemeClr val="bg1"/>
                </a:solidFill>
              </a:rPr>
              <a:t>11 SOP  ·  Pelaksana Harian  ·  kode dan riwayat lengkap tersimpan  ·  alih pengetahuan ke pengelola kedua 2027</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lIns="0" tIns="0" rIns="0" bIns="0" rtlCol="0" anchor="ctr"/>
          <a:lstStyle/>
          <a:p>
            <a:pPr indent="0" marL="0">
              <a:buNone/>
            </a:pPr>
            <a:r>
              <a:rPr lang="en-US" sz="1200" b="1" spc="200" kern="0" dirty="0">
                <a:solidFill>
                  <a:schemeClr val="accent5"/>
                </a:solidFill>
              </a:rPr>
              <a:t>DISEMINASI INOVASI  ·  10%</a:t>
            </a:r>
            <a:endParaRPr lang="en-US" sz="1200" dirty="0"/>
          </a:p>
        </p:txBody>
      </p:sp>
      <p:sp>
        <p:nvSpPr>
          <p:cNvPr id="3" name="Text 0"/>
          <p:cNvSpPr/>
          <p:nvPr>
            <p:ph idx="101" type="title" hasCustomPrompt="1"/>
          </p:nvPr>
        </p:nvSpPr>
        <p:spPr>
          <a:xfrm>
            <a:off x="548640" y="603504"/>
            <a:ext cx="11094415" cy="777240"/>
          </a:xfrm>
          <a:prstGeom prst="rect">
            <a:avLst/>
          </a:prstGeom>
          <a:noFill/>
          <a:ln/>
        </p:spPr>
        <p:txBody>
          <a:bodyPr wrap="square" lIns="0" tIns="0" rIns="0" bIns="0" rtlCol="0" anchor="t"/>
          <a:lstStyle/>
          <a:p>
            <a:pPr algn="l" indent="0" marL="0">
              <a:buNone/>
            </a:pPr>
            <a:r>
              <a:rPr lang="en-US" sz="2800" b="1" dirty="0">
                <a:solidFill>
                  <a:schemeClr val="tx2"/>
                </a:solidFill>
              </a:rPr>
              <a:t>Dipakai melampaui Bagian Prokopim, siap direplikasi</a:t>
            </a:r>
            <a:endParaRPr lang="en-US" sz="2800" dirty="0"/>
          </a:p>
        </p:txBody>
      </p:sp>
      <p:sp>
        <p:nvSpPr>
          <p:cNvPr id="4" name="jangkauan1"/>
          <p:cNvSpPr/>
          <p:nvPr/>
        </p:nvSpPr>
        <p:spPr>
          <a:xfrm>
            <a:off x="548640" y="1645920"/>
            <a:ext cx="2606040" cy="1691640"/>
          </a:xfrm>
          <a:prstGeom prst="roundRect">
            <a:avLst>
              <a:gd name="adj" fmla="val 6486"/>
            </a:avLst>
          </a:prstGeom>
          <a:solidFill>
            <a:schemeClr val="bg2"/>
          </a:solidFill>
          <a:ln w="9525">
            <a:solidFill>
              <a:schemeClr val="bg2"/>
            </a:solidFill>
            <a:prstDash val="solid"/>
          </a:ln>
        </p:spPr>
      </p:sp>
      <p:sp>
        <p:nvSpPr>
          <p:cNvPr id="5" name="Text 3"/>
          <p:cNvSpPr txBox="1"/>
          <p:nvPr/>
        </p:nvSpPr>
        <p:spPr>
          <a:xfrm>
            <a:off x="777240" y="1828800"/>
            <a:ext cx="2148840" cy="548640"/>
          </a:xfrm>
          <a:prstGeom prst="rect">
            <a:avLst/>
          </a:prstGeom>
          <a:noFill/>
          <a:ln/>
        </p:spPr>
        <p:txBody>
          <a:bodyPr wrap="square" lIns="0" tIns="0" rIns="0" bIns="0" rtlCol="0" anchor="t"/>
          <a:lstStyle/>
          <a:p>
            <a:pPr indent="0" marL="0">
              <a:buNone/>
            </a:pPr>
            <a:r>
              <a:rPr lang="en-US" sz="2800" b="1" dirty="0">
                <a:solidFill>
                  <a:schemeClr val="tx2"/>
                </a:solidFill>
              </a:rPr>
              <a:t>40 akun</a:t>
            </a:r>
            <a:endParaRPr lang="en-US" sz="2800" dirty="0"/>
          </a:p>
        </p:txBody>
      </p:sp>
      <p:sp>
        <p:nvSpPr>
          <p:cNvPr id="6" name="Text 4"/>
          <p:cNvSpPr txBox="1"/>
          <p:nvPr/>
        </p:nvSpPr>
        <p:spPr>
          <a:xfrm>
            <a:off x="777240" y="2423160"/>
            <a:ext cx="2148840" cy="822960"/>
          </a:xfrm>
          <a:prstGeom prst="rect">
            <a:avLst/>
          </a:prstGeom>
          <a:noFill/>
          <a:ln/>
        </p:spPr>
        <p:txBody>
          <a:bodyPr wrap="square" lIns="0" tIns="0" rIns="0" bIns="0" rtlCol="0" anchor="t"/>
          <a:lstStyle/>
          <a:p>
            <a:pPr indent="0" marL="0">
              <a:buNone/>
            </a:pPr>
            <a:r>
              <a:rPr lang="en-US" sz="1300" dirty="0">
                <a:solidFill>
                  <a:schemeClr val="accent5"/>
                </a:solidFill>
              </a:rPr>
              <a:t>14 jenis peran pengguna</a:t>
            </a:r>
            <a:endParaRPr lang="en-US" sz="1300" dirty="0"/>
          </a:p>
        </p:txBody>
      </p:sp>
      <p:sp>
        <p:nvSpPr>
          <p:cNvPr id="7" name="jangkauan2"/>
          <p:cNvSpPr/>
          <p:nvPr/>
        </p:nvSpPr>
        <p:spPr>
          <a:xfrm>
            <a:off x="3383280" y="1645920"/>
            <a:ext cx="2606040" cy="1691640"/>
          </a:xfrm>
          <a:prstGeom prst="roundRect">
            <a:avLst>
              <a:gd name="adj" fmla="val 6486"/>
            </a:avLst>
          </a:prstGeom>
          <a:solidFill>
            <a:schemeClr val="tx2"/>
          </a:solidFill>
          <a:ln w="9525">
            <a:solidFill>
              <a:schemeClr val="tx2"/>
            </a:solidFill>
            <a:prstDash val="solid"/>
          </a:ln>
        </p:spPr>
      </p:sp>
      <p:sp>
        <p:nvSpPr>
          <p:cNvPr id="8" name="Text 6"/>
          <p:cNvSpPr txBox="1"/>
          <p:nvPr/>
        </p:nvSpPr>
        <p:spPr>
          <a:xfrm>
            <a:off x="3611880" y="1828800"/>
            <a:ext cx="2148840" cy="548640"/>
          </a:xfrm>
          <a:prstGeom prst="rect">
            <a:avLst/>
          </a:prstGeom>
          <a:noFill/>
          <a:ln/>
        </p:spPr>
        <p:txBody>
          <a:bodyPr wrap="square" lIns="0" tIns="0" rIns="0" bIns="0" rtlCol="0" anchor="t"/>
          <a:lstStyle/>
          <a:p>
            <a:pPr indent="0" marL="0">
              <a:buNone/>
            </a:pPr>
            <a:r>
              <a:rPr lang="en-US" sz="2800" b="1" dirty="0">
                <a:solidFill>
                  <a:schemeClr val="accent1"/>
                </a:solidFill>
              </a:rPr>
              <a:t>21 akun</a:t>
            </a:r>
            <a:endParaRPr lang="en-US" sz="2800" dirty="0"/>
          </a:p>
        </p:txBody>
      </p:sp>
      <p:sp>
        <p:nvSpPr>
          <p:cNvPr id="9" name="Text 7"/>
          <p:cNvSpPr txBox="1"/>
          <p:nvPr/>
        </p:nvSpPr>
        <p:spPr>
          <a:xfrm>
            <a:off x="3611880" y="2423160"/>
            <a:ext cx="2148840" cy="822960"/>
          </a:xfrm>
          <a:prstGeom prst="rect">
            <a:avLst/>
          </a:prstGeom>
          <a:noFill/>
          <a:ln/>
        </p:spPr>
        <p:txBody>
          <a:bodyPr wrap="square" lIns="0" tIns="0" rIns="0" bIns="0" rtlCol="0" anchor="t"/>
          <a:lstStyle/>
          <a:p>
            <a:pPr indent="0" marL="0">
              <a:buNone/>
            </a:pPr>
            <a:r>
              <a:rPr lang="en-US" sz="1300" dirty="0">
                <a:solidFill>
                  <a:schemeClr val="bg1"/>
                </a:solidFill>
              </a:rPr>
              <a:t>di luar Bagian: Pimpinan, ajudan, pengawal, mitra DKISP</a:t>
            </a:r>
            <a:endParaRPr lang="en-US" sz="1300" dirty="0"/>
          </a:p>
        </p:txBody>
      </p:sp>
      <p:sp>
        <p:nvSpPr>
          <p:cNvPr id="10" name="jangkauan3"/>
          <p:cNvSpPr/>
          <p:nvPr/>
        </p:nvSpPr>
        <p:spPr>
          <a:xfrm>
            <a:off x="548640" y="3566160"/>
            <a:ext cx="2606040" cy="1691640"/>
          </a:xfrm>
          <a:prstGeom prst="roundRect">
            <a:avLst>
              <a:gd name="adj" fmla="val 6486"/>
            </a:avLst>
          </a:prstGeom>
          <a:solidFill>
            <a:schemeClr val="bg2"/>
          </a:solidFill>
          <a:ln w="9525">
            <a:solidFill>
              <a:schemeClr val="bg2"/>
            </a:solidFill>
            <a:prstDash val="solid"/>
          </a:ln>
        </p:spPr>
      </p:sp>
      <p:sp>
        <p:nvSpPr>
          <p:cNvPr id="11" name="Text 9"/>
          <p:cNvSpPr txBox="1"/>
          <p:nvPr/>
        </p:nvSpPr>
        <p:spPr>
          <a:xfrm>
            <a:off x="777240" y="3749040"/>
            <a:ext cx="2148840" cy="548640"/>
          </a:xfrm>
          <a:prstGeom prst="rect">
            <a:avLst/>
          </a:prstGeom>
          <a:noFill/>
          <a:ln/>
        </p:spPr>
        <p:txBody>
          <a:bodyPr wrap="square" lIns="0" tIns="0" rIns="0" bIns="0" rtlCol="0" anchor="t"/>
          <a:lstStyle/>
          <a:p>
            <a:pPr indent="0" marL="0">
              <a:buNone/>
            </a:pPr>
            <a:r>
              <a:rPr lang="en-US" sz="2800" b="1" dirty="0">
                <a:solidFill>
                  <a:schemeClr val="tx2"/>
                </a:solidFill>
              </a:rPr>
              <a:t>66 + 53</a:t>
            </a:r>
            <a:endParaRPr lang="en-US" sz="2800" dirty="0"/>
          </a:p>
        </p:txBody>
      </p:sp>
      <p:sp>
        <p:nvSpPr>
          <p:cNvPr id="12" name="Text 10"/>
          <p:cNvSpPr txBox="1"/>
          <p:nvPr/>
        </p:nvSpPr>
        <p:spPr>
          <a:xfrm>
            <a:off x="777240" y="4343400"/>
            <a:ext cx="2148840" cy="822960"/>
          </a:xfrm>
          <a:prstGeom prst="rect">
            <a:avLst/>
          </a:prstGeom>
          <a:noFill/>
          <a:ln/>
        </p:spPr>
        <p:txBody>
          <a:bodyPr wrap="square" lIns="0" tIns="0" rIns="0" bIns="0" rtlCol="0" anchor="t"/>
          <a:lstStyle/>
          <a:p>
            <a:pPr indent="0" marL="0">
              <a:buNone/>
            </a:pPr>
            <a:r>
              <a:rPr lang="en-US" sz="1300" dirty="0">
                <a:solidFill>
                  <a:schemeClr val="accent5"/>
                </a:solidFill>
              </a:rPr>
              <a:t>instansi memakai kanal publik ruangan dan audiensi</a:t>
            </a:r>
            <a:endParaRPr lang="en-US" sz="1300" dirty="0"/>
          </a:p>
        </p:txBody>
      </p:sp>
      <p:sp>
        <p:nvSpPr>
          <p:cNvPr id="13" name="jangkauan4"/>
          <p:cNvSpPr/>
          <p:nvPr/>
        </p:nvSpPr>
        <p:spPr>
          <a:xfrm>
            <a:off x="3383280" y="3566160"/>
            <a:ext cx="2606040" cy="1691640"/>
          </a:xfrm>
          <a:prstGeom prst="roundRect">
            <a:avLst>
              <a:gd name="adj" fmla="val 6486"/>
            </a:avLst>
          </a:prstGeom>
          <a:solidFill>
            <a:schemeClr val="bg2"/>
          </a:solidFill>
          <a:ln w="9525">
            <a:solidFill>
              <a:schemeClr val="bg2"/>
            </a:solidFill>
            <a:prstDash val="solid"/>
          </a:ln>
        </p:spPr>
      </p:sp>
      <p:sp>
        <p:nvSpPr>
          <p:cNvPr id="14" name="Text 12"/>
          <p:cNvSpPr txBox="1"/>
          <p:nvPr/>
        </p:nvSpPr>
        <p:spPr>
          <a:xfrm>
            <a:off x="3611880" y="3749040"/>
            <a:ext cx="2148840" cy="548640"/>
          </a:xfrm>
          <a:prstGeom prst="rect">
            <a:avLst/>
          </a:prstGeom>
          <a:noFill/>
          <a:ln/>
        </p:spPr>
        <p:txBody>
          <a:bodyPr wrap="square" lIns="0" tIns="0" rIns="0" bIns="0" rtlCol="0" anchor="t"/>
          <a:lstStyle/>
          <a:p>
            <a:pPr indent="0" marL="0">
              <a:buNone/>
            </a:pPr>
            <a:r>
              <a:rPr lang="en-US" sz="2800" b="1" dirty="0">
                <a:solidFill>
                  <a:schemeClr val="tx2"/>
                </a:solidFill>
              </a:rPr>
              <a:t>42 orang</a:t>
            </a:r>
            <a:endParaRPr lang="en-US" sz="2800" dirty="0"/>
          </a:p>
        </p:txBody>
      </p:sp>
      <p:sp>
        <p:nvSpPr>
          <p:cNvPr id="15" name="Text 13"/>
          <p:cNvSpPr txBox="1"/>
          <p:nvPr/>
        </p:nvSpPr>
        <p:spPr>
          <a:xfrm>
            <a:off x="3611880" y="4343400"/>
            <a:ext cx="2148840" cy="822960"/>
          </a:xfrm>
          <a:prstGeom prst="rect">
            <a:avLst/>
          </a:prstGeom>
          <a:noFill/>
          <a:ln/>
        </p:spPr>
        <p:txBody>
          <a:bodyPr wrap="square" lIns="0" tIns="0" rIns="0" bIns="0" rtlCol="0" anchor="t"/>
          <a:lstStyle/>
          <a:p>
            <a:pPr indent="0" marL="0">
              <a:buNone/>
            </a:pPr>
            <a:r>
              <a:rPr lang="en-US" sz="1300" dirty="0">
                <a:solidFill>
                  <a:schemeClr val="accent5"/>
                </a:solidFill>
              </a:rPr>
              <a:t>Tim Koordinasi lintas perangkat daerah</a:t>
            </a:r>
            <a:endParaRPr lang="en-US" sz="1300" dirty="0"/>
          </a:p>
        </p:txBody>
      </p:sp>
      <p:sp>
        <p:nvSpPr>
          <p:cNvPr id="16" name="Text 14"/>
          <p:cNvSpPr txBox="1"/>
          <p:nvPr/>
        </p:nvSpPr>
        <p:spPr>
          <a:xfrm>
            <a:off x="548640" y="5532120"/>
            <a:ext cx="5440680" cy="640080"/>
          </a:xfrm>
          <a:prstGeom prst="rect">
            <a:avLst/>
          </a:prstGeom>
          <a:noFill/>
          <a:ln/>
        </p:spPr>
        <p:txBody>
          <a:bodyPr wrap="square" lIns="0" tIns="0" rIns="0" bIns="0" rtlCol="0" anchor="t"/>
          <a:lstStyle/>
          <a:p>
            <a:pPr indent="0" marL="0">
              <a:buNone/>
            </a:pPr>
            <a:r>
              <a:rPr lang="en-US" sz="1400" b="1" dirty="0">
                <a:solidFill>
                  <a:schemeClr val="tx2"/>
                </a:solidFill>
              </a:rPr>
              <a:t>Siap direplikasi sesuai kebutuhan: </a:t>
            </a:r>
            <a:pPr indent="0" marL="0">
              <a:buNone/>
            </a:pPr>
            <a:r>
              <a:rPr lang="en-US" sz="1400" dirty="0">
                <a:solidFill>
                  <a:schemeClr val="tx2"/>
                </a:solidFill>
              </a:rPr>
              <a:t>cukup peramban, kuota tanpa biaya, dan 11 SOP yang dapat diadaptasi.</a:t>
            </a:r>
            <a:endParaRPr lang="en-US" sz="1400" dirty="0"/>
          </a:p>
        </p:txBody>
      </p:sp>
      <p:sp>
        <p:nvSpPr>
          <p:cNvPr id="17" name="Text 15"/>
          <p:cNvSpPr txBox="1"/>
          <p:nvPr/>
        </p:nvSpPr>
        <p:spPr>
          <a:xfrm>
            <a:off x="6446520" y="1645920"/>
            <a:ext cx="5196535" cy="365760"/>
          </a:xfrm>
          <a:prstGeom prst="rect">
            <a:avLst/>
          </a:prstGeom>
          <a:noFill/>
          <a:ln/>
        </p:spPr>
        <p:txBody>
          <a:bodyPr wrap="square" lIns="0" tIns="0" rIns="0" bIns="0" rtlCol="0" anchor="t"/>
          <a:lstStyle/>
          <a:p>
            <a:pPr indent="0" marL="0">
              <a:buNone/>
            </a:pPr>
            <a:r>
              <a:rPr lang="en-US" sz="1800" b="1" dirty="0">
                <a:solidFill>
                  <a:schemeClr val="tx2"/>
                </a:solidFill>
              </a:rPr>
              <a:t>Pelembagaan dan rencana</a:t>
            </a:r>
            <a:endParaRPr lang="en-US" sz="1800" dirty="0"/>
          </a:p>
        </p:txBody>
      </p:sp>
      <p:sp>
        <p:nvSpPr>
          <p:cNvPr id="18" name="Shape 16"/>
          <p:cNvSpPr/>
          <p:nvPr/>
        </p:nvSpPr>
        <p:spPr>
          <a:xfrm>
            <a:off x="6638544" y="2377440"/>
            <a:ext cx="0" cy="3291840"/>
          </a:xfrm>
          <a:prstGeom prst="line">
            <a:avLst/>
          </a:prstGeom>
          <a:noFill/>
          <a:ln w="25400">
            <a:solidFill>
              <a:schemeClr val="accent6"/>
            </a:solidFill>
            <a:prstDash val="solid"/>
          </a:ln>
        </p:spPr>
      </p:sp>
      <p:sp>
        <p:nvSpPr>
          <p:cNvPr id="19" name="Shape 17"/>
          <p:cNvSpPr/>
          <p:nvPr/>
        </p:nvSpPr>
        <p:spPr>
          <a:xfrm>
            <a:off x="6446520" y="2240280"/>
            <a:ext cx="384048" cy="384048"/>
          </a:xfrm>
          <a:prstGeom prst="ellipse">
            <a:avLst/>
          </a:prstGeom>
          <a:solidFill>
            <a:schemeClr val="accent1"/>
          </a:solidFill>
          <a:ln w="12700">
            <a:solidFill>
              <a:schemeClr val="accent1"/>
            </a:solidFill>
            <a:prstDash val="solid"/>
          </a:ln>
        </p:spPr>
      </p:sp>
      <p:sp>
        <p:nvSpPr>
          <p:cNvPr id="20" name="Text 18"/>
          <p:cNvSpPr txBox="1"/>
          <p:nvPr/>
        </p:nvSpPr>
        <p:spPr>
          <a:xfrm>
            <a:off x="6446520" y="2240280"/>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21" name="Text 19"/>
          <p:cNvSpPr txBox="1"/>
          <p:nvPr/>
        </p:nvSpPr>
        <p:spPr>
          <a:xfrm>
            <a:off x="7040880" y="2221992"/>
            <a:ext cx="4602175" cy="365760"/>
          </a:xfrm>
          <a:prstGeom prst="rect">
            <a:avLst/>
          </a:prstGeom>
          <a:noFill/>
          <a:ln/>
        </p:spPr>
        <p:txBody>
          <a:bodyPr wrap="square" lIns="0" tIns="0" rIns="0" bIns="0" rtlCol="0" anchor="t"/>
          <a:lstStyle/>
          <a:p>
            <a:pPr indent="0" marL="0">
              <a:buNone/>
            </a:pPr>
            <a:r>
              <a:rPr lang="en-US" sz="1500" b="1" dirty="0">
                <a:solidFill>
                  <a:schemeClr val="tx2"/>
                </a:solidFill>
              </a:rPr>
              <a:t>Maret 2026</a:t>
            </a:r>
            <a:endParaRPr lang="en-US" sz="1500" dirty="0"/>
          </a:p>
        </p:txBody>
      </p:sp>
      <p:sp>
        <p:nvSpPr>
          <p:cNvPr id="22" name="Text 20"/>
          <p:cNvSpPr txBox="1"/>
          <p:nvPr/>
        </p:nvSpPr>
        <p:spPr>
          <a:xfrm>
            <a:off x="7040880" y="2587752"/>
            <a:ext cx="4602175" cy="777240"/>
          </a:xfrm>
          <a:prstGeom prst="rect">
            <a:avLst/>
          </a:prstGeom>
          <a:noFill/>
          <a:ln/>
        </p:spPr>
        <p:txBody>
          <a:bodyPr wrap="square" lIns="0" tIns="0" rIns="0" bIns="0" rtlCol="0" anchor="t"/>
          <a:lstStyle/>
          <a:p>
            <a:pPr indent="0" marL="0">
              <a:buNone/>
            </a:pPr>
            <a:r>
              <a:rPr lang="en-US" sz="1400" dirty="0">
                <a:solidFill>
                  <a:schemeClr val="tx1"/>
                </a:solidFill>
              </a:rPr>
              <a:t>Mulai digunakan; Surat Sekda 12 Maret 2026 memohon subdomain resmi prokopim.tarakankota.go.id</a:t>
            </a:r>
            <a:endParaRPr lang="en-US" sz="1400" dirty="0"/>
          </a:p>
        </p:txBody>
      </p:sp>
      <p:sp>
        <p:nvSpPr>
          <p:cNvPr id="23" name="Shape 21"/>
          <p:cNvSpPr/>
          <p:nvPr/>
        </p:nvSpPr>
        <p:spPr>
          <a:xfrm>
            <a:off x="6446520" y="3474720"/>
            <a:ext cx="384048" cy="384048"/>
          </a:xfrm>
          <a:prstGeom prst="ellipse">
            <a:avLst/>
          </a:prstGeom>
          <a:solidFill>
            <a:schemeClr val="tx2"/>
          </a:solidFill>
          <a:ln w="12700">
            <a:solidFill>
              <a:schemeClr val="tx2"/>
            </a:solidFill>
            <a:prstDash val="solid"/>
          </a:ln>
        </p:spPr>
      </p:sp>
      <p:sp>
        <p:nvSpPr>
          <p:cNvPr id="24" name="Text 22"/>
          <p:cNvSpPr txBox="1"/>
          <p:nvPr/>
        </p:nvSpPr>
        <p:spPr>
          <a:xfrm>
            <a:off x="6446520" y="34747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5" name="Text 23"/>
          <p:cNvSpPr txBox="1"/>
          <p:nvPr/>
        </p:nvSpPr>
        <p:spPr>
          <a:xfrm>
            <a:off x="7040880" y="3456432"/>
            <a:ext cx="4602175" cy="365760"/>
          </a:xfrm>
          <a:prstGeom prst="rect">
            <a:avLst/>
          </a:prstGeom>
          <a:noFill/>
          <a:ln/>
        </p:spPr>
        <p:txBody>
          <a:bodyPr wrap="square" lIns="0" tIns="0" rIns="0" bIns="0" rtlCol="0" anchor="t"/>
          <a:lstStyle/>
          <a:p>
            <a:pPr indent="0" marL="0">
              <a:buNone/>
            </a:pPr>
            <a:r>
              <a:rPr lang="en-US" sz="1500" b="1" dirty="0">
                <a:solidFill>
                  <a:schemeClr val="tx2"/>
                </a:solidFill>
              </a:rPr>
              <a:t>Okt–Des 2026</a:t>
            </a:r>
            <a:endParaRPr lang="en-US" sz="1500" dirty="0"/>
          </a:p>
        </p:txBody>
      </p:sp>
      <p:sp>
        <p:nvSpPr>
          <p:cNvPr id="26" name="Text 24"/>
          <p:cNvSpPr txBox="1"/>
          <p:nvPr/>
        </p:nvSpPr>
        <p:spPr>
          <a:xfrm>
            <a:off x="7040880" y="3822192"/>
            <a:ext cx="4602175" cy="777240"/>
          </a:xfrm>
          <a:prstGeom prst="rect">
            <a:avLst/>
          </a:prstGeom>
          <a:noFill/>
          <a:ln/>
        </p:spPr>
        <p:txBody>
          <a:bodyPr wrap="square" lIns="0" tIns="0" rIns="0" bIns="0" rtlCol="0" anchor="t"/>
          <a:lstStyle/>
          <a:p>
            <a:pPr indent="0" marL="0">
              <a:buNone/>
            </a:pPr>
            <a:r>
              <a:rPr lang="en-US" sz="1400" dirty="0">
                <a:solidFill>
                  <a:schemeClr val="tx1"/>
                </a:solidFill>
              </a:rPr>
              <a:t>Pengesahan 11 SOP oleh Sekretaris Daerah, disesuaikan dengan nomenklatur baru</a:t>
            </a:r>
            <a:endParaRPr lang="en-US" sz="1400" dirty="0"/>
          </a:p>
        </p:txBody>
      </p:sp>
      <p:sp>
        <p:nvSpPr>
          <p:cNvPr id="27" name="Shape 25"/>
          <p:cNvSpPr/>
          <p:nvPr/>
        </p:nvSpPr>
        <p:spPr>
          <a:xfrm>
            <a:off x="6446520" y="4709160"/>
            <a:ext cx="384048" cy="384048"/>
          </a:xfrm>
          <a:prstGeom prst="ellipse">
            <a:avLst/>
          </a:prstGeom>
          <a:solidFill>
            <a:schemeClr val="tx2"/>
          </a:solidFill>
          <a:ln w="12700">
            <a:solidFill>
              <a:schemeClr val="tx2"/>
            </a:solidFill>
            <a:prstDash val="solid"/>
          </a:ln>
        </p:spPr>
      </p:sp>
      <p:sp>
        <p:nvSpPr>
          <p:cNvPr id="28" name="Text 26"/>
          <p:cNvSpPr txBox="1"/>
          <p:nvPr/>
        </p:nvSpPr>
        <p:spPr>
          <a:xfrm>
            <a:off x="6446520" y="4709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9" name="Text 27"/>
          <p:cNvSpPr txBox="1"/>
          <p:nvPr/>
        </p:nvSpPr>
        <p:spPr>
          <a:xfrm>
            <a:off x="7040880" y="4690872"/>
            <a:ext cx="4602175" cy="365760"/>
          </a:xfrm>
          <a:prstGeom prst="rect">
            <a:avLst/>
          </a:prstGeom>
          <a:noFill/>
          <a:ln/>
        </p:spPr>
        <p:txBody>
          <a:bodyPr wrap="square" lIns="0" tIns="0" rIns="0" bIns="0" rtlCol="0" anchor="t"/>
          <a:lstStyle/>
          <a:p>
            <a:pPr indent="0" marL="0">
              <a:buNone/>
            </a:pPr>
            <a:r>
              <a:rPr lang="en-US" sz="1500" b="1" dirty="0">
                <a:solidFill>
                  <a:schemeClr val="tx2"/>
                </a:solidFill>
              </a:rPr>
              <a:t>Jan–Jun 2027</a:t>
            </a:r>
            <a:endParaRPr lang="en-US" sz="1500" dirty="0"/>
          </a:p>
        </p:txBody>
      </p:sp>
      <p:sp>
        <p:nvSpPr>
          <p:cNvPr id="30" name="Text 28"/>
          <p:cNvSpPr txBox="1"/>
          <p:nvPr/>
        </p:nvSpPr>
        <p:spPr>
          <a:xfrm>
            <a:off x="7040880" y="5056632"/>
            <a:ext cx="4602175" cy="777240"/>
          </a:xfrm>
          <a:prstGeom prst="rect">
            <a:avLst/>
          </a:prstGeom>
          <a:noFill/>
          <a:ln/>
        </p:spPr>
        <p:txBody>
          <a:bodyPr wrap="square" lIns="0" tIns="0" rIns="0" bIns="0" rtlCol="0" anchor="t"/>
          <a:lstStyle/>
          <a:p>
            <a:pPr indent="0" marL="0">
              <a:buNone/>
            </a:pPr>
            <a:r>
              <a:rPr lang="en-US" sz="1400" dirty="0">
                <a:solidFill>
                  <a:schemeClr val="tx1"/>
                </a:solidFill>
              </a:rPr>
              <a:t>Pendampingan pengelola kedua; dokumentasi teknis</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lIns="0" tIns="0" rIns="0" bIns="0" rtlCol="0" anchor="ctr"/>
          <a:lstStyle/>
          <a:p>
            <a:pPr indent="0" marL="0">
              <a:buNone/>
            </a:pPr>
            <a:r>
              <a:rPr lang="en-US" sz="1200" b="1" spc="200" kern="0" dirty="0">
                <a:solidFill>
                  <a:schemeClr val="accent5"/>
                </a:solidFill>
              </a:rPr>
              <a:t>KOMPATIBILITAS  ·  5%</a:t>
            </a:r>
            <a:endParaRPr lang="en-US" sz="1200" dirty="0"/>
          </a:p>
        </p:txBody>
      </p:sp>
      <p:sp>
        <p:nvSpPr>
          <p:cNvPr id="3" name="Text 0"/>
          <p:cNvSpPr/>
          <p:nvPr>
            <p:ph idx="101" type="title" hasCustomPrompt="1"/>
          </p:nvPr>
        </p:nvSpPr>
        <p:spPr>
          <a:xfrm>
            <a:off x="548640" y="603504"/>
            <a:ext cx="11094415" cy="777240"/>
          </a:xfrm>
          <a:prstGeom prst="rect">
            <a:avLst/>
          </a:prstGeom>
          <a:noFill/>
          <a:ln/>
        </p:spPr>
        <p:txBody>
          <a:bodyPr wrap="square" lIns="0" tIns="0" rIns="0" bIns="0" rtlCol="0" anchor="t"/>
          <a:lstStyle/>
          <a:p>
            <a:pPr algn="l" indent="0" marL="0">
              <a:buNone/>
            </a:pPr>
            <a:r>
              <a:rPr lang="en-US" sz="2800" b="1" dirty="0">
                <a:solidFill>
                  <a:schemeClr val="tx2"/>
                </a:solidFill>
              </a:rPr>
              <a:t>Selaras regulasi, visi daerah, dan cara kerja Pimpinan</a:t>
            </a:r>
            <a:endParaRPr lang="en-US" sz="2800" dirty="0"/>
          </a:p>
        </p:txBody>
      </p:sp>
      <p:sp>
        <p:nvSpPr>
          <p:cNvPr id="4" name="kompat1"/>
          <p:cNvSpPr/>
          <p:nvPr/>
        </p:nvSpPr>
        <p:spPr>
          <a:xfrm>
            <a:off x="548640" y="1645920"/>
            <a:ext cx="3515258" cy="4023360"/>
          </a:xfrm>
          <a:prstGeom prst="roundRect">
            <a:avLst>
              <a:gd name="adj" fmla="val 3121"/>
            </a:avLst>
          </a:prstGeom>
          <a:solidFill>
            <a:schemeClr val="bg2"/>
          </a:solidFill>
          <a:ln w="9525">
            <a:solidFill>
              <a:schemeClr val="bg2"/>
            </a:solidFill>
            <a:prstDash val="solid"/>
          </a:ln>
        </p:spPr>
      </p:sp>
      <p:sp>
        <p:nvSpPr>
          <p:cNvPr id="5" name="Text 3"/>
          <p:cNvSpPr txBox="1"/>
          <p:nvPr/>
        </p:nvSpPr>
        <p:spPr>
          <a:xfrm>
            <a:off x="822960" y="1828800"/>
            <a:ext cx="2966618" cy="411480"/>
          </a:xfrm>
          <a:prstGeom prst="rect">
            <a:avLst/>
          </a:prstGeom>
          <a:noFill/>
          <a:ln/>
        </p:spPr>
        <p:txBody>
          <a:bodyPr wrap="square" lIns="0" tIns="0" rIns="0" bIns="0" rtlCol="0" anchor="t"/>
          <a:lstStyle/>
          <a:p>
            <a:pPr indent="0" marL="0">
              <a:buNone/>
            </a:pPr>
            <a:r>
              <a:rPr lang="en-US" sz="1800" b="1" dirty="0">
                <a:solidFill>
                  <a:schemeClr val="tx2"/>
                </a:solidFill>
              </a:rPr>
              <a:t>Regulasi</a:t>
            </a:r>
            <a:endParaRPr lang="en-US" sz="1800" dirty="0"/>
          </a:p>
        </p:txBody>
      </p:sp>
      <p:sp>
        <p:nvSpPr>
          <p:cNvPr id="6" name="Text 4"/>
          <p:cNvSpPr txBox="1"/>
          <p:nvPr/>
        </p:nvSpPr>
        <p:spPr>
          <a:xfrm>
            <a:off x="822960" y="2377440"/>
            <a:ext cx="3012338" cy="365760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chemeClr val="tx1"/>
                </a:solidFill>
              </a:rPr>
              <a:t>UU 25/2009 Pelayanan Publik</a:t>
            </a:r>
            <a:endParaRPr lang="en-US" sz="1400" dirty="0"/>
          </a:p>
          <a:p>
            <a:pPr marL="342900" indent="-342900">
              <a:spcAft>
                <a:spcPts val="900"/>
              </a:spcAft>
              <a:buSzPct val="100000"/>
              <a:buChar char="•"/>
            </a:pPr>
            <a:r>
              <a:rPr lang="en-US" sz="1400" dirty="0">
                <a:solidFill>
                  <a:schemeClr val="tx1"/>
                </a:solidFill>
              </a:rPr>
              <a:t>UU 9/2010 Keprotokolan</a:t>
            </a:r>
            <a:endParaRPr lang="en-US" sz="1400" dirty="0"/>
          </a:p>
          <a:p>
            <a:pPr marL="342900" indent="-342900">
              <a:spcAft>
                <a:spcPts val="900"/>
              </a:spcAft>
              <a:buSzPct val="100000"/>
              <a:buChar char="•"/>
            </a:pPr>
            <a:r>
              <a:rPr lang="en-US" sz="1400" dirty="0">
                <a:solidFill>
                  <a:schemeClr val="tx1"/>
                </a:solidFill>
              </a:rPr>
              <a:t>PP 38/2017 Inovasi Daerah</a:t>
            </a:r>
            <a:endParaRPr lang="en-US" sz="1400" dirty="0"/>
          </a:p>
          <a:p>
            <a:pPr marL="342900" indent="-342900">
              <a:spcAft>
                <a:spcPts val="900"/>
              </a:spcAft>
              <a:buSzPct val="100000"/>
              <a:buChar char="•"/>
            </a:pPr>
            <a:r>
              <a:rPr lang="en-US" sz="1400" dirty="0">
                <a:solidFill>
                  <a:schemeClr val="tx1"/>
                </a:solidFill>
              </a:rPr>
              <a:t>Perpres 95/2018 SPBE</a:t>
            </a:r>
            <a:endParaRPr lang="en-US" sz="1400" dirty="0"/>
          </a:p>
          <a:p>
            <a:pPr marL="342900" indent="-342900">
              <a:spcAft>
                <a:spcPts val="900"/>
              </a:spcAft>
              <a:buSzPct val="100000"/>
              <a:buChar char="•"/>
            </a:pPr>
            <a:r>
              <a:rPr lang="en-US" sz="1400" dirty="0">
                <a:solidFill>
                  <a:schemeClr val="tx1"/>
                </a:solidFill>
              </a:rPr>
              <a:t>PermenPAN-RB 35/2012 (dasar 11 SOP)</a:t>
            </a:r>
            <a:endParaRPr lang="en-US" sz="1400" dirty="0"/>
          </a:p>
        </p:txBody>
      </p:sp>
      <p:sp>
        <p:nvSpPr>
          <p:cNvPr id="7" name="kompat2"/>
          <p:cNvSpPr/>
          <p:nvPr/>
        </p:nvSpPr>
        <p:spPr>
          <a:xfrm>
            <a:off x="4338218" y="1645920"/>
            <a:ext cx="3515258" cy="4023360"/>
          </a:xfrm>
          <a:prstGeom prst="roundRect">
            <a:avLst>
              <a:gd name="adj" fmla="val 3121"/>
            </a:avLst>
          </a:prstGeom>
          <a:solidFill>
            <a:schemeClr val="tx2"/>
          </a:solidFill>
          <a:ln w="9525">
            <a:solidFill>
              <a:schemeClr val="tx2"/>
            </a:solidFill>
            <a:prstDash val="solid"/>
          </a:ln>
        </p:spPr>
      </p:sp>
      <p:sp>
        <p:nvSpPr>
          <p:cNvPr id="8" name="Text 6"/>
          <p:cNvSpPr txBox="1"/>
          <p:nvPr/>
        </p:nvSpPr>
        <p:spPr>
          <a:xfrm>
            <a:off x="4612538" y="1828800"/>
            <a:ext cx="2966618" cy="411480"/>
          </a:xfrm>
          <a:prstGeom prst="rect">
            <a:avLst/>
          </a:prstGeom>
          <a:noFill/>
          <a:ln/>
        </p:spPr>
        <p:txBody>
          <a:bodyPr wrap="square" lIns="0" tIns="0" rIns="0" bIns="0" rtlCol="0" anchor="t"/>
          <a:lstStyle/>
          <a:p>
            <a:pPr indent="0" marL="0">
              <a:buNone/>
            </a:pPr>
            <a:r>
              <a:rPr lang="en-US" sz="1800" b="1" dirty="0">
                <a:solidFill>
                  <a:schemeClr val="accent1"/>
                </a:solidFill>
              </a:rPr>
              <a:t>Visi dan misi daerah</a:t>
            </a:r>
            <a:endParaRPr lang="en-US" sz="1800" dirty="0"/>
          </a:p>
        </p:txBody>
      </p:sp>
      <p:sp>
        <p:nvSpPr>
          <p:cNvPr id="9" name="Text 7"/>
          <p:cNvSpPr txBox="1"/>
          <p:nvPr/>
        </p:nvSpPr>
        <p:spPr>
          <a:xfrm>
            <a:off x="4612538" y="2377440"/>
            <a:ext cx="3012338" cy="365760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chemeClr val="bg1"/>
                </a:solidFill>
              </a:rPr>
              <a:t>RPJMD Kaltara 2025–2029, Misi 3: transformasi tata kelola yang kolaboratif dan inovatif</a:t>
            </a:r>
            <a:endParaRPr lang="en-US" sz="1400" dirty="0"/>
          </a:p>
          <a:p>
            <a:pPr marL="342900" indent="-342900">
              <a:spcAft>
                <a:spcPts val="900"/>
              </a:spcAft>
              <a:buSzPct val="100000"/>
              <a:buChar char="•"/>
            </a:pPr>
            <a:r>
              <a:rPr lang="en-US" sz="1400" dirty="0">
                <a:solidFill>
                  <a:schemeClr val="bg1"/>
                </a:solidFill>
              </a:rPr>
              <a:t>RPJMD Kota Tarakan, Misi 4: tata kelola pemerintahan</a:t>
            </a:r>
            <a:endParaRPr lang="en-US" sz="1400" dirty="0"/>
          </a:p>
          <a:p>
            <a:pPr marL="342900" indent="-342900">
              <a:spcAft>
                <a:spcPts val="900"/>
              </a:spcAft>
              <a:buSzPct val="100000"/>
              <a:buChar char="•"/>
            </a:pPr>
            <a:r>
              <a:rPr lang="en-US" sz="1400" dirty="0">
                <a:solidFill>
                  <a:schemeClr val="bg1"/>
                </a:solidFill>
              </a:rPr>
              <a:t>Semboyan "Tarakan HIBOT" — hibot berarti hebat dalam bahasa Tidung</a:t>
            </a:r>
            <a:endParaRPr lang="en-US" sz="1400" dirty="0"/>
          </a:p>
        </p:txBody>
      </p:sp>
      <p:sp>
        <p:nvSpPr>
          <p:cNvPr id="10" name="kompat3"/>
          <p:cNvSpPr/>
          <p:nvPr/>
        </p:nvSpPr>
        <p:spPr>
          <a:xfrm>
            <a:off x="8127797" y="1645920"/>
            <a:ext cx="3515258" cy="4023360"/>
          </a:xfrm>
          <a:prstGeom prst="roundRect">
            <a:avLst>
              <a:gd name="adj" fmla="val 3121"/>
            </a:avLst>
          </a:prstGeom>
          <a:solidFill>
            <a:schemeClr val="bg2"/>
          </a:solidFill>
          <a:ln w="9525">
            <a:solidFill>
              <a:schemeClr val="bg2"/>
            </a:solidFill>
            <a:prstDash val="solid"/>
          </a:ln>
        </p:spPr>
      </p:sp>
      <p:sp>
        <p:nvSpPr>
          <p:cNvPr id="11" name="Text 9"/>
          <p:cNvSpPr txBox="1"/>
          <p:nvPr/>
        </p:nvSpPr>
        <p:spPr>
          <a:xfrm>
            <a:off x="8402117" y="1828800"/>
            <a:ext cx="2966618" cy="411480"/>
          </a:xfrm>
          <a:prstGeom prst="rect">
            <a:avLst/>
          </a:prstGeom>
          <a:noFill/>
          <a:ln/>
        </p:spPr>
        <p:txBody>
          <a:bodyPr wrap="square" lIns="0" tIns="0" rIns="0" bIns="0" rtlCol="0" anchor="t"/>
          <a:lstStyle/>
          <a:p>
            <a:pPr indent="0" marL="0">
              <a:buNone/>
            </a:pPr>
            <a:r>
              <a:rPr lang="en-US" sz="1800" b="1" dirty="0">
                <a:solidFill>
                  <a:schemeClr val="tx2"/>
                </a:solidFill>
              </a:rPr>
              <a:t>Kebutuhan pengguna</a:t>
            </a:r>
            <a:endParaRPr lang="en-US" sz="1800" dirty="0"/>
          </a:p>
        </p:txBody>
      </p:sp>
      <p:sp>
        <p:nvSpPr>
          <p:cNvPr id="12" name="Text 10"/>
          <p:cNvSpPr txBox="1"/>
          <p:nvPr/>
        </p:nvSpPr>
        <p:spPr>
          <a:xfrm>
            <a:off x="8402117" y="2377440"/>
            <a:ext cx="3012338" cy="365760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chemeClr val="tx1"/>
                </a:solidFill>
              </a:rPr>
              <a:t>Naskah sambutan tetap tersedia tercetak, sesuai kebiasaan Pimpinan</a:t>
            </a:r>
            <a:endParaRPr lang="en-US" sz="1400" dirty="0"/>
          </a:p>
          <a:p>
            <a:pPr marL="342900" indent="-342900">
              <a:spcAft>
                <a:spcPts val="900"/>
              </a:spcAft>
              <a:buSzPct val="100000"/>
              <a:buChar char="•"/>
            </a:pPr>
            <a:r>
              <a:rPr lang="en-US" sz="1400" dirty="0">
                <a:solidFill>
                  <a:schemeClr val="tx1"/>
                </a:solidFill>
              </a:rPr>
              <a:t>Kewenangan melekat pada jabatan, bukan orang</a:t>
            </a:r>
            <a:endParaRPr lang="en-US" sz="1400" dirty="0"/>
          </a:p>
          <a:p>
            <a:pPr marL="342900" indent="-342900">
              <a:spcAft>
                <a:spcPts val="900"/>
              </a:spcAft>
              <a:buSzPct val="100000"/>
              <a:buChar char="•"/>
            </a:pPr>
            <a:r>
              <a:rPr lang="en-US" sz="1400" dirty="0">
                <a:solidFill>
                  <a:schemeClr val="tx1"/>
                </a:solidFill>
              </a:rPr>
              <a:t>WA hanya untuk yang perlu bertindak</a:t>
            </a:r>
            <a:endParaRPr lang="en-US" sz="1400" dirty="0"/>
          </a:p>
          <a:p>
            <a:pPr marL="342900" indent="-342900">
              <a:spcAft>
                <a:spcPts val="900"/>
              </a:spcAft>
              <a:buSzPct val="100000"/>
              <a:buChar char="•"/>
            </a:pPr>
            <a:r>
              <a:rPr lang="en-US" sz="1400" dirty="0">
                <a:solidFill>
                  <a:schemeClr val="tx1"/>
                </a:solidFill>
              </a:rPr>
              <a:t>Jam acara mengikuti zona tempat Pimpinan berada</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alas logo"/>
          <p:cNvSpPr/>
          <p:nvPr/>
        </p:nvSpPr>
        <p:spPr>
          <a:xfrm>
            <a:off x="548640" y="411480"/>
            <a:ext cx="1783080" cy="868680"/>
          </a:xfrm>
          <a:prstGeom prst="roundRect">
            <a:avLst>
              <a:gd name="adj" fmla="val 14737"/>
            </a:avLst>
          </a:prstGeom>
          <a:solidFill>
            <a:schemeClr val="bg1"/>
          </a:solidFill>
          <a:ln w="12700">
            <a:solidFill>
              <a:schemeClr val="bg1"/>
            </a:solidFill>
            <a:prstDash val="solid"/>
          </a:ln>
        </p:spPr>
      </p:sp>
      <p:pic>
        <p:nvPicPr>
          <p:cNvPr id="3" name="Image 0" descr="/home/user/joyful-visuals/docs/lomba/build/paparan/aset/kaltara.png">    </p:cNvPr>
          <p:cNvPicPr>
            <a:picLocks noChangeAspect="1"/>
          </p:cNvPicPr>
          <p:nvPr/>
        </p:nvPicPr>
        <p:blipFill>
          <a:blip r:embed="rId1"/>
          <a:stretch>
            <a:fillRect/>
          </a:stretch>
        </p:blipFill>
        <p:spPr>
          <a:xfrm>
            <a:off x="731520" y="484632"/>
            <a:ext cx="548640" cy="731520"/>
          </a:xfrm>
          <a:prstGeom prst="rect">
            <a:avLst/>
          </a:prstGeom>
        </p:spPr>
      </p:pic>
      <p:pic>
        <p:nvPicPr>
          <p:cNvPr id="4" name="Image 1" descr="/home/user/joyful-visuals/docs/lomba/build/paparan/aset/tarakan.png">    </p:cNvPr>
          <p:cNvPicPr>
            <a:picLocks noChangeAspect="1"/>
          </p:cNvPicPr>
          <p:nvPr/>
        </p:nvPicPr>
        <p:blipFill>
          <a:blip r:embed="rId2"/>
          <a:stretch>
            <a:fillRect/>
          </a:stretch>
        </p:blipFill>
        <p:spPr>
          <a:xfrm>
            <a:off x="1444752" y="484632"/>
            <a:ext cx="731520" cy="731520"/>
          </a:xfrm>
          <a:prstGeom prst="rect">
            <a:avLst/>
          </a:prstGeom>
        </p:spPr>
      </p:pic>
      <p:sp>
        <p:nvSpPr>
          <p:cNvPr id="5" name="Text 1"/>
          <p:cNvSpPr txBox="1"/>
          <p:nvPr/>
        </p:nvSpPr>
        <p:spPr>
          <a:xfrm>
            <a:off x="548640" y="1691640"/>
            <a:ext cx="7680960" cy="2651760"/>
          </a:xfrm>
          <a:prstGeom prst="rect">
            <a:avLst/>
          </a:prstGeom>
          <a:noFill/>
          <a:ln/>
        </p:spPr>
        <p:txBody>
          <a:bodyPr wrap="square" lIns="0" tIns="0" rIns="0" bIns="0" rtlCol="0" anchor="t"/>
          <a:lstStyle/>
          <a:p>
            <a:pPr indent="0" marL="0">
              <a:spcAft>
                <a:spcPts val="400"/>
              </a:spcAft>
              <a:buNone/>
            </a:pPr>
            <a:r>
              <a:rPr lang="en-US" sz="4200" b="1" dirty="0">
                <a:solidFill>
                  <a:schemeClr val="bg1"/>
                </a:solidFill>
              </a:rPr>
              <a:t>Satu alur.</a:t>
            </a:r>
            <a:endParaRPr lang="en-US" sz="4200" dirty="0"/>
          </a:p>
          <a:p>
            <a:pPr indent="0" marL="0">
              <a:spcAft>
                <a:spcPts val="400"/>
              </a:spcAft>
              <a:buNone/>
            </a:pPr>
            <a:r>
              <a:rPr lang="en-US" sz="4200" b="1" dirty="0">
                <a:solidFill>
                  <a:schemeClr val="bg1"/>
                </a:solidFill>
              </a:rPr>
              <a:t>Satu data.</a:t>
            </a:r>
            <a:endParaRPr lang="en-US" sz="4200" dirty="0"/>
          </a:p>
          <a:p>
            <a:pPr indent="0" marL="0">
              <a:spcAft>
                <a:spcPts val="400"/>
              </a:spcAft>
              <a:buNone/>
            </a:pPr>
            <a:r>
              <a:rPr lang="en-US" sz="4200" b="1" dirty="0">
                <a:solidFill>
                  <a:schemeClr val="bg1"/>
                </a:solidFill>
              </a:rPr>
              <a:t>Setiap keputusan tercatat.</a:t>
            </a:r>
            <a:endParaRPr lang="en-US" sz="4200" dirty="0"/>
          </a:p>
        </p:txBody>
      </p:sp>
      <p:sp>
        <p:nvSpPr>
          <p:cNvPr id="6" name="Text 2"/>
          <p:cNvSpPr txBox="1"/>
          <p:nvPr/>
        </p:nvSpPr>
        <p:spPr>
          <a:xfrm>
            <a:off x="548640" y="4572000"/>
            <a:ext cx="6949440" cy="548640"/>
          </a:xfrm>
          <a:prstGeom prst="rect">
            <a:avLst/>
          </a:prstGeom>
          <a:noFill/>
          <a:ln/>
        </p:spPr>
        <p:txBody>
          <a:bodyPr wrap="square" lIns="0" tIns="0" rIns="0" bIns="0" rtlCol="0" anchor="t"/>
          <a:lstStyle/>
          <a:p>
            <a:pPr indent="0" marL="0">
              <a:buNone/>
            </a:pPr>
            <a:r>
              <a:rPr lang="en-US" sz="2400" dirty="0">
                <a:solidFill>
                  <a:schemeClr val="accent1"/>
                </a:solidFill>
              </a:rPr>
              <a:t>Terima kasih</a:t>
            </a:r>
            <a:endParaRPr lang="en-US" sz="2400" dirty="0"/>
          </a:p>
        </p:txBody>
      </p:sp>
      <p:sp>
        <p:nvSpPr>
          <p:cNvPr id="7" name="Text 3"/>
          <p:cNvSpPr txBox="1"/>
          <p:nvPr/>
        </p:nvSpPr>
        <p:spPr>
          <a:xfrm>
            <a:off x="548640" y="5166360"/>
            <a:ext cx="7132320" cy="365760"/>
          </a:xfrm>
          <a:prstGeom prst="rect">
            <a:avLst/>
          </a:prstGeom>
          <a:noFill/>
          <a:ln/>
        </p:spPr>
        <p:txBody>
          <a:bodyPr wrap="square" lIns="0" tIns="0" rIns="0" bIns="0" rtlCol="0" anchor="t"/>
          <a:lstStyle/>
          <a:p>
            <a:pPr indent="0" marL="0">
              <a:buNone/>
            </a:pPr>
            <a:r>
              <a:rPr lang="en-US" sz="1300" dirty="0">
                <a:solidFill>
                  <a:schemeClr val="accent6"/>
                </a:solidFill>
              </a:rPr>
              <a:t>Tim Inovasi Prokopim Hibot  ·  Bagian Protokol dan Komunikasi Pimpinan, Setda Kota Tarakan</a:t>
            </a:r>
            <a:endParaRPr lang="en-US" sz="1300" dirty="0"/>
          </a:p>
        </p:txBody>
      </p:sp>
      <p:sp>
        <p:nvSpPr>
          <p:cNvPr id="8" name="qr"/>
          <p:cNvSpPr/>
          <p:nvPr/>
        </p:nvSpPr>
        <p:spPr>
          <a:xfrm>
            <a:off x="8503920" y="1463040"/>
            <a:ext cx="3136392" cy="3977640"/>
          </a:xfrm>
          <a:prstGeom prst="roundRect">
            <a:avLst>
              <a:gd name="adj" fmla="val 3499"/>
            </a:avLst>
          </a:prstGeom>
          <a:solidFill>
            <a:srgbClr val="FFFFFF"/>
          </a:solidFill>
          <a:ln w="9525">
            <a:solidFill>
              <a:srgbClr val="FFFFFF"/>
            </a:solidFill>
            <a:prstDash val="solid"/>
          </a:ln>
        </p:spPr>
      </p:sp>
      <p:pic>
        <p:nvPicPr>
          <p:cNvPr id="9" name="Image 2" descr="/home/user/joyful-visuals/docs/lomba/build/paparan/aset/qr.png">    </p:cNvPr>
          <p:cNvPicPr>
            <a:picLocks noChangeAspect="1"/>
          </p:cNvPicPr>
          <p:nvPr/>
        </p:nvPicPr>
        <p:blipFill>
          <a:blip r:embed="rId3"/>
          <a:stretch>
            <a:fillRect/>
          </a:stretch>
        </p:blipFill>
        <p:spPr>
          <a:xfrm>
            <a:off x="8796528" y="1737360"/>
            <a:ext cx="2560320" cy="2560320"/>
          </a:xfrm>
          <a:prstGeom prst="rect">
            <a:avLst/>
          </a:prstGeom>
        </p:spPr>
      </p:pic>
      <p:sp>
        <p:nvSpPr>
          <p:cNvPr id="10" name="Text 5"/>
          <p:cNvSpPr txBox="1"/>
          <p:nvPr/>
        </p:nvSpPr>
        <p:spPr>
          <a:xfrm>
            <a:off x="8641080" y="4480560"/>
            <a:ext cx="2862072" cy="365760"/>
          </a:xfrm>
          <a:prstGeom prst="rect">
            <a:avLst/>
          </a:prstGeom>
          <a:noFill/>
          <a:ln/>
        </p:spPr>
        <p:txBody>
          <a:bodyPr wrap="square" lIns="0" tIns="0" rIns="0" bIns="0" rtlCol="0" anchor="t"/>
          <a:lstStyle/>
          <a:p>
            <a:pPr algn="ctr" indent="0" marL="0">
              <a:buNone/>
            </a:pPr>
            <a:r>
              <a:rPr lang="en-US" sz="1400" b="1" dirty="0">
                <a:solidFill>
                  <a:schemeClr val="tx2"/>
                </a:solidFill>
              </a:rPr>
              <a:t>prokopim.tarakankota.go.id</a:t>
            </a:r>
            <a:endParaRPr lang="en-US" sz="1400" dirty="0"/>
          </a:p>
        </p:txBody>
      </p:sp>
      <p:sp>
        <p:nvSpPr>
          <p:cNvPr id="11" name="Text 6"/>
          <p:cNvSpPr txBox="1"/>
          <p:nvPr/>
        </p:nvSpPr>
        <p:spPr>
          <a:xfrm>
            <a:off x="8641080" y="4846320"/>
            <a:ext cx="2862072" cy="457200"/>
          </a:xfrm>
          <a:prstGeom prst="rect">
            <a:avLst/>
          </a:prstGeom>
          <a:noFill/>
          <a:ln/>
        </p:spPr>
        <p:txBody>
          <a:bodyPr wrap="square" lIns="0" tIns="0" rIns="0" bIns="0" rtlCol="0" anchor="t"/>
          <a:lstStyle/>
          <a:p>
            <a:pPr algn="ctr" indent="0" marL="0">
              <a:buNone/>
            </a:pPr>
            <a:r>
              <a:rPr lang="en-US" sz="1100" dirty="0">
                <a:solidFill>
                  <a:schemeClr val="accent5"/>
                </a:solidFill>
              </a:rPr>
              <a:t>Akses juri baca-saja tersedia saat demonstrasi</a:t>
            </a:r>
            <a:endParaRPr lang="en-US" sz="1100" dirty="0"/>
          </a:p>
        </p:txBody>
      </p:sp>
      <p:sp>
        <p:nvSpPr>
          <p:cNvPr id="13" name="Text 0"/>
          <p:cNvSpPr/>
          <p:nvPr>
            <p:ph idx="100" type="body" hasCustomPrompt="1"/>
          </p:nvPr>
        </p:nvSpPr>
        <p:spPr>
          <a:xfrm>
            <a:off x="548640" y="292608"/>
            <a:ext cx="8229600" cy="292608"/>
          </a:xfrm>
          <a:prstGeom prst="rect">
            <a:avLst/>
          </a:prstGeom>
          <a:noFill/>
          <a:ln/>
        </p:spPr>
        <p:txBody>
          <a:bodyPr wrap="square" lIns="0" tIns="0" rIns="0" bIns="0" rtlCol="0" anchor="ctr"/>
          <a:lstStyle/>
          <a:p>
            <a:pPr indent="0" marL="0">
              <a:buNone/>
            </a:pPr>
            <a:endParaRPr lang="en-US" sz="1200" dirty="0"/>
          </a:p>
        </p:txBody>
      </p:sp>
      <p:sp>
        <p:nvSpPr>
          <p:cNvPr id="14" name="Text 0"/>
          <p:cNvSpPr/>
          <p:nvPr>
            <p:ph idx="101" type="title" hasCustomPrompt="1"/>
          </p:nvPr>
        </p:nvSpPr>
        <p:spPr>
          <a:xfrm>
            <a:off x="548640" y="603504"/>
            <a:ext cx="11094415" cy="777240"/>
          </a:xfrm>
          <a:prstGeom prst="rect">
            <a:avLst/>
          </a:prstGeom>
          <a:noFill/>
          <a:ln/>
        </p:spPr>
        <p:txBody>
          <a:bodyPr wrap="square" lIns="0" tIns="0" rIns="0" bIns="0" rtlCol="0" anchor="t"/>
          <a:lstStyle/>
          <a:p>
            <a:pPr algn="l" indent="0" marL="0">
              <a:buNone/>
            </a:pPr>
            <a:endParaRPr lang="en-US" sz="2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lIns="0" tIns="0" rIns="0" bIns="0" rtlCol="0" anchor="ctr"/>
          <a:lstStyle/>
          <a:p>
            <a:pPr indent="0" marL="0">
              <a:buNone/>
            </a:pPr>
            <a:r>
              <a:rPr lang="en-US" sz="1200" b="1" spc="200" kern="0" dirty="0">
                <a:solidFill>
                  <a:schemeClr val="accent5"/>
                </a:solidFill>
              </a:rPr>
              <a:t>CADANGAN PENJELASAN  ·  JIKA DITANYA</a:t>
            </a:r>
            <a:endParaRPr lang="en-US" sz="1200" dirty="0"/>
          </a:p>
        </p:txBody>
      </p:sp>
      <p:sp>
        <p:nvSpPr>
          <p:cNvPr id="3" name="Text 0"/>
          <p:cNvSpPr/>
          <p:nvPr>
            <p:ph idx="101" type="title" hasCustomPrompt="1"/>
          </p:nvPr>
        </p:nvSpPr>
        <p:spPr>
          <a:xfrm>
            <a:off x="548640" y="603504"/>
            <a:ext cx="11094415" cy="777240"/>
          </a:xfrm>
          <a:prstGeom prst="rect">
            <a:avLst/>
          </a:prstGeom>
          <a:noFill/>
          <a:ln/>
        </p:spPr>
        <p:txBody>
          <a:bodyPr wrap="square" lIns="0" tIns="0" rIns="0" bIns="0" rtlCol="0" anchor="t"/>
          <a:lstStyle/>
          <a:p>
            <a:pPr algn="l" indent="0" marL="0">
              <a:buNone/>
            </a:pPr>
            <a:r>
              <a:rPr lang="en-US" sz="2800" b="1" dirty="0">
                <a:solidFill>
                  <a:schemeClr val="tx2"/>
                </a:solidFill>
              </a:rPr>
              <a:t>Sejak proposal, inovasi ini terus disempurnakan</a:t>
            </a:r>
            <a:endParaRPr lang="en-US" sz="2800" dirty="0"/>
          </a:p>
        </p:txBody>
      </p:sp>
      <p:sp>
        <p:nvSpPr>
          <p:cNvPr id="4" name="Text 2"/>
          <p:cNvSpPr txBox="1"/>
          <p:nvPr/>
        </p:nvSpPr>
        <p:spPr>
          <a:xfrm>
            <a:off x="548640" y="1371600"/>
            <a:ext cx="11094415" cy="365760"/>
          </a:xfrm>
          <a:prstGeom prst="rect">
            <a:avLst/>
          </a:prstGeom>
          <a:noFill/>
          <a:ln/>
        </p:spPr>
        <p:txBody>
          <a:bodyPr wrap="square" lIns="0" tIns="0" rIns="0" bIns="0" rtlCol="0" anchor="t"/>
          <a:lstStyle/>
          <a:p>
            <a:pPr indent="0" marL="0">
              <a:buNone/>
            </a:pPr>
            <a:r>
              <a:rPr lang="en-US" sz="1300" dirty="0">
                <a:solidFill>
                  <a:schemeClr val="accent5"/>
                </a:solidFill>
              </a:rPr>
              <a:t>Proposal memuat keadaan per 24 September 2026. Pembaruan Oktober 2026 berikut berangkat dari pemakaian dan masukan pengguna.</a:t>
            </a:r>
            <a:endParaRPr lang="en-US" sz="1300" dirty="0"/>
          </a:p>
        </p:txBody>
      </p:sp>
      <p:sp>
        <p:nvSpPr>
          <p:cNvPr id="5" name="baru1"/>
          <p:cNvSpPr/>
          <p:nvPr/>
        </p:nvSpPr>
        <p:spPr>
          <a:xfrm>
            <a:off x="548640" y="1783080"/>
            <a:ext cx="3545738" cy="1828800"/>
          </a:xfrm>
          <a:prstGeom prst="roundRect">
            <a:avLst>
              <a:gd name="adj" fmla="val 6000"/>
            </a:avLst>
          </a:prstGeom>
          <a:solidFill>
            <a:schemeClr val="bg2"/>
          </a:solidFill>
          <a:ln w="9525">
            <a:solidFill>
              <a:schemeClr val="bg2"/>
            </a:solidFill>
            <a:prstDash val="solid"/>
          </a:ln>
        </p:spPr>
      </p:sp>
      <p:sp>
        <p:nvSpPr>
          <p:cNvPr id="6" name="Shape 4"/>
          <p:cNvSpPr/>
          <p:nvPr/>
        </p:nvSpPr>
        <p:spPr>
          <a:xfrm>
            <a:off x="731520" y="1947672"/>
            <a:ext cx="365760" cy="365760"/>
          </a:xfrm>
          <a:prstGeom prst="ellipse">
            <a:avLst/>
          </a:prstGeom>
          <a:solidFill>
            <a:schemeClr val="tx2"/>
          </a:solidFill>
          <a:ln w="12700">
            <a:solidFill>
              <a:schemeClr val="tx2"/>
            </a:solidFill>
            <a:prstDash val="solid"/>
          </a:ln>
        </p:spPr>
      </p:sp>
      <p:sp>
        <p:nvSpPr>
          <p:cNvPr id="7" name="Text 5"/>
          <p:cNvSpPr txBox="1"/>
          <p:nvPr/>
        </p:nvSpPr>
        <p:spPr>
          <a:xfrm>
            <a:off x="731520" y="1947672"/>
            <a:ext cx="365760" cy="365760"/>
          </a:xfrm>
          <a:prstGeom prst="rect">
            <a:avLst/>
          </a:prstGeom>
          <a:noFill/>
          <a:ln/>
        </p:spPr>
        <p:txBody>
          <a:bodyPr wrap="square" lIns="0" tIns="0" rIns="0" bIns="0" rtlCol="0" anchor="ctr"/>
          <a:lstStyle/>
          <a:p>
            <a:pPr algn="ctr" indent="0" marL="0">
              <a:buNone/>
            </a:pPr>
            <a:r>
              <a:rPr lang="en-US" sz="1400" b="1" dirty="0">
                <a:solidFill>
                  <a:schemeClr val="accent1"/>
                </a:solidFill>
              </a:rPr>
              <a:t>1</a:t>
            </a:r>
            <a:endParaRPr lang="en-US" sz="1400" dirty="0"/>
          </a:p>
        </p:txBody>
      </p:sp>
      <p:sp>
        <p:nvSpPr>
          <p:cNvPr id="8" name="Text 6"/>
          <p:cNvSpPr txBox="1"/>
          <p:nvPr/>
        </p:nvSpPr>
        <p:spPr>
          <a:xfrm>
            <a:off x="1234440" y="1947672"/>
            <a:ext cx="2677058" cy="365760"/>
          </a:xfrm>
          <a:prstGeom prst="rect">
            <a:avLst/>
          </a:prstGeom>
          <a:noFill/>
          <a:ln/>
        </p:spPr>
        <p:txBody>
          <a:bodyPr wrap="square" lIns="0" tIns="0" rIns="0" bIns="0" rtlCol="0" anchor="ctr"/>
          <a:lstStyle/>
          <a:p>
            <a:pPr indent="0" marL="0">
              <a:buNone/>
            </a:pPr>
            <a:r>
              <a:rPr lang="en-US" sz="1500" b="1" dirty="0">
                <a:solidFill>
                  <a:schemeClr val="tx2"/>
                </a:solidFill>
              </a:rPr>
              <a:t>Pengingat dirampingkan</a:t>
            </a:r>
            <a:endParaRPr lang="en-US" sz="1500" dirty="0"/>
          </a:p>
        </p:txBody>
      </p:sp>
      <p:sp>
        <p:nvSpPr>
          <p:cNvPr id="9" name="Text 7"/>
          <p:cNvSpPr txBox="1"/>
          <p:nvPr/>
        </p:nvSpPr>
        <p:spPr>
          <a:xfrm>
            <a:off x="731520" y="2404872"/>
            <a:ext cx="3179978" cy="1143000"/>
          </a:xfrm>
          <a:prstGeom prst="rect">
            <a:avLst/>
          </a:prstGeom>
          <a:noFill/>
          <a:ln/>
        </p:spPr>
        <p:txBody>
          <a:bodyPr wrap="square" lIns="0" tIns="0" rIns="0" bIns="0" rtlCol="0" anchor="t"/>
          <a:lstStyle/>
          <a:p>
            <a:pPr indent="0" marL="0">
              <a:buNone/>
            </a:pPr>
            <a:r>
              <a:rPr lang="en-US" sz="1200" dirty="0">
                <a:solidFill>
                  <a:schemeClr val="tx1"/>
                </a:solidFill>
              </a:rPr>
              <a:t>Proposal: lima kali sehari. Kini tiga waktu (06.30, 07.30, 16.00) ditambah kabar seketika, berdasarkan data pemakaian agar pesan tidak berulang.</a:t>
            </a:r>
            <a:endParaRPr lang="en-US" sz="1200" dirty="0"/>
          </a:p>
        </p:txBody>
      </p:sp>
      <p:sp>
        <p:nvSpPr>
          <p:cNvPr id="10" name="baru2"/>
          <p:cNvSpPr/>
          <p:nvPr/>
        </p:nvSpPr>
        <p:spPr>
          <a:xfrm>
            <a:off x="4322978" y="1783080"/>
            <a:ext cx="3545738" cy="1828800"/>
          </a:xfrm>
          <a:prstGeom prst="roundRect">
            <a:avLst>
              <a:gd name="adj" fmla="val 6000"/>
            </a:avLst>
          </a:prstGeom>
          <a:solidFill>
            <a:schemeClr val="bg2"/>
          </a:solidFill>
          <a:ln w="9525">
            <a:solidFill>
              <a:schemeClr val="bg2"/>
            </a:solidFill>
            <a:prstDash val="solid"/>
          </a:ln>
        </p:spPr>
      </p:sp>
      <p:sp>
        <p:nvSpPr>
          <p:cNvPr id="11" name="Shape 9"/>
          <p:cNvSpPr/>
          <p:nvPr/>
        </p:nvSpPr>
        <p:spPr>
          <a:xfrm>
            <a:off x="4505858" y="1947672"/>
            <a:ext cx="365760" cy="365760"/>
          </a:xfrm>
          <a:prstGeom prst="ellipse">
            <a:avLst/>
          </a:prstGeom>
          <a:solidFill>
            <a:schemeClr val="tx2"/>
          </a:solidFill>
          <a:ln w="12700">
            <a:solidFill>
              <a:schemeClr val="tx2"/>
            </a:solidFill>
            <a:prstDash val="solid"/>
          </a:ln>
        </p:spPr>
      </p:sp>
      <p:sp>
        <p:nvSpPr>
          <p:cNvPr id="12" name="Text 10"/>
          <p:cNvSpPr txBox="1"/>
          <p:nvPr/>
        </p:nvSpPr>
        <p:spPr>
          <a:xfrm>
            <a:off x="4505858" y="1947672"/>
            <a:ext cx="365760" cy="365760"/>
          </a:xfrm>
          <a:prstGeom prst="rect">
            <a:avLst/>
          </a:prstGeom>
          <a:noFill/>
          <a:ln/>
        </p:spPr>
        <p:txBody>
          <a:bodyPr wrap="square" lIns="0" tIns="0" rIns="0" bIns="0" rtlCol="0" anchor="ctr"/>
          <a:lstStyle/>
          <a:p>
            <a:pPr algn="ctr" indent="0" marL="0">
              <a:buNone/>
            </a:pPr>
            <a:r>
              <a:rPr lang="en-US" sz="1400" b="1" dirty="0">
                <a:solidFill>
                  <a:schemeClr val="accent1"/>
                </a:solidFill>
              </a:rPr>
              <a:t>2</a:t>
            </a:r>
            <a:endParaRPr lang="en-US" sz="1400" dirty="0"/>
          </a:p>
        </p:txBody>
      </p:sp>
      <p:sp>
        <p:nvSpPr>
          <p:cNvPr id="13" name="Text 11"/>
          <p:cNvSpPr txBox="1"/>
          <p:nvPr/>
        </p:nvSpPr>
        <p:spPr>
          <a:xfrm>
            <a:off x="5008778" y="1947672"/>
            <a:ext cx="2677058" cy="365760"/>
          </a:xfrm>
          <a:prstGeom prst="rect">
            <a:avLst/>
          </a:prstGeom>
          <a:noFill/>
          <a:ln/>
        </p:spPr>
        <p:txBody>
          <a:bodyPr wrap="square" lIns="0" tIns="0" rIns="0" bIns="0" rtlCol="0" anchor="ctr"/>
          <a:lstStyle/>
          <a:p>
            <a:pPr indent="0" marL="0">
              <a:buNone/>
            </a:pPr>
            <a:r>
              <a:rPr lang="en-US" sz="1500" b="1" dirty="0">
                <a:solidFill>
                  <a:schemeClr val="tx2"/>
                </a:solidFill>
              </a:rPr>
              <a:t>WhatsApp hanya yang perlu</a:t>
            </a:r>
            <a:endParaRPr lang="en-US" sz="1500" dirty="0"/>
          </a:p>
        </p:txBody>
      </p:sp>
      <p:sp>
        <p:nvSpPr>
          <p:cNvPr id="14" name="Text 12"/>
          <p:cNvSpPr txBox="1"/>
          <p:nvPr/>
        </p:nvSpPr>
        <p:spPr>
          <a:xfrm>
            <a:off x="4505858" y="2404872"/>
            <a:ext cx="3179978" cy="1143000"/>
          </a:xfrm>
          <a:prstGeom prst="rect">
            <a:avLst/>
          </a:prstGeom>
          <a:noFill/>
          <a:ln/>
        </p:spPr>
        <p:txBody>
          <a:bodyPr wrap="square" lIns="0" tIns="0" rIns="0" bIns="0" rtlCol="0" anchor="t"/>
          <a:lstStyle/>
          <a:p>
            <a:pPr indent="0" marL="0">
              <a:buNone/>
            </a:pPr>
            <a:r>
              <a:rPr lang="en-US" sz="1200" dirty="0">
                <a:solidFill>
                  <a:schemeClr val="tx1"/>
                </a:solidFill>
              </a:rPr>
              <a:t>Pesan WhatsApp hanya untuk acara hari ini atau besok; selebihnya lewat notifikasi aplikasi, sehingga tidak ada pesan penting yang tenggelam.</a:t>
            </a:r>
            <a:endParaRPr lang="en-US" sz="1200" dirty="0"/>
          </a:p>
        </p:txBody>
      </p:sp>
      <p:sp>
        <p:nvSpPr>
          <p:cNvPr id="15" name="baru3"/>
          <p:cNvSpPr/>
          <p:nvPr/>
        </p:nvSpPr>
        <p:spPr>
          <a:xfrm>
            <a:off x="8097317" y="1783080"/>
            <a:ext cx="3545738" cy="1828800"/>
          </a:xfrm>
          <a:prstGeom prst="roundRect">
            <a:avLst>
              <a:gd name="adj" fmla="val 6000"/>
            </a:avLst>
          </a:prstGeom>
          <a:solidFill>
            <a:schemeClr val="bg2"/>
          </a:solidFill>
          <a:ln w="9525">
            <a:solidFill>
              <a:schemeClr val="bg2"/>
            </a:solidFill>
            <a:prstDash val="solid"/>
          </a:ln>
        </p:spPr>
      </p:sp>
      <p:sp>
        <p:nvSpPr>
          <p:cNvPr id="16" name="Shape 14"/>
          <p:cNvSpPr/>
          <p:nvPr/>
        </p:nvSpPr>
        <p:spPr>
          <a:xfrm>
            <a:off x="8280197" y="1947672"/>
            <a:ext cx="365760" cy="365760"/>
          </a:xfrm>
          <a:prstGeom prst="ellipse">
            <a:avLst/>
          </a:prstGeom>
          <a:solidFill>
            <a:schemeClr val="tx2"/>
          </a:solidFill>
          <a:ln w="12700">
            <a:solidFill>
              <a:schemeClr val="tx2"/>
            </a:solidFill>
            <a:prstDash val="solid"/>
          </a:ln>
        </p:spPr>
      </p:sp>
      <p:sp>
        <p:nvSpPr>
          <p:cNvPr id="17" name="Text 15"/>
          <p:cNvSpPr txBox="1"/>
          <p:nvPr/>
        </p:nvSpPr>
        <p:spPr>
          <a:xfrm>
            <a:off x="8280197" y="1947672"/>
            <a:ext cx="365760" cy="365760"/>
          </a:xfrm>
          <a:prstGeom prst="rect">
            <a:avLst/>
          </a:prstGeom>
          <a:noFill/>
          <a:ln/>
        </p:spPr>
        <p:txBody>
          <a:bodyPr wrap="square" lIns="0" tIns="0" rIns="0" bIns="0" rtlCol="0" anchor="ctr"/>
          <a:lstStyle/>
          <a:p>
            <a:pPr algn="ctr" indent="0" marL="0">
              <a:buNone/>
            </a:pPr>
            <a:r>
              <a:rPr lang="en-US" sz="1400" b="1" dirty="0">
                <a:solidFill>
                  <a:schemeClr val="accent1"/>
                </a:solidFill>
              </a:rPr>
              <a:t>3</a:t>
            </a:r>
            <a:endParaRPr lang="en-US" sz="1400" dirty="0"/>
          </a:p>
        </p:txBody>
      </p:sp>
      <p:sp>
        <p:nvSpPr>
          <p:cNvPr id="18" name="Text 16"/>
          <p:cNvSpPr txBox="1"/>
          <p:nvPr/>
        </p:nvSpPr>
        <p:spPr>
          <a:xfrm>
            <a:off x="8783117" y="1947672"/>
            <a:ext cx="2677058" cy="365760"/>
          </a:xfrm>
          <a:prstGeom prst="rect">
            <a:avLst/>
          </a:prstGeom>
          <a:noFill/>
          <a:ln/>
        </p:spPr>
        <p:txBody>
          <a:bodyPr wrap="square" lIns="0" tIns="0" rIns="0" bIns="0" rtlCol="0" anchor="ctr"/>
          <a:lstStyle/>
          <a:p>
            <a:pPr indent="0" marL="0">
              <a:buNone/>
            </a:pPr>
            <a:r>
              <a:rPr lang="en-US" sz="1500" b="1" dirty="0">
                <a:solidFill>
                  <a:schemeClr val="tx2"/>
                </a:solidFill>
              </a:rPr>
              <a:t>Pemberitahuan tamu berjenjang</a:t>
            </a:r>
            <a:endParaRPr lang="en-US" sz="1500" dirty="0"/>
          </a:p>
        </p:txBody>
      </p:sp>
      <p:sp>
        <p:nvSpPr>
          <p:cNvPr id="19" name="Text 17"/>
          <p:cNvSpPr txBox="1"/>
          <p:nvPr/>
        </p:nvSpPr>
        <p:spPr>
          <a:xfrm>
            <a:off x="8280197" y="2404872"/>
            <a:ext cx="3179978" cy="1143000"/>
          </a:xfrm>
          <a:prstGeom prst="rect">
            <a:avLst/>
          </a:prstGeom>
          <a:noFill/>
          <a:ln/>
        </p:spPr>
        <p:txBody>
          <a:bodyPr wrap="square" lIns="0" tIns="0" rIns="0" bIns="0" rtlCol="0" anchor="t"/>
          <a:lstStyle/>
          <a:p>
            <a:pPr indent="0" marL="0">
              <a:buNone/>
            </a:pPr>
            <a:r>
              <a:rPr lang="en-US" sz="1200" dirty="0">
                <a:solidFill>
                  <a:schemeClr val="tx1"/>
                </a:solidFill>
              </a:rPr>
              <a:t>Pimpinan menerima ringkasan pagi, bukan kabar per permohonan, dengan jam tenang 21.00–06.00. Admin dapat mengirim ulang pemberitahuan ke tamu dengan jeda anti-spam.</a:t>
            </a:r>
            <a:endParaRPr lang="en-US" sz="1200" dirty="0"/>
          </a:p>
        </p:txBody>
      </p:sp>
      <p:sp>
        <p:nvSpPr>
          <p:cNvPr id="20" name="baru4"/>
          <p:cNvSpPr/>
          <p:nvPr/>
        </p:nvSpPr>
        <p:spPr>
          <a:xfrm>
            <a:off x="548640" y="3794760"/>
            <a:ext cx="3545738" cy="1828800"/>
          </a:xfrm>
          <a:prstGeom prst="roundRect">
            <a:avLst>
              <a:gd name="adj" fmla="val 6000"/>
            </a:avLst>
          </a:prstGeom>
          <a:solidFill>
            <a:schemeClr val="bg2"/>
          </a:solidFill>
          <a:ln w="9525">
            <a:solidFill>
              <a:schemeClr val="bg2"/>
            </a:solidFill>
            <a:prstDash val="solid"/>
          </a:ln>
        </p:spPr>
      </p:sp>
      <p:sp>
        <p:nvSpPr>
          <p:cNvPr id="21" name="Shape 19"/>
          <p:cNvSpPr/>
          <p:nvPr/>
        </p:nvSpPr>
        <p:spPr>
          <a:xfrm>
            <a:off x="731520" y="3959352"/>
            <a:ext cx="365760" cy="365760"/>
          </a:xfrm>
          <a:prstGeom prst="ellipse">
            <a:avLst/>
          </a:prstGeom>
          <a:solidFill>
            <a:schemeClr val="tx2"/>
          </a:solidFill>
          <a:ln w="12700">
            <a:solidFill>
              <a:schemeClr val="tx2"/>
            </a:solidFill>
            <a:prstDash val="solid"/>
          </a:ln>
        </p:spPr>
      </p:sp>
      <p:sp>
        <p:nvSpPr>
          <p:cNvPr id="22" name="Text 20"/>
          <p:cNvSpPr txBox="1"/>
          <p:nvPr/>
        </p:nvSpPr>
        <p:spPr>
          <a:xfrm>
            <a:off x="731520" y="3959352"/>
            <a:ext cx="365760" cy="365760"/>
          </a:xfrm>
          <a:prstGeom prst="rect">
            <a:avLst/>
          </a:prstGeom>
          <a:noFill/>
          <a:ln/>
        </p:spPr>
        <p:txBody>
          <a:bodyPr wrap="square" lIns="0" tIns="0" rIns="0" bIns="0" rtlCol="0" anchor="ctr"/>
          <a:lstStyle/>
          <a:p>
            <a:pPr algn="ctr" indent="0" marL="0">
              <a:buNone/>
            </a:pPr>
            <a:r>
              <a:rPr lang="en-US" sz="1400" b="1" dirty="0">
                <a:solidFill>
                  <a:schemeClr val="accent1"/>
                </a:solidFill>
              </a:rPr>
              <a:t>4</a:t>
            </a:r>
            <a:endParaRPr lang="en-US" sz="1400" dirty="0"/>
          </a:p>
        </p:txBody>
      </p:sp>
      <p:sp>
        <p:nvSpPr>
          <p:cNvPr id="23" name="Text 21"/>
          <p:cNvSpPr txBox="1"/>
          <p:nvPr/>
        </p:nvSpPr>
        <p:spPr>
          <a:xfrm>
            <a:off x="1234440" y="3959352"/>
            <a:ext cx="2677058" cy="365760"/>
          </a:xfrm>
          <a:prstGeom prst="rect">
            <a:avLst/>
          </a:prstGeom>
          <a:noFill/>
          <a:ln/>
        </p:spPr>
        <p:txBody>
          <a:bodyPr wrap="square" lIns="0" tIns="0" rIns="0" bIns="0" rtlCol="0" anchor="ctr"/>
          <a:lstStyle/>
          <a:p>
            <a:pPr indent="0" marL="0">
              <a:buNone/>
            </a:pPr>
            <a:r>
              <a:rPr lang="en-US" sz="1500" b="1" dirty="0">
                <a:solidFill>
                  <a:schemeClr val="tx2"/>
                </a:solidFill>
              </a:rPr>
              <a:t>Monitor WA</a:t>
            </a:r>
            <a:endParaRPr lang="en-US" sz="1500" dirty="0"/>
          </a:p>
        </p:txBody>
      </p:sp>
      <p:sp>
        <p:nvSpPr>
          <p:cNvPr id="24" name="Text 22"/>
          <p:cNvSpPr txBox="1"/>
          <p:nvPr/>
        </p:nvSpPr>
        <p:spPr>
          <a:xfrm>
            <a:off x="731520" y="4416552"/>
            <a:ext cx="3179978" cy="1143000"/>
          </a:xfrm>
          <a:prstGeom prst="rect">
            <a:avLst/>
          </a:prstGeom>
          <a:noFill/>
          <a:ln/>
        </p:spPr>
        <p:txBody>
          <a:bodyPr wrap="square" lIns="0" tIns="0" rIns="0" bIns="0" rtlCol="0" anchor="t"/>
          <a:lstStyle/>
          <a:p>
            <a:pPr indent="0" marL="0">
              <a:buNone/>
            </a:pPr>
            <a:r>
              <a:rPr lang="en-US" sz="1200" dirty="0">
                <a:solidFill>
                  <a:schemeClr val="tx1"/>
                </a:solidFill>
              </a:rPr>
              <a:t>Meteran dan arsip pesan keluar dengan status terkirim atau dibaca, peringatan dini bila gagal beruntun. Isi pesan dihapus setelah 90 hari; OTP tidak disimpan.</a:t>
            </a:r>
            <a:endParaRPr lang="en-US" sz="1200" dirty="0"/>
          </a:p>
        </p:txBody>
      </p:sp>
      <p:sp>
        <p:nvSpPr>
          <p:cNvPr id="25" name="baru5"/>
          <p:cNvSpPr/>
          <p:nvPr/>
        </p:nvSpPr>
        <p:spPr>
          <a:xfrm>
            <a:off x="4322978" y="3794760"/>
            <a:ext cx="3545738" cy="1828800"/>
          </a:xfrm>
          <a:prstGeom prst="roundRect">
            <a:avLst>
              <a:gd name="adj" fmla="val 6000"/>
            </a:avLst>
          </a:prstGeom>
          <a:solidFill>
            <a:schemeClr val="bg2"/>
          </a:solidFill>
          <a:ln w="9525">
            <a:solidFill>
              <a:schemeClr val="bg2"/>
            </a:solidFill>
            <a:prstDash val="solid"/>
          </a:ln>
        </p:spPr>
      </p:sp>
      <p:sp>
        <p:nvSpPr>
          <p:cNvPr id="26" name="Shape 24"/>
          <p:cNvSpPr/>
          <p:nvPr/>
        </p:nvSpPr>
        <p:spPr>
          <a:xfrm>
            <a:off x="4505858" y="3959352"/>
            <a:ext cx="365760" cy="365760"/>
          </a:xfrm>
          <a:prstGeom prst="ellipse">
            <a:avLst/>
          </a:prstGeom>
          <a:solidFill>
            <a:schemeClr val="tx2"/>
          </a:solidFill>
          <a:ln w="12700">
            <a:solidFill>
              <a:schemeClr val="tx2"/>
            </a:solidFill>
            <a:prstDash val="solid"/>
          </a:ln>
        </p:spPr>
      </p:sp>
      <p:sp>
        <p:nvSpPr>
          <p:cNvPr id="27" name="Text 25"/>
          <p:cNvSpPr txBox="1"/>
          <p:nvPr/>
        </p:nvSpPr>
        <p:spPr>
          <a:xfrm>
            <a:off x="4505858" y="3959352"/>
            <a:ext cx="365760" cy="365760"/>
          </a:xfrm>
          <a:prstGeom prst="rect">
            <a:avLst/>
          </a:prstGeom>
          <a:noFill/>
          <a:ln/>
        </p:spPr>
        <p:txBody>
          <a:bodyPr wrap="square" lIns="0" tIns="0" rIns="0" bIns="0" rtlCol="0" anchor="ctr"/>
          <a:lstStyle/>
          <a:p>
            <a:pPr algn="ctr" indent="0" marL="0">
              <a:buNone/>
            </a:pPr>
            <a:r>
              <a:rPr lang="en-US" sz="1400" b="1" dirty="0">
                <a:solidFill>
                  <a:schemeClr val="accent1"/>
                </a:solidFill>
              </a:rPr>
              <a:t>5</a:t>
            </a:r>
            <a:endParaRPr lang="en-US" sz="1400" dirty="0"/>
          </a:p>
        </p:txBody>
      </p:sp>
      <p:sp>
        <p:nvSpPr>
          <p:cNvPr id="28" name="Text 26"/>
          <p:cNvSpPr txBox="1"/>
          <p:nvPr/>
        </p:nvSpPr>
        <p:spPr>
          <a:xfrm>
            <a:off x="5008778" y="3959352"/>
            <a:ext cx="2677058" cy="365760"/>
          </a:xfrm>
          <a:prstGeom prst="rect">
            <a:avLst/>
          </a:prstGeom>
          <a:noFill/>
          <a:ln/>
        </p:spPr>
        <p:txBody>
          <a:bodyPr wrap="square" lIns="0" tIns="0" rIns="0" bIns="0" rtlCol="0" anchor="ctr"/>
          <a:lstStyle/>
          <a:p>
            <a:pPr indent="0" marL="0">
              <a:buNone/>
            </a:pPr>
            <a:r>
              <a:rPr lang="en-US" sz="1500" b="1" dirty="0">
                <a:solidFill>
                  <a:schemeClr val="tx2"/>
                </a:solidFill>
              </a:rPr>
              <a:t>Masuk lebih mudah dan aman</a:t>
            </a:r>
            <a:endParaRPr lang="en-US" sz="1500" dirty="0"/>
          </a:p>
        </p:txBody>
      </p:sp>
      <p:sp>
        <p:nvSpPr>
          <p:cNvPr id="29" name="Text 27"/>
          <p:cNvSpPr txBox="1"/>
          <p:nvPr/>
        </p:nvSpPr>
        <p:spPr>
          <a:xfrm>
            <a:off x="4505858" y="4416552"/>
            <a:ext cx="3179978" cy="1143000"/>
          </a:xfrm>
          <a:prstGeom prst="rect">
            <a:avLst/>
          </a:prstGeom>
          <a:noFill/>
          <a:ln/>
        </p:spPr>
        <p:txBody>
          <a:bodyPr wrap="square" lIns="0" tIns="0" rIns="0" bIns="0" rtlCol="0" anchor="t"/>
          <a:lstStyle/>
          <a:p>
            <a:pPr indent="0" marL="0">
              <a:buNone/>
            </a:pPr>
            <a:r>
              <a:rPr lang="en-US" sz="1200" dirty="0">
                <a:solidFill>
                  <a:schemeClr val="tx1"/>
                </a:solidFill>
              </a:rPr>
              <a:t>Sidik jari atau wajah (passkey) dan akun Google, tetap hanya untuk akun yang didaftarkan Admin. Kebijakan privasi dan ketentuan mengikuti UU 27/2022.</a:t>
            </a:r>
            <a:endParaRPr lang="en-US" sz="1200" dirty="0"/>
          </a:p>
        </p:txBody>
      </p:sp>
      <p:sp>
        <p:nvSpPr>
          <p:cNvPr id="30" name="baru6"/>
          <p:cNvSpPr/>
          <p:nvPr/>
        </p:nvSpPr>
        <p:spPr>
          <a:xfrm>
            <a:off x="8097317" y="3794760"/>
            <a:ext cx="3545738" cy="1828800"/>
          </a:xfrm>
          <a:prstGeom prst="roundRect">
            <a:avLst>
              <a:gd name="adj" fmla="val 6000"/>
            </a:avLst>
          </a:prstGeom>
          <a:solidFill>
            <a:schemeClr val="bg2"/>
          </a:solidFill>
          <a:ln w="9525">
            <a:solidFill>
              <a:schemeClr val="bg2"/>
            </a:solidFill>
            <a:prstDash val="solid"/>
          </a:ln>
        </p:spPr>
      </p:sp>
      <p:sp>
        <p:nvSpPr>
          <p:cNvPr id="31" name="Shape 29"/>
          <p:cNvSpPr/>
          <p:nvPr/>
        </p:nvSpPr>
        <p:spPr>
          <a:xfrm>
            <a:off x="8280197" y="3959352"/>
            <a:ext cx="365760" cy="365760"/>
          </a:xfrm>
          <a:prstGeom prst="ellipse">
            <a:avLst/>
          </a:prstGeom>
          <a:solidFill>
            <a:schemeClr val="tx2"/>
          </a:solidFill>
          <a:ln w="12700">
            <a:solidFill>
              <a:schemeClr val="tx2"/>
            </a:solidFill>
            <a:prstDash val="solid"/>
          </a:ln>
        </p:spPr>
      </p:sp>
      <p:sp>
        <p:nvSpPr>
          <p:cNvPr id="32" name="Text 30"/>
          <p:cNvSpPr txBox="1"/>
          <p:nvPr/>
        </p:nvSpPr>
        <p:spPr>
          <a:xfrm>
            <a:off x="8280197" y="3959352"/>
            <a:ext cx="365760" cy="365760"/>
          </a:xfrm>
          <a:prstGeom prst="rect">
            <a:avLst/>
          </a:prstGeom>
          <a:noFill/>
          <a:ln/>
        </p:spPr>
        <p:txBody>
          <a:bodyPr wrap="square" lIns="0" tIns="0" rIns="0" bIns="0" rtlCol="0" anchor="ctr"/>
          <a:lstStyle/>
          <a:p>
            <a:pPr algn="ctr" indent="0" marL="0">
              <a:buNone/>
            </a:pPr>
            <a:r>
              <a:rPr lang="en-US" sz="1400" b="1" dirty="0">
                <a:solidFill>
                  <a:schemeClr val="accent1"/>
                </a:solidFill>
              </a:rPr>
              <a:t>6</a:t>
            </a:r>
            <a:endParaRPr lang="en-US" sz="1400" dirty="0"/>
          </a:p>
        </p:txBody>
      </p:sp>
      <p:sp>
        <p:nvSpPr>
          <p:cNvPr id="33" name="Text 31"/>
          <p:cNvSpPr txBox="1"/>
          <p:nvPr/>
        </p:nvSpPr>
        <p:spPr>
          <a:xfrm>
            <a:off x="8783117" y="3959352"/>
            <a:ext cx="2677058" cy="365760"/>
          </a:xfrm>
          <a:prstGeom prst="rect">
            <a:avLst/>
          </a:prstGeom>
          <a:noFill/>
          <a:ln/>
        </p:spPr>
        <p:txBody>
          <a:bodyPr wrap="square" lIns="0" tIns="0" rIns="0" bIns="0" rtlCol="0" anchor="ctr"/>
          <a:lstStyle/>
          <a:p>
            <a:pPr indent="0" marL="0">
              <a:buNone/>
            </a:pPr>
            <a:r>
              <a:rPr lang="en-US" sz="1500" b="1" dirty="0">
                <a:solidFill>
                  <a:schemeClr val="tx2"/>
                </a:solidFill>
              </a:rPr>
              <a:t>Jam acara mengikuti zona</a:t>
            </a:r>
            <a:endParaRPr lang="en-US" sz="1500" dirty="0"/>
          </a:p>
        </p:txBody>
      </p:sp>
      <p:sp>
        <p:nvSpPr>
          <p:cNvPr id="34" name="Text 32"/>
          <p:cNvSpPr txBox="1"/>
          <p:nvPr/>
        </p:nvSpPr>
        <p:spPr>
          <a:xfrm>
            <a:off x="8280197" y="4416552"/>
            <a:ext cx="3179978" cy="1143000"/>
          </a:xfrm>
          <a:prstGeom prst="rect">
            <a:avLst/>
          </a:prstGeom>
          <a:noFill/>
          <a:ln/>
        </p:spPr>
        <p:txBody>
          <a:bodyPr wrap="square" lIns="0" tIns="0" rIns="0" bIns="0" rtlCol="0" anchor="t"/>
          <a:lstStyle/>
          <a:p>
            <a:pPr indent="0" marL="0">
              <a:buNone/>
            </a:pPr>
            <a:r>
              <a:rPr lang="en-US" sz="1200" dirty="0">
                <a:solidFill>
                  <a:schemeClr val="tx1"/>
                </a:solidFill>
              </a:rPr>
              <a:t>Acara di zona WIB, WITA, atau WIT ditulis menurut undangan dan ditampilkan menurut tempat pengguna, sehingga jam tidak lagi tertukar.</a:t>
            </a:r>
            <a:endParaRPr lang="en-US" sz="1200" dirty="0"/>
          </a:p>
        </p:txBody>
      </p:sp>
      <p:sp>
        <p:nvSpPr>
          <p:cNvPr id="35" name="nilaitambah"/>
          <p:cNvSpPr/>
          <p:nvPr/>
        </p:nvSpPr>
        <p:spPr>
          <a:xfrm>
            <a:off x="548640" y="5669280"/>
            <a:ext cx="11094415" cy="640080"/>
          </a:xfrm>
          <a:prstGeom prst="roundRect">
            <a:avLst>
              <a:gd name="adj" fmla="val 17143"/>
            </a:avLst>
          </a:prstGeom>
          <a:solidFill>
            <a:schemeClr val="tx2"/>
          </a:solidFill>
          <a:ln w="9525">
            <a:solidFill>
              <a:schemeClr val="tx2"/>
            </a:solidFill>
            <a:prstDash val="solid"/>
          </a:ln>
        </p:spPr>
      </p:sp>
      <p:sp>
        <p:nvSpPr>
          <p:cNvPr id="36" name="Text 34"/>
          <p:cNvSpPr txBox="1"/>
          <p:nvPr/>
        </p:nvSpPr>
        <p:spPr>
          <a:xfrm>
            <a:off x="822960" y="5669280"/>
            <a:ext cx="10545775" cy="640080"/>
          </a:xfrm>
          <a:prstGeom prst="rect">
            <a:avLst/>
          </a:prstGeom>
          <a:noFill/>
          <a:ln/>
        </p:spPr>
        <p:txBody>
          <a:bodyPr wrap="square" lIns="0" tIns="0" rIns="0" bIns="0" rtlCol="0" anchor="ctr"/>
          <a:lstStyle/>
          <a:p>
            <a:pPr indent="0" marL="0">
              <a:buNone/>
            </a:pPr>
            <a:r>
              <a:rPr lang="en-US" sz="1300" b="1" dirty="0">
                <a:solidFill>
                  <a:schemeClr val="accent1"/>
                </a:solidFill>
              </a:rPr>
              <a:t>Nilai tambah  </a:t>
            </a:r>
            <a:pPr indent="0" marL="0">
              <a:buNone/>
            </a:pPr>
            <a:r>
              <a:rPr lang="en-US" sz="1300" dirty="0">
                <a:solidFill>
                  <a:schemeClr val="bg1"/>
                </a:solidFill>
              </a:rPr>
              <a:t>Setiap pembaruan berangkat dari kendala pengguna, dikerjakan tim sendiri tanpa belanja pengadaan, dan dicatat dalam riwayat perubahan aplikasi.</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Prokopim Hibot">
  <a:themeElements>
    <a:clrScheme name="Prokopim Hibot">
      <a:dk1>
        <a:srgbClr val="0F172A"/>
      </a:dk1>
      <a:lt1>
        <a:srgbClr val="FFFFFF"/>
      </a:lt1>
      <a:dk2>
        <a:srgbClr val="0A1628"/>
      </a:dk2>
      <a:lt2>
        <a:srgbClr val="EEF2F8"/>
      </a:lt2>
      <a:accent1>
        <a:srgbClr val="C9A84C"/>
      </a:accent1>
      <a:accent2>
        <a:srgbClr val="1E3A6E"/>
      </a:accent2>
      <a:accent3>
        <a:srgbClr val="059669"/>
      </a:accent3>
      <a:accent4>
        <a:srgbClr val="B91C1C"/>
      </a:accent4>
      <a:accent5>
        <a:srgbClr val="64748B"/>
      </a:accent5>
      <a:accent6>
        <a:srgbClr val="CBD5E1"/>
      </a:accent6>
      <a:hlink>
        <a:srgbClr val="1E3A6E"/>
      </a:hlink>
      <a:folHlink>
        <a:srgbClr val="1E3A6E"/>
      </a:folHlink>
    </a:clrScheme>
    <a:fontScheme name="Prokopim Hibo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Pemerintah Kota Tarakan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Prokopim Hibot — Paparan Tahap II Kaltara Innovation Awards 2026</dc:title>
  <dc:subject>PptxGenJS Presentation</dc:subject>
  <dc:creator>Tim Inovasi Prokopim Hibot, Setda Kota Tarakan</dc:creator>
  <cp:lastModifiedBy>Tim Inovasi Prokopim Hibot, Setda Kota Tarakan</cp:lastModifiedBy>
  <cp:revision>1</cp:revision>
  <dcterms:created xsi:type="dcterms:W3CDTF">2026-10-18T15:16:15Z</dcterms:created>
  <dcterms:modified xsi:type="dcterms:W3CDTF">2026-10-18T15:16:15Z</dcterms:modified>
</cp:coreProperties>
</file>